
<file path=[Content_Types].xml><?xml version="1.0" encoding="utf-8"?>
<Types xmlns="http://schemas.openxmlformats.org/package/2006/content-types">
  <Default Extension="fntdata" ContentType="application/x-fontdata"/>
  <Default Extension="jpg" ContentType="image/jp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12192000"/>
  <p:embeddedFontLst>
    <p:embeddedFont>
      <p:font typeface="微软雅黑" panose="020B0503020204020204" pitchFamily="34" charset="-122"/>
      <p:regular r:id="rId14"/>
      <p:bold r:id="rId15"/>
    </p:embeddedFont>
    <p:embeddedFont>
      <p:font typeface="Liter" panose="02000503030000020004" pitchFamily="2" charset="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A1A40"/>
    <a:srgbClr val="6B15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50E3439-3903-384D-9B8B-AD45D5A74B08}" v="18" dt="2026-02-11T00:24:33.84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8"/>
    <p:restoredTop sz="94610"/>
  </p:normalViewPr>
  <p:slideViewPr>
    <p:cSldViewPr snapToGrid="0" snapToObjects="1">
      <p:cViewPr>
        <p:scale>
          <a:sx n="109" d="100"/>
          <a:sy n="109" d="100"/>
        </p:scale>
        <p:origin x="704" y="3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16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web-img.moonshot.cn/img/amfg.ai/0eaa0f506156580bab8cba45947b36b2bf34f44f.jpg"/>
          <p:cNvPicPr>
            <a:picLocks noChangeAspect="1"/>
          </p:cNvPicPr>
          <p:nvPr/>
        </p:nvPicPr>
        <p:blipFill>
          <a:blip r:embed="rId3">
            <a:alphaModFix amt="30000"/>
          </a:blip>
          <a:srcRect l="2100" r="2100"/>
          <a:stretch/>
        </p:blipFill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</p:spPr>
      </p:pic>
      <p:sp>
        <p:nvSpPr>
          <p:cNvPr id="3" name="Shape 0"/>
          <p:cNvSpPr/>
          <p:nvPr/>
        </p:nvSpPr>
        <p:spPr>
          <a:xfrm>
            <a:off x="-1" y="0"/>
            <a:ext cx="12192001" cy="6847114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0" y="0"/>
                </a:moveTo>
                <a:lnTo>
                  <a:pt x="12192000" y="0"/>
                </a:lnTo>
                <a:lnTo>
                  <a:pt x="12192000" y="6858000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gradFill flip="none" rotWithShape="1">
            <a:gsLst>
              <a:gs pos="0">
                <a:srgbClr val="8C1D40">
                  <a:alpha val="90000"/>
                </a:srgbClr>
              </a:gs>
              <a:gs pos="50000">
                <a:srgbClr val="8C1D4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Shape 1"/>
          <p:cNvSpPr/>
          <p:nvPr/>
        </p:nvSpPr>
        <p:spPr>
          <a:xfrm>
            <a:off x="371475" y="1314450"/>
            <a:ext cx="2400300" cy="342900"/>
          </a:xfrm>
          <a:custGeom>
            <a:avLst/>
            <a:gdLst/>
            <a:ahLst/>
            <a:cxnLst/>
            <a:rect l="l" t="t" r="r" b="b"/>
            <a:pathLst>
              <a:path w="2400300" h="342900">
                <a:moveTo>
                  <a:pt x="76199" y="0"/>
                </a:moveTo>
                <a:lnTo>
                  <a:pt x="2324101" y="0"/>
                </a:lnTo>
                <a:cubicBezTo>
                  <a:pt x="2366184" y="0"/>
                  <a:pt x="2400300" y="34116"/>
                  <a:pt x="2400300" y="76199"/>
                </a:cubicBezTo>
                <a:lnTo>
                  <a:pt x="2400300" y="266701"/>
                </a:lnTo>
                <a:cubicBezTo>
                  <a:pt x="2400300" y="308784"/>
                  <a:pt x="2366184" y="342900"/>
                  <a:pt x="2324101" y="342900"/>
                </a:cubicBezTo>
                <a:lnTo>
                  <a:pt x="76199" y="342900"/>
                </a:lnTo>
                <a:cubicBezTo>
                  <a:pt x="34144" y="342900"/>
                  <a:pt x="0" y="308756"/>
                  <a:pt x="0" y="266701"/>
                </a:cubicBezTo>
                <a:lnTo>
                  <a:pt x="0" y="76199"/>
                </a:lnTo>
                <a:cubicBezTo>
                  <a:pt x="0" y="34144"/>
                  <a:pt x="34144" y="0"/>
                  <a:pt x="76199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490538" y="1367518"/>
            <a:ext cx="21621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FFC6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FSE 570 CAPSTONE PROPOSAL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11257806" y="381000"/>
            <a:ext cx="6191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381000" y="1905000"/>
            <a:ext cx="8763000" cy="1714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Data-Driven Anomaly Detection and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Risk-Aware Maintenance Scheduling</a:t>
            </a:r>
            <a:endParaRPr lang="en-US" sz="16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3600" b="1" dirty="0">
                <a:solidFill>
                  <a:schemeClr val="bg1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 Smart Industrial Systems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9" name="Text 6"/>
          <p:cNvSpPr/>
          <p:nvPr/>
        </p:nvSpPr>
        <p:spPr>
          <a:xfrm>
            <a:off x="671513" y="4210050"/>
            <a:ext cx="18954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2972023" y="4210050"/>
            <a:ext cx="24098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90600" y="6038850"/>
            <a:ext cx="24955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990600" y="6267450"/>
            <a:ext cx="248602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0454357" y="605790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7" name="Text 14"/>
          <p:cNvSpPr/>
          <p:nvPr/>
        </p:nvSpPr>
        <p:spPr>
          <a:xfrm>
            <a:off x="10454357" y="6248400"/>
            <a:ext cx="13525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>
              <a:lnSpc>
                <a:spcPct val="120000"/>
              </a:lnSpc>
            </a:pPr>
            <a:endParaRPr lang="en-US" sz="1600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F2B9C17-6661-C56C-5238-3374869EBC22}"/>
              </a:ext>
            </a:extLst>
          </p:cNvPr>
          <p:cNvSpPr txBox="1"/>
          <p:nvPr/>
        </p:nvSpPr>
        <p:spPr>
          <a:xfrm>
            <a:off x="490538" y="3938954"/>
            <a:ext cx="596887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Team Members: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Anoushka Jaydas Dighe 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Deva Siva Kanth Tavvala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Mohit Kumar Petla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Umang Rajnikant Bid</a:t>
            </a:r>
            <a:br>
              <a:rPr lang="en-US" dirty="0">
                <a:solidFill>
                  <a:schemeClr val="bg1"/>
                </a:solidFill>
              </a:rPr>
            </a:br>
            <a:r>
              <a:rPr lang="en-US" dirty="0">
                <a:solidFill>
                  <a:schemeClr val="bg1"/>
                </a:solidFill>
              </a:rPr>
              <a:t>Urvansh Jignesh Shah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B9D9558-9123-FF63-DAAD-68586513DAA3}"/>
              </a:ext>
            </a:extLst>
          </p:cNvPr>
          <p:cNvSpPr txBox="1"/>
          <p:nvPr/>
        </p:nvSpPr>
        <p:spPr>
          <a:xfrm>
            <a:off x="9349692" y="6071088"/>
            <a:ext cx="50544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Arizona State University</a:t>
            </a:r>
            <a:endParaRPr lang="en-US" sz="1200" dirty="0"/>
          </a:p>
          <a:p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Ira A. Fulton Schools of Engineering</a:t>
            </a:r>
            <a:endParaRPr lang="en-US" sz="1600" dirty="0"/>
          </a:p>
          <a:p>
            <a:endParaRPr lang="en-US" sz="12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C1D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CHALLENGE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Industry Problem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00050" y="1257300"/>
            <a:ext cx="105727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104900"/>
                </a:lnTo>
                <a:cubicBezTo>
                  <a:pt x="5581650" y="1167984"/>
                  <a:pt x="5530434" y="1219200"/>
                  <a:pt x="54673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EF2F2"/>
              </a:gs>
              <a:gs pos="100000">
                <a:srgbClr val="FFE2E2">
                  <a:alpha val="5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00049" y="1257300"/>
            <a:ext cx="76111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09600" y="14478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B2C3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2950" y="15811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00719" y="0"/>
                  <a:pt x="105742" y="3014"/>
                  <a:pt x="108347" y="7813"/>
                </a:cubicBezTo>
                <a:lnTo>
                  <a:pt x="188714" y="156642"/>
                </a:lnTo>
                <a:cubicBezTo>
                  <a:pt x="191207" y="161255"/>
                  <a:pt x="191095" y="166836"/>
                  <a:pt x="188416" y="171338"/>
                </a:cubicBezTo>
                <a:cubicBezTo>
                  <a:pt x="185737" y="175840"/>
                  <a:pt x="180863" y="178594"/>
                  <a:pt x="175617" y="178594"/>
                </a:cubicBezTo>
                <a:lnTo>
                  <a:pt x="14883" y="178594"/>
                </a:lnTo>
                <a:cubicBezTo>
                  <a:pt x="9637" y="178594"/>
                  <a:pt x="4800" y="175840"/>
                  <a:pt x="2084" y="171338"/>
                </a:cubicBezTo>
                <a:cubicBezTo>
                  <a:pt x="-633" y="166836"/>
                  <a:pt x="-707" y="161255"/>
                  <a:pt x="1786" y="156642"/>
                </a:cubicBezTo>
                <a:lnTo>
                  <a:pt x="82153" y="7813"/>
                </a:lnTo>
                <a:cubicBezTo>
                  <a:pt x="84758" y="3014"/>
                  <a:pt x="89781" y="0"/>
                  <a:pt x="95250" y="0"/>
                </a:cubicBezTo>
                <a:close/>
                <a:moveTo>
                  <a:pt x="95250" y="62508"/>
                </a:moveTo>
                <a:cubicBezTo>
                  <a:pt x="90301" y="62508"/>
                  <a:pt x="86320" y="66489"/>
                  <a:pt x="86320" y="71438"/>
                </a:cubicBezTo>
                <a:lnTo>
                  <a:pt x="86320" y="113109"/>
                </a:lnTo>
                <a:cubicBezTo>
                  <a:pt x="86320" y="118058"/>
                  <a:pt x="90301" y="122039"/>
                  <a:pt x="95250" y="122039"/>
                </a:cubicBezTo>
                <a:cubicBezTo>
                  <a:pt x="100199" y="122039"/>
                  <a:pt x="104180" y="118058"/>
                  <a:pt x="104180" y="113109"/>
                </a:cubicBezTo>
                <a:lnTo>
                  <a:pt x="104180" y="71438"/>
                </a:lnTo>
                <a:cubicBezTo>
                  <a:pt x="104180" y="66489"/>
                  <a:pt x="100199" y="62508"/>
                  <a:pt x="95250" y="62508"/>
                </a:cubicBezTo>
                <a:close/>
                <a:moveTo>
                  <a:pt x="105184" y="142875"/>
                </a:moveTo>
                <a:cubicBezTo>
                  <a:pt x="105410" y="139188"/>
                  <a:pt x="103571" y="135679"/>
                  <a:pt x="100410" y="133767"/>
                </a:cubicBezTo>
                <a:cubicBezTo>
                  <a:pt x="97249" y="131855"/>
                  <a:pt x="93288" y="131855"/>
                  <a:pt x="90127" y="133767"/>
                </a:cubicBezTo>
                <a:cubicBezTo>
                  <a:pt x="86966" y="135679"/>
                  <a:pt x="85127" y="139188"/>
                  <a:pt x="85353" y="142875"/>
                </a:cubicBezTo>
                <a:cubicBezTo>
                  <a:pt x="85127" y="146562"/>
                  <a:pt x="86966" y="150071"/>
                  <a:pt x="90127" y="151983"/>
                </a:cubicBezTo>
                <a:cubicBezTo>
                  <a:pt x="93288" y="153895"/>
                  <a:pt x="97249" y="153895"/>
                  <a:pt x="100410" y="151983"/>
                </a:cubicBezTo>
                <a:cubicBezTo>
                  <a:pt x="103571" y="150071"/>
                  <a:pt x="105410" y="146562"/>
                  <a:pt x="105184" y="14287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12056" y="1524000"/>
            <a:ext cx="93235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Equipment Failures Disrupt Production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19200" y="1790700"/>
            <a:ext cx="928551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Industrial machines generate massive sensor data, but unexpected breakdowns halt operations without warning.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00050" y="2628900"/>
            <a:ext cx="105727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104900"/>
                </a:lnTo>
                <a:cubicBezTo>
                  <a:pt x="5581650" y="1167984"/>
                  <a:pt x="5530434" y="1219200"/>
                  <a:pt x="54673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7ED"/>
              </a:gs>
              <a:gs pos="100000">
                <a:srgbClr val="FFEDD4">
                  <a:alpha val="5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00049" y="2628900"/>
            <a:ext cx="76111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609600" y="28194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54856" y="29527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83344" y="0"/>
                </a:moveTo>
                <a:cubicBezTo>
                  <a:pt x="76758" y="0"/>
                  <a:pt x="71438" y="5321"/>
                  <a:pt x="71438" y="11906"/>
                </a:cubicBezTo>
                <a:lnTo>
                  <a:pt x="71438" y="13097"/>
                </a:lnTo>
                <a:cubicBezTo>
                  <a:pt x="44276" y="18604"/>
                  <a:pt x="23812" y="42639"/>
                  <a:pt x="23812" y="71438"/>
                </a:cubicBezTo>
                <a:lnTo>
                  <a:pt x="23812" y="79511"/>
                </a:lnTo>
                <a:cubicBezTo>
                  <a:pt x="23812" y="97408"/>
                  <a:pt x="17711" y="114784"/>
                  <a:pt x="6548" y="128774"/>
                </a:cubicBezTo>
                <a:lnTo>
                  <a:pt x="2902" y="133313"/>
                </a:lnTo>
                <a:cubicBezTo>
                  <a:pt x="1005" y="135657"/>
                  <a:pt x="0" y="138559"/>
                  <a:pt x="0" y="141573"/>
                </a:cubicBezTo>
                <a:cubicBezTo>
                  <a:pt x="0" y="148865"/>
                  <a:pt x="5916" y="154781"/>
                  <a:pt x="13208" y="154781"/>
                </a:cubicBezTo>
                <a:lnTo>
                  <a:pt x="153442" y="154781"/>
                </a:lnTo>
                <a:cubicBezTo>
                  <a:pt x="160734" y="154781"/>
                  <a:pt x="166650" y="148865"/>
                  <a:pt x="166650" y="141573"/>
                </a:cubicBezTo>
                <a:cubicBezTo>
                  <a:pt x="166650" y="138559"/>
                  <a:pt x="165646" y="135657"/>
                  <a:pt x="163748" y="133313"/>
                </a:cubicBezTo>
                <a:lnTo>
                  <a:pt x="160102" y="128774"/>
                </a:lnTo>
                <a:cubicBezTo>
                  <a:pt x="148977" y="114784"/>
                  <a:pt x="142875" y="97408"/>
                  <a:pt x="142875" y="79511"/>
                </a:cubicBezTo>
                <a:lnTo>
                  <a:pt x="142875" y="71438"/>
                </a:lnTo>
                <a:cubicBezTo>
                  <a:pt x="142875" y="42639"/>
                  <a:pt x="122411" y="18604"/>
                  <a:pt x="95250" y="13097"/>
                </a:cubicBezTo>
                <a:lnTo>
                  <a:pt x="95250" y="11906"/>
                </a:lnTo>
                <a:cubicBezTo>
                  <a:pt x="95250" y="5321"/>
                  <a:pt x="89929" y="0"/>
                  <a:pt x="83344" y="0"/>
                </a:cubicBezTo>
                <a:close/>
                <a:moveTo>
                  <a:pt x="60275" y="172641"/>
                </a:moveTo>
                <a:cubicBezTo>
                  <a:pt x="62917" y="182910"/>
                  <a:pt x="72256" y="190500"/>
                  <a:pt x="83344" y="190500"/>
                </a:cubicBezTo>
                <a:cubicBezTo>
                  <a:pt x="94431" y="190500"/>
                  <a:pt x="103770" y="182910"/>
                  <a:pt x="106412" y="172641"/>
                </a:cubicBezTo>
                <a:lnTo>
                  <a:pt x="60275" y="172641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12056" y="2895600"/>
            <a:ext cx="93235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Alerts Lack Prioritization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19200" y="3162300"/>
            <a:ext cx="928551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systems flood operators with notifications but provide no guidance on which issues demand immediate attention.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00050" y="3981450"/>
            <a:ext cx="105727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104900"/>
                </a:lnTo>
                <a:cubicBezTo>
                  <a:pt x="5581650" y="1167984"/>
                  <a:pt x="5530434" y="1219200"/>
                  <a:pt x="54673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FBEB"/>
              </a:gs>
              <a:gs pos="100000">
                <a:srgbClr val="FEF3C6">
                  <a:alpha val="5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00049" y="3981450"/>
            <a:ext cx="76111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E9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09600" y="41719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FE9A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9138" y="43053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95436" y="2977"/>
                </a:moveTo>
                <a:cubicBezTo>
                  <a:pt x="120078" y="2977"/>
                  <a:pt x="140084" y="22983"/>
                  <a:pt x="140084" y="47625"/>
                </a:cubicBezTo>
                <a:cubicBezTo>
                  <a:pt x="140084" y="72267"/>
                  <a:pt x="120078" y="92273"/>
                  <a:pt x="95436" y="92273"/>
                </a:cubicBezTo>
                <a:cubicBezTo>
                  <a:pt x="70794" y="92273"/>
                  <a:pt x="50788" y="72267"/>
                  <a:pt x="50788" y="47625"/>
                </a:cubicBezTo>
                <a:cubicBezTo>
                  <a:pt x="50788" y="22983"/>
                  <a:pt x="70794" y="2977"/>
                  <a:pt x="95436" y="2977"/>
                </a:cubicBezTo>
                <a:close/>
                <a:moveTo>
                  <a:pt x="84348" y="113109"/>
                </a:moveTo>
                <a:lnTo>
                  <a:pt x="106449" y="113109"/>
                </a:lnTo>
                <a:lnTo>
                  <a:pt x="107007" y="113109"/>
                </a:lnTo>
                <a:cubicBezTo>
                  <a:pt x="102208" y="123081"/>
                  <a:pt x="104105" y="134764"/>
                  <a:pt x="111286" y="142689"/>
                </a:cubicBezTo>
                <a:cubicBezTo>
                  <a:pt x="103770" y="150986"/>
                  <a:pt x="102059" y="163450"/>
                  <a:pt x="107789" y="173720"/>
                </a:cubicBezTo>
                <a:lnTo>
                  <a:pt x="116160" y="188751"/>
                </a:lnTo>
                <a:cubicBezTo>
                  <a:pt x="116495" y="189347"/>
                  <a:pt x="116867" y="189942"/>
                  <a:pt x="117239" y="190500"/>
                </a:cubicBezTo>
                <a:lnTo>
                  <a:pt x="29059" y="190500"/>
                </a:lnTo>
                <a:cubicBezTo>
                  <a:pt x="22957" y="190500"/>
                  <a:pt x="18008" y="185551"/>
                  <a:pt x="18008" y="179450"/>
                </a:cubicBezTo>
                <a:cubicBezTo>
                  <a:pt x="18008" y="142801"/>
                  <a:pt x="47699" y="113109"/>
                  <a:pt x="84348" y="113109"/>
                </a:cubicBezTo>
                <a:close/>
                <a:moveTo>
                  <a:pt x="160958" y="92125"/>
                </a:moveTo>
                <a:cubicBezTo>
                  <a:pt x="160958" y="87176"/>
                  <a:pt x="164939" y="83195"/>
                  <a:pt x="169887" y="83195"/>
                </a:cubicBezTo>
                <a:lnTo>
                  <a:pt x="187747" y="83195"/>
                </a:lnTo>
                <a:cubicBezTo>
                  <a:pt x="192695" y="83195"/>
                  <a:pt x="196676" y="87176"/>
                  <a:pt x="196676" y="92125"/>
                </a:cubicBezTo>
                <a:lnTo>
                  <a:pt x="196676" y="94394"/>
                </a:lnTo>
                <a:cubicBezTo>
                  <a:pt x="196676" y="101426"/>
                  <a:pt x="205643" y="106598"/>
                  <a:pt x="211745" y="103101"/>
                </a:cubicBezTo>
                <a:lnTo>
                  <a:pt x="213606" y="102022"/>
                </a:lnTo>
                <a:cubicBezTo>
                  <a:pt x="217922" y="99529"/>
                  <a:pt x="223465" y="101054"/>
                  <a:pt x="225884" y="105408"/>
                </a:cubicBezTo>
                <a:lnTo>
                  <a:pt x="234218" y="120365"/>
                </a:lnTo>
                <a:cubicBezTo>
                  <a:pt x="236525" y="124532"/>
                  <a:pt x="235186" y="129741"/>
                  <a:pt x="231167" y="132271"/>
                </a:cubicBezTo>
                <a:lnTo>
                  <a:pt x="229419" y="133350"/>
                </a:lnTo>
                <a:cubicBezTo>
                  <a:pt x="223391" y="137108"/>
                  <a:pt x="223391" y="148196"/>
                  <a:pt x="229419" y="151991"/>
                </a:cubicBezTo>
                <a:lnTo>
                  <a:pt x="231130" y="153070"/>
                </a:lnTo>
                <a:cubicBezTo>
                  <a:pt x="235148" y="155600"/>
                  <a:pt x="236525" y="160809"/>
                  <a:pt x="234218" y="164976"/>
                </a:cubicBezTo>
                <a:lnTo>
                  <a:pt x="225847" y="180008"/>
                </a:lnTo>
                <a:cubicBezTo>
                  <a:pt x="223428" y="184361"/>
                  <a:pt x="217884" y="185924"/>
                  <a:pt x="213568" y="183393"/>
                </a:cubicBezTo>
                <a:lnTo>
                  <a:pt x="211745" y="182314"/>
                </a:lnTo>
                <a:cubicBezTo>
                  <a:pt x="205643" y="178780"/>
                  <a:pt x="196676" y="183989"/>
                  <a:pt x="196676" y="191021"/>
                </a:cubicBezTo>
                <a:lnTo>
                  <a:pt x="196676" y="193291"/>
                </a:lnTo>
                <a:cubicBezTo>
                  <a:pt x="196676" y="198239"/>
                  <a:pt x="192695" y="202220"/>
                  <a:pt x="187747" y="202220"/>
                </a:cubicBezTo>
                <a:lnTo>
                  <a:pt x="169887" y="202220"/>
                </a:lnTo>
                <a:cubicBezTo>
                  <a:pt x="164939" y="202220"/>
                  <a:pt x="160958" y="198239"/>
                  <a:pt x="160958" y="193291"/>
                </a:cubicBezTo>
                <a:lnTo>
                  <a:pt x="160958" y="191095"/>
                </a:lnTo>
                <a:cubicBezTo>
                  <a:pt x="160958" y="184026"/>
                  <a:pt x="151954" y="178817"/>
                  <a:pt x="145814" y="182352"/>
                </a:cubicBezTo>
                <a:lnTo>
                  <a:pt x="144028" y="183393"/>
                </a:lnTo>
                <a:cubicBezTo>
                  <a:pt x="139712" y="185886"/>
                  <a:pt x="134206" y="184361"/>
                  <a:pt x="131750" y="180008"/>
                </a:cubicBezTo>
                <a:lnTo>
                  <a:pt x="123341" y="164976"/>
                </a:lnTo>
                <a:cubicBezTo>
                  <a:pt x="121034" y="160809"/>
                  <a:pt x="122374" y="155563"/>
                  <a:pt x="126429" y="153033"/>
                </a:cubicBezTo>
                <a:lnTo>
                  <a:pt x="128067" y="152028"/>
                </a:lnTo>
                <a:cubicBezTo>
                  <a:pt x="134131" y="148270"/>
                  <a:pt x="134131" y="137108"/>
                  <a:pt x="128067" y="133350"/>
                </a:cubicBezTo>
                <a:lnTo>
                  <a:pt x="126392" y="132308"/>
                </a:lnTo>
                <a:cubicBezTo>
                  <a:pt x="122337" y="129778"/>
                  <a:pt x="120997" y="124532"/>
                  <a:pt x="123304" y="120365"/>
                </a:cubicBezTo>
                <a:lnTo>
                  <a:pt x="131676" y="105370"/>
                </a:lnTo>
                <a:cubicBezTo>
                  <a:pt x="134094" y="101017"/>
                  <a:pt x="139638" y="99492"/>
                  <a:pt x="143917" y="101984"/>
                </a:cubicBezTo>
                <a:lnTo>
                  <a:pt x="145703" y="103026"/>
                </a:lnTo>
                <a:cubicBezTo>
                  <a:pt x="151842" y="106561"/>
                  <a:pt x="160846" y="101352"/>
                  <a:pt x="160846" y="94283"/>
                </a:cubicBezTo>
                <a:lnTo>
                  <a:pt x="160846" y="92087"/>
                </a:lnTo>
                <a:close/>
                <a:moveTo>
                  <a:pt x="198127" y="142801"/>
                </a:moveTo>
                <a:cubicBezTo>
                  <a:pt x="198127" y="132122"/>
                  <a:pt x="189458" y="123453"/>
                  <a:pt x="178780" y="123453"/>
                </a:cubicBezTo>
                <a:cubicBezTo>
                  <a:pt x="168102" y="123453"/>
                  <a:pt x="159432" y="132122"/>
                  <a:pt x="159432" y="142801"/>
                </a:cubicBezTo>
                <a:cubicBezTo>
                  <a:pt x="159432" y="153479"/>
                  <a:pt x="168102" y="162148"/>
                  <a:pt x="178780" y="162148"/>
                </a:cubicBezTo>
                <a:cubicBezTo>
                  <a:pt x="189458" y="162148"/>
                  <a:pt x="198127" y="153479"/>
                  <a:pt x="198127" y="14280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12056" y="4248150"/>
            <a:ext cx="93235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Operators Must Decide Manually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19200" y="4514850"/>
            <a:ext cx="928551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staff interpret complex data streams and make critical prioritization calls without systematic support.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00050" y="5353050"/>
            <a:ext cx="10572750" cy="1219200"/>
          </a:xfrm>
          <a:custGeom>
            <a:avLst/>
            <a:gdLst/>
            <a:ahLst/>
            <a:cxnLst/>
            <a:rect l="l" t="t" r="r" b="b"/>
            <a:pathLst>
              <a:path w="5581650" h="1219200">
                <a:moveTo>
                  <a:pt x="38100" y="0"/>
                </a:moveTo>
                <a:lnTo>
                  <a:pt x="5467350" y="0"/>
                </a:lnTo>
                <a:cubicBezTo>
                  <a:pt x="5530434" y="0"/>
                  <a:pt x="5581650" y="51216"/>
                  <a:pt x="5581650" y="114300"/>
                </a:cubicBezTo>
                <a:lnTo>
                  <a:pt x="5581650" y="1104900"/>
                </a:lnTo>
                <a:cubicBezTo>
                  <a:pt x="5581650" y="1167984"/>
                  <a:pt x="5530434" y="1219200"/>
                  <a:pt x="5467350" y="1219200"/>
                </a:cubicBez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8C1D40">
                  <a:alpha val="10000"/>
                </a:srgbClr>
              </a:gs>
              <a:gs pos="100000">
                <a:srgbClr val="8C1D40">
                  <a:alpha val="5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362039" y="5353050"/>
            <a:ext cx="76111" cy="1219200"/>
          </a:xfrm>
          <a:custGeom>
            <a:avLst/>
            <a:gdLst/>
            <a:ahLst/>
            <a:cxnLst/>
            <a:rect l="l" t="t" r="r" b="b"/>
            <a:pathLst>
              <a:path w="38100" h="1219200">
                <a:moveTo>
                  <a:pt x="38100" y="0"/>
                </a:moveTo>
                <a:lnTo>
                  <a:pt x="38100" y="0"/>
                </a:lnTo>
                <a:lnTo>
                  <a:pt x="38100" y="1219200"/>
                </a:lnTo>
                <a:lnTo>
                  <a:pt x="38100" y="1219200"/>
                </a:lnTo>
                <a:cubicBezTo>
                  <a:pt x="17072" y="1219200"/>
                  <a:pt x="0" y="1202128"/>
                  <a:pt x="0" y="1181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09600" y="554355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76202" y="0"/>
                </a:moveTo>
                <a:lnTo>
                  <a:pt x="380998" y="0"/>
                </a:lnTo>
                <a:cubicBezTo>
                  <a:pt x="423055" y="0"/>
                  <a:pt x="457200" y="34145"/>
                  <a:pt x="457200" y="76202"/>
                </a:cubicBezTo>
                <a:lnTo>
                  <a:pt x="457200" y="380998"/>
                </a:lnTo>
                <a:cubicBezTo>
                  <a:pt x="457200" y="423055"/>
                  <a:pt x="423055" y="457200"/>
                  <a:pt x="380998" y="457200"/>
                </a:cubicBezTo>
                <a:lnTo>
                  <a:pt x="76202" y="457200"/>
                </a:lnTo>
                <a:cubicBezTo>
                  <a:pt x="34145" y="457200"/>
                  <a:pt x="0" y="423055"/>
                  <a:pt x="0" y="380998"/>
                </a:cubicBezTo>
                <a:lnTo>
                  <a:pt x="0" y="76202"/>
                </a:lnTo>
                <a:cubicBezTo>
                  <a:pt x="0" y="34145"/>
                  <a:pt x="34145" y="0"/>
                  <a:pt x="76202" y="0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719138" y="56769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212056" y="5619750"/>
            <a:ext cx="9323569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Resources Are Limited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219200" y="5886450"/>
            <a:ext cx="9285514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3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Crews cannot address every alert simultaneously. Suboptimal scheduling leads to missed critical repairs.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C1D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IMPACT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Why It Matters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3657600" cy="4495800"/>
          </a:xfrm>
          <a:custGeom>
            <a:avLst/>
            <a:gdLst/>
            <a:ahLst/>
            <a:cxnLst/>
            <a:rect l="l" t="t" r="r" b="b"/>
            <a:pathLst>
              <a:path w="3657600" h="4495800">
                <a:moveTo>
                  <a:pt x="152412" y="0"/>
                </a:moveTo>
                <a:lnTo>
                  <a:pt x="3505188" y="0"/>
                </a:lnTo>
                <a:cubicBezTo>
                  <a:pt x="3589363" y="0"/>
                  <a:pt x="3657600" y="68237"/>
                  <a:pt x="3657600" y="152412"/>
                </a:cubicBezTo>
                <a:lnTo>
                  <a:pt x="3657600" y="4343388"/>
                </a:lnTo>
                <a:cubicBezTo>
                  <a:pt x="3657600" y="4427563"/>
                  <a:pt x="3589363" y="4495800"/>
                  <a:pt x="3505188" y="4495800"/>
                </a:cubicBezTo>
                <a:lnTo>
                  <a:pt x="152412" y="4495800"/>
                </a:lnTo>
                <a:cubicBezTo>
                  <a:pt x="68237" y="4495800"/>
                  <a:pt x="0" y="4427563"/>
                  <a:pt x="0" y="43433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E7000B"/>
              </a:gs>
              <a:gs pos="100000">
                <a:srgbClr val="C10007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600" y="1485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73906" y="1647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09600" y="2247900"/>
            <a:ext cx="33147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Downtime Affects Operations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609600" y="2667000"/>
            <a:ext cx="3276600" cy="2085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Unplanned shutdowns cascade through production schedules, delaying deliveries and inflating costs across the supply chain.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609600" y="4910138"/>
            <a:ext cx="3200400" cy="9525"/>
          </a:xfrm>
          <a:custGeom>
            <a:avLst/>
            <a:gdLst/>
            <a:ahLst/>
            <a:cxnLst/>
            <a:rect l="l" t="t" r="r" b="b"/>
            <a:pathLst>
              <a:path w="3200400" h="9525">
                <a:moveTo>
                  <a:pt x="0" y="0"/>
                </a:moveTo>
                <a:lnTo>
                  <a:pt x="3200400" y="0"/>
                </a:lnTo>
                <a:lnTo>
                  <a:pt x="3200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0" name="Text 8"/>
          <p:cNvSpPr/>
          <p:nvPr/>
        </p:nvSpPr>
        <p:spPr>
          <a:xfrm>
            <a:off x="609600" y="5067300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Impact</a:t>
            </a: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09600" y="525780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 Disruption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4267200" y="1257300"/>
            <a:ext cx="3657600" cy="4495800"/>
          </a:xfrm>
          <a:custGeom>
            <a:avLst/>
            <a:gdLst/>
            <a:ahLst/>
            <a:cxnLst/>
            <a:rect l="l" t="t" r="r" b="b"/>
            <a:pathLst>
              <a:path w="3657600" h="4495800">
                <a:moveTo>
                  <a:pt x="152412" y="0"/>
                </a:moveTo>
                <a:lnTo>
                  <a:pt x="3505188" y="0"/>
                </a:lnTo>
                <a:cubicBezTo>
                  <a:pt x="3589363" y="0"/>
                  <a:pt x="3657600" y="68237"/>
                  <a:pt x="3657600" y="152412"/>
                </a:cubicBezTo>
                <a:lnTo>
                  <a:pt x="3657600" y="4343388"/>
                </a:lnTo>
                <a:cubicBezTo>
                  <a:pt x="3657600" y="4427563"/>
                  <a:pt x="3589363" y="4495800"/>
                  <a:pt x="3505188" y="4495800"/>
                </a:cubicBezTo>
                <a:lnTo>
                  <a:pt x="152412" y="4495800"/>
                </a:lnTo>
                <a:cubicBezTo>
                  <a:pt x="68237" y="4495800"/>
                  <a:pt x="0" y="4427563"/>
                  <a:pt x="0" y="43433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0">
                <a:srgbClr val="F54900"/>
              </a:gs>
              <a:gs pos="100000">
                <a:srgbClr val="CA3500"/>
              </a:gs>
            </a:gsLst>
            <a:lin ang="54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495800" y="1485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660106" y="1647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145442" y="0"/>
                  <a:pt x="148010" y="558"/>
                  <a:pt x="150354" y="1619"/>
                </a:cubicBezTo>
                <a:lnTo>
                  <a:pt x="255501" y="46211"/>
                </a:lnTo>
                <a:cubicBezTo>
                  <a:pt x="267779" y="51402"/>
                  <a:pt x="276932" y="63512"/>
                  <a:pt x="276876" y="78135"/>
                </a:cubicBezTo>
                <a:cubicBezTo>
                  <a:pt x="276597" y="133499"/>
                  <a:pt x="253826" y="234795"/>
                  <a:pt x="157665" y="280839"/>
                </a:cubicBezTo>
                <a:cubicBezTo>
                  <a:pt x="148344" y="285304"/>
                  <a:pt x="137517" y="285304"/>
                  <a:pt x="128197" y="280839"/>
                </a:cubicBezTo>
                <a:cubicBezTo>
                  <a:pt x="31979" y="234795"/>
                  <a:pt x="9265" y="133499"/>
                  <a:pt x="8985" y="78135"/>
                </a:cubicBezTo>
                <a:cubicBezTo>
                  <a:pt x="8930" y="63512"/>
                  <a:pt x="18083" y="51402"/>
                  <a:pt x="30361" y="46211"/>
                </a:cubicBezTo>
                <a:lnTo>
                  <a:pt x="135452" y="1619"/>
                </a:lnTo>
                <a:cubicBezTo>
                  <a:pt x="137796" y="558"/>
                  <a:pt x="140308" y="0"/>
                  <a:pt x="142875" y="0"/>
                </a:cubicBezTo>
                <a:close/>
                <a:moveTo>
                  <a:pt x="142875" y="37281"/>
                </a:moveTo>
                <a:lnTo>
                  <a:pt x="142875" y="248301"/>
                </a:lnTo>
                <a:cubicBezTo>
                  <a:pt x="219894" y="211020"/>
                  <a:pt x="240599" y="128420"/>
                  <a:pt x="241102" y="78972"/>
                </a:cubicBezTo>
                <a:lnTo>
                  <a:pt x="142875" y="37337"/>
                </a:lnTo>
                <a:lnTo>
                  <a:pt x="142875" y="37337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495800" y="2247900"/>
            <a:ext cx="3314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Unexpected Failures Create Safety Concerns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4495800" y="2971800"/>
            <a:ext cx="3276600" cy="1781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Sudden equipment malfunctions pose risks to workers and can trigger hazardous conditions in industrial environments.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495800" y="4910138"/>
            <a:ext cx="3200400" cy="9525"/>
          </a:xfrm>
          <a:custGeom>
            <a:avLst/>
            <a:gdLst/>
            <a:ahLst/>
            <a:cxnLst/>
            <a:rect l="l" t="t" r="r" b="b"/>
            <a:pathLst>
              <a:path w="3200400" h="9525">
                <a:moveTo>
                  <a:pt x="0" y="0"/>
                </a:moveTo>
                <a:lnTo>
                  <a:pt x="3200400" y="0"/>
                </a:lnTo>
                <a:lnTo>
                  <a:pt x="3200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4495800" y="5067300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Factor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4495800" y="525780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Worker Safety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8153400" y="1257300"/>
            <a:ext cx="3657600" cy="4495800"/>
          </a:xfrm>
          <a:custGeom>
            <a:avLst/>
            <a:gdLst/>
            <a:ahLst/>
            <a:cxnLst/>
            <a:rect l="l" t="t" r="r" b="b"/>
            <a:pathLst>
              <a:path w="3657600" h="4495800">
                <a:moveTo>
                  <a:pt x="152412" y="0"/>
                </a:moveTo>
                <a:lnTo>
                  <a:pt x="3505188" y="0"/>
                </a:lnTo>
                <a:cubicBezTo>
                  <a:pt x="3589363" y="0"/>
                  <a:pt x="3657600" y="68237"/>
                  <a:pt x="3657600" y="152412"/>
                </a:cubicBezTo>
                <a:lnTo>
                  <a:pt x="3657600" y="4343388"/>
                </a:lnTo>
                <a:cubicBezTo>
                  <a:pt x="3657600" y="4427563"/>
                  <a:pt x="3589363" y="4495800"/>
                  <a:pt x="3505188" y="4495800"/>
                </a:cubicBezTo>
                <a:lnTo>
                  <a:pt x="152412" y="4495800"/>
                </a:lnTo>
                <a:cubicBezTo>
                  <a:pt x="68237" y="4495800"/>
                  <a:pt x="0" y="4427563"/>
                  <a:pt x="0" y="4343388"/>
                </a:cubicBezTo>
                <a:lnTo>
                  <a:pt x="0" y="152412"/>
                </a:lnTo>
                <a:cubicBezTo>
                  <a:pt x="0" y="68294"/>
                  <a:pt x="68294" y="0"/>
                  <a:pt x="152412" y="0"/>
                </a:cubicBezTo>
                <a:close/>
              </a:path>
            </a:pathLst>
          </a:custGeom>
          <a:gradFill flip="none" rotWithShape="1">
            <a:gsLst>
              <a:gs pos="100000">
                <a:srgbClr val="6B1532"/>
              </a:gs>
              <a:gs pos="100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8382000" y="14859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8528447" y="1647825"/>
            <a:ext cx="321469" cy="285750"/>
          </a:xfrm>
          <a:custGeom>
            <a:avLst/>
            <a:gdLst/>
            <a:ahLst/>
            <a:cxnLst/>
            <a:rect l="l" t="t" r="r" b="b"/>
            <a:pathLst>
              <a:path w="321469" h="285750">
                <a:moveTo>
                  <a:pt x="125071" y="54192"/>
                </a:moveTo>
                <a:lnTo>
                  <a:pt x="125071" y="81874"/>
                </a:lnTo>
                <a:lnTo>
                  <a:pt x="125350" y="82153"/>
                </a:lnTo>
                <a:cubicBezTo>
                  <a:pt x="128978" y="36165"/>
                  <a:pt x="167432" y="0"/>
                  <a:pt x="214368" y="0"/>
                </a:cubicBezTo>
                <a:cubicBezTo>
                  <a:pt x="225586" y="0"/>
                  <a:pt x="236358" y="2065"/>
                  <a:pt x="246236" y="5860"/>
                </a:cubicBezTo>
                <a:cubicBezTo>
                  <a:pt x="251817" y="7981"/>
                  <a:pt x="252822" y="15069"/>
                  <a:pt x="248636" y="19310"/>
                </a:cubicBezTo>
                <a:lnTo>
                  <a:pt x="199132" y="68814"/>
                </a:lnTo>
                <a:cubicBezTo>
                  <a:pt x="197458" y="70489"/>
                  <a:pt x="196509" y="72777"/>
                  <a:pt x="196509" y="75121"/>
                </a:cubicBezTo>
                <a:lnTo>
                  <a:pt x="196509" y="98227"/>
                </a:lnTo>
                <a:cubicBezTo>
                  <a:pt x="196509" y="103138"/>
                  <a:pt x="200527" y="107156"/>
                  <a:pt x="205439" y="107156"/>
                </a:cubicBezTo>
                <a:lnTo>
                  <a:pt x="228544" y="107156"/>
                </a:lnTo>
                <a:cubicBezTo>
                  <a:pt x="230888" y="107156"/>
                  <a:pt x="233176" y="106207"/>
                  <a:pt x="234851" y="104533"/>
                </a:cubicBezTo>
                <a:lnTo>
                  <a:pt x="284355" y="55029"/>
                </a:lnTo>
                <a:cubicBezTo>
                  <a:pt x="288596" y="50788"/>
                  <a:pt x="295684" y="51848"/>
                  <a:pt x="297805" y="57429"/>
                </a:cubicBezTo>
                <a:cubicBezTo>
                  <a:pt x="301600" y="67308"/>
                  <a:pt x="303665" y="78079"/>
                  <a:pt x="303665" y="89297"/>
                </a:cubicBezTo>
                <a:cubicBezTo>
                  <a:pt x="303665" y="123118"/>
                  <a:pt x="284857" y="152586"/>
                  <a:pt x="257063" y="167711"/>
                </a:cubicBezTo>
                <a:lnTo>
                  <a:pt x="302549" y="213196"/>
                </a:lnTo>
                <a:cubicBezTo>
                  <a:pt x="312986" y="223633"/>
                  <a:pt x="312986" y="240599"/>
                  <a:pt x="302549" y="251092"/>
                </a:cubicBezTo>
                <a:lnTo>
                  <a:pt x="269007" y="284634"/>
                </a:lnTo>
                <a:cubicBezTo>
                  <a:pt x="258570" y="295070"/>
                  <a:pt x="241604" y="295070"/>
                  <a:pt x="231111" y="284634"/>
                </a:cubicBezTo>
                <a:lnTo>
                  <a:pt x="160790" y="214313"/>
                </a:lnTo>
                <a:cubicBezTo>
                  <a:pt x="145498" y="199020"/>
                  <a:pt x="142038" y="176417"/>
                  <a:pt x="150465" y="157776"/>
                </a:cubicBezTo>
                <a:lnTo>
                  <a:pt x="99845" y="107156"/>
                </a:lnTo>
                <a:lnTo>
                  <a:pt x="72163" y="107156"/>
                </a:lnTo>
                <a:cubicBezTo>
                  <a:pt x="66191" y="107156"/>
                  <a:pt x="60610" y="104198"/>
                  <a:pt x="57317" y="99231"/>
                </a:cubicBezTo>
                <a:lnTo>
                  <a:pt x="13060" y="32872"/>
                </a:lnTo>
                <a:cubicBezTo>
                  <a:pt x="10716" y="29356"/>
                  <a:pt x="11162" y="24612"/>
                  <a:pt x="14176" y="21599"/>
                </a:cubicBezTo>
                <a:lnTo>
                  <a:pt x="39514" y="-3739"/>
                </a:lnTo>
                <a:cubicBezTo>
                  <a:pt x="42528" y="-6753"/>
                  <a:pt x="47216" y="-7200"/>
                  <a:pt x="50788" y="-4856"/>
                </a:cubicBezTo>
                <a:lnTo>
                  <a:pt x="117146" y="39346"/>
                </a:lnTo>
                <a:cubicBezTo>
                  <a:pt x="122113" y="42639"/>
                  <a:pt x="125071" y="48220"/>
                  <a:pt x="125071" y="54192"/>
                </a:cubicBezTo>
                <a:close/>
                <a:moveTo>
                  <a:pt x="120328" y="165534"/>
                </a:moveTo>
                <a:cubicBezTo>
                  <a:pt x="116811" y="186184"/>
                  <a:pt x="121667" y="208006"/>
                  <a:pt x="135062" y="225475"/>
                </a:cubicBezTo>
                <a:lnTo>
                  <a:pt x="82042" y="278439"/>
                </a:lnTo>
                <a:cubicBezTo>
                  <a:pt x="66359" y="294122"/>
                  <a:pt x="40909" y="294122"/>
                  <a:pt x="25226" y="278439"/>
                </a:cubicBezTo>
                <a:cubicBezTo>
                  <a:pt x="9544" y="262756"/>
                  <a:pt x="9544" y="237306"/>
                  <a:pt x="25226" y="221624"/>
                </a:cubicBezTo>
                <a:lnTo>
                  <a:pt x="100794" y="146056"/>
                </a:lnTo>
                <a:lnTo>
                  <a:pt x="120328" y="165590"/>
                </a:ln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382000" y="2247900"/>
            <a:ext cx="33147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Reactive Maintenance Wastes Effort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8382000" y="2971800"/>
            <a:ext cx="3276600" cy="17811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Fixing machines after they break consumes more resources than planned interventions and strains maintenance teams.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8382000" y="4910138"/>
            <a:ext cx="3200400" cy="9525"/>
          </a:xfrm>
          <a:custGeom>
            <a:avLst/>
            <a:gdLst/>
            <a:ahLst/>
            <a:cxnLst/>
            <a:rect l="l" t="t" r="r" b="b"/>
            <a:pathLst>
              <a:path w="3200400" h="9525">
                <a:moveTo>
                  <a:pt x="0" y="0"/>
                </a:moveTo>
                <a:lnTo>
                  <a:pt x="3200400" y="0"/>
                </a:lnTo>
                <a:lnTo>
                  <a:pt x="3200400" y="9525"/>
                </a:lnTo>
                <a:lnTo>
                  <a:pt x="0" y="9525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6" name="Text 24"/>
          <p:cNvSpPr/>
          <p:nvPr/>
        </p:nvSpPr>
        <p:spPr>
          <a:xfrm>
            <a:off x="8382000" y="5067300"/>
            <a:ext cx="32670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>
                    <a:alpha val="7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Efficiency Loss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8382000" y="5257800"/>
            <a:ext cx="32861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 Drain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1781845" y="5981700"/>
            <a:ext cx="2295525" cy="495300"/>
          </a:xfrm>
          <a:custGeom>
            <a:avLst/>
            <a:gdLst/>
            <a:ahLst/>
            <a:cxnLst/>
            <a:rect l="l" t="t" r="r" b="b"/>
            <a:pathLst>
              <a:path w="2295525" h="495300">
                <a:moveTo>
                  <a:pt x="76202" y="0"/>
                </a:moveTo>
                <a:lnTo>
                  <a:pt x="2219323" y="0"/>
                </a:lnTo>
                <a:cubicBezTo>
                  <a:pt x="2261408" y="0"/>
                  <a:pt x="2295525" y="34117"/>
                  <a:pt x="2295525" y="76202"/>
                </a:cubicBezTo>
                <a:lnTo>
                  <a:pt x="2295525" y="419098"/>
                </a:lnTo>
                <a:cubicBezTo>
                  <a:pt x="2295525" y="461183"/>
                  <a:pt x="2261408" y="495300"/>
                  <a:pt x="221932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867572" y="5981700"/>
            <a:ext cx="2295524" cy="495300"/>
          </a:xfrm>
          <a:prstGeom prst="rect">
            <a:avLst/>
          </a:prstGeom>
          <a:noFill/>
          <a:ln/>
        </p:spPr>
        <p:txBody>
          <a:bodyPr wrap="square" lIns="228600" tIns="114300" rIns="228600" bIns="114300" rtlCol="0" anchor="ctr"/>
          <a:lstStyle/>
          <a:p>
            <a:pPr>
              <a:lnSpc>
                <a:spcPct val="130000"/>
              </a:lnSpc>
            </a:pPr>
            <a:r>
              <a:rPr lang="en-US" sz="1350" b="1" dirty="0">
                <a:solidFill>
                  <a:srgbClr val="8C1D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Cost of Inaction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4247985" y="6029325"/>
            <a:ext cx="702978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3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approaches leave critical decisions to human judgment without data-driven guidance</a:t>
            </a:r>
            <a:endParaRPr lang="en-US" sz="1300" dirty="0"/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C1D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ANALYSIS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Gap in Current Systems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5764" y="1185863"/>
            <a:ext cx="5880720" cy="1670616"/>
          </a:xfrm>
          <a:custGeom>
            <a:avLst/>
            <a:gdLst/>
            <a:ahLst/>
            <a:cxnLst/>
            <a:rect l="l" t="t" r="r" b="b"/>
            <a:pathLst>
              <a:path w="5895975" h="1381125">
                <a:moveTo>
                  <a:pt x="114302" y="0"/>
                </a:moveTo>
                <a:lnTo>
                  <a:pt x="5781673" y="0"/>
                </a:lnTo>
                <a:cubicBezTo>
                  <a:pt x="5844800" y="0"/>
                  <a:pt x="5895975" y="51175"/>
                  <a:pt x="5895975" y="114302"/>
                </a:cubicBezTo>
                <a:lnTo>
                  <a:pt x="5895975" y="1266823"/>
                </a:lnTo>
                <a:cubicBezTo>
                  <a:pt x="5895975" y="1329950"/>
                  <a:pt x="5844800" y="1381125"/>
                  <a:pt x="5781673" y="1381125"/>
                </a:cubicBezTo>
                <a:lnTo>
                  <a:pt x="114302" y="1381125"/>
                </a:lnTo>
                <a:cubicBezTo>
                  <a:pt x="51175" y="1381125"/>
                  <a:pt x="0" y="1329950"/>
                  <a:pt x="0" y="1266823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5" name="Shape 3"/>
          <p:cNvSpPr/>
          <p:nvPr/>
        </p:nvSpPr>
        <p:spPr>
          <a:xfrm>
            <a:off x="581025" y="1381125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676275" y="1476375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126653" y="79139"/>
                </a:moveTo>
                <a:lnTo>
                  <a:pt x="96887" y="126764"/>
                </a:lnTo>
                <a:cubicBezTo>
                  <a:pt x="95324" y="129257"/>
                  <a:pt x="92646" y="130820"/>
                  <a:pt x="89706" y="130969"/>
                </a:cubicBezTo>
                <a:cubicBezTo>
                  <a:pt x="86767" y="131118"/>
                  <a:pt x="83939" y="129778"/>
                  <a:pt x="82190" y="127397"/>
                </a:cubicBezTo>
                <a:lnTo>
                  <a:pt x="64331" y="103584"/>
                </a:lnTo>
                <a:cubicBezTo>
                  <a:pt x="61354" y="99640"/>
                  <a:pt x="62173" y="94059"/>
                  <a:pt x="66117" y="91083"/>
                </a:cubicBezTo>
                <a:cubicBezTo>
                  <a:pt x="70061" y="88106"/>
                  <a:pt x="75642" y="88925"/>
                  <a:pt x="78618" y="92869"/>
                </a:cubicBezTo>
                <a:lnTo>
                  <a:pt x="88664" y="106263"/>
                </a:lnTo>
                <a:lnTo>
                  <a:pt x="111509" y="69689"/>
                </a:lnTo>
                <a:cubicBezTo>
                  <a:pt x="114114" y="65522"/>
                  <a:pt x="119621" y="64219"/>
                  <a:pt x="123825" y="66861"/>
                </a:cubicBezTo>
                <a:cubicBezTo>
                  <a:pt x="128029" y="69503"/>
                  <a:pt x="129294" y="74972"/>
                  <a:pt x="126653" y="79177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1076325" y="1438275"/>
            <a:ext cx="3875788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What Current Systems Do Well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581025" y="1984603"/>
            <a:ext cx="558165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Monitoring systems successfully detect abnormal conditions and trigger alerts when sensor readings exceed thresholds.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25029" y="310651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1" name="Shape 9"/>
          <p:cNvSpPr/>
          <p:nvPr/>
        </p:nvSpPr>
        <p:spPr>
          <a:xfrm>
            <a:off x="610754" y="32146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190500"/>
                </a:moveTo>
                <a:cubicBezTo>
                  <a:pt x="147820" y="190500"/>
                  <a:pt x="190500" y="147820"/>
                  <a:pt x="190500" y="95250"/>
                </a:cubicBezTo>
                <a:cubicBezTo>
                  <a:pt x="190500" y="42680"/>
                  <a:pt x="147820" y="0"/>
                  <a:pt x="95250" y="0"/>
                </a:cubicBezTo>
                <a:cubicBezTo>
                  <a:pt x="42680" y="0"/>
                  <a:pt x="0" y="42680"/>
                  <a:pt x="0" y="95250"/>
                </a:cubicBezTo>
                <a:cubicBezTo>
                  <a:pt x="0" y="147820"/>
                  <a:pt x="42680" y="190500"/>
                  <a:pt x="95250" y="190500"/>
                </a:cubicBezTo>
                <a:close/>
                <a:moveTo>
                  <a:pt x="62136" y="62136"/>
                </a:moveTo>
                <a:cubicBezTo>
                  <a:pt x="65633" y="58638"/>
                  <a:pt x="71289" y="58638"/>
                  <a:pt x="74749" y="62136"/>
                </a:cubicBezTo>
                <a:lnTo>
                  <a:pt x="95213" y="82600"/>
                </a:lnTo>
                <a:lnTo>
                  <a:pt x="115677" y="62136"/>
                </a:lnTo>
                <a:cubicBezTo>
                  <a:pt x="119174" y="58638"/>
                  <a:pt x="124830" y="58638"/>
                  <a:pt x="128290" y="62136"/>
                </a:cubicBezTo>
                <a:cubicBezTo>
                  <a:pt x="131750" y="65633"/>
                  <a:pt x="131787" y="71289"/>
                  <a:pt x="128290" y="74749"/>
                </a:cubicBezTo>
                <a:lnTo>
                  <a:pt x="107826" y="95213"/>
                </a:lnTo>
                <a:lnTo>
                  <a:pt x="128290" y="115677"/>
                </a:lnTo>
                <a:cubicBezTo>
                  <a:pt x="131787" y="119174"/>
                  <a:pt x="131787" y="124830"/>
                  <a:pt x="128290" y="128290"/>
                </a:cubicBezTo>
                <a:cubicBezTo>
                  <a:pt x="124792" y="131750"/>
                  <a:pt x="119137" y="131787"/>
                  <a:pt x="115677" y="128290"/>
                </a:cubicBezTo>
                <a:lnTo>
                  <a:pt x="95213" y="107826"/>
                </a:lnTo>
                <a:lnTo>
                  <a:pt x="74749" y="128290"/>
                </a:lnTo>
                <a:cubicBezTo>
                  <a:pt x="71251" y="131787"/>
                  <a:pt x="65596" y="131787"/>
                  <a:pt x="62136" y="128290"/>
                </a:cubicBezTo>
                <a:cubicBezTo>
                  <a:pt x="58675" y="124792"/>
                  <a:pt x="58638" y="119137"/>
                  <a:pt x="62136" y="115677"/>
                </a:cubicBezTo>
                <a:lnTo>
                  <a:pt x="82600" y="95213"/>
                </a:lnTo>
                <a:lnTo>
                  <a:pt x="62136" y="74749"/>
                </a:lnTo>
                <a:cubicBezTo>
                  <a:pt x="58638" y="71251"/>
                  <a:pt x="58638" y="65596"/>
                  <a:pt x="62136" y="62136"/>
                </a:cubicBez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063192" y="3078957"/>
            <a:ext cx="3888921" cy="53612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Critical Missing Piece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676275" y="3709988"/>
            <a:ext cx="52959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They do not recommend actions;</a:t>
            </a:r>
            <a:r>
              <a:rPr lang="en-US" sz="14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operators receive alerts but no guidance on what to do next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676275" y="4357008"/>
            <a:ext cx="527685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Operators interpret risk themselves, </a:t>
            </a:r>
            <a:r>
              <a:rPr lang="en-US" sz="14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each technician makes subjective judgment calls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676275" y="4985658"/>
            <a:ext cx="5232648" cy="3544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 prioritization framework,</a:t>
            </a:r>
            <a:r>
              <a:rPr lang="en-US" sz="1400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all alerts appear equally urgent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6518895" y="1181100"/>
            <a:ext cx="5295900" cy="5295900"/>
          </a:xfrm>
          <a:custGeom>
            <a:avLst/>
            <a:gdLst/>
            <a:ahLst/>
            <a:cxnLst/>
            <a:rect l="l" t="t" r="r" b="b"/>
            <a:pathLst>
              <a:path w="5295900" h="5295900">
                <a:moveTo>
                  <a:pt x="152416" y="0"/>
                </a:moveTo>
                <a:lnTo>
                  <a:pt x="5143484" y="0"/>
                </a:lnTo>
                <a:cubicBezTo>
                  <a:pt x="5227605" y="0"/>
                  <a:pt x="5295900" y="68295"/>
                  <a:pt x="5295900" y="152416"/>
                </a:cubicBezTo>
                <a:lnTo>
                  <a:pt x="5295900" y="5143484"/>
                </a:lnTo>
                <a:cubicBezTo>
                  <a:pt x="5295900" y="5227661"/>
                  <a:pt x="5227661" y="5295900"/>
                  <a:pt x="5143484" y="5295900"/>
                </a:cubicBezTo>
                <a:lnTo>
                  <a:pt x="152416" y="5295900"/>
                </a:lnTo>
                <a:cubicBezTo>
                  <a:pt x="68239" y="5295900"/>
                  <a:pt x="0" y="5227661"/>
                  <a:pt x="0" y="5143484"/>
                </a:cubicBezTo>
                <a:lnTo>
                  <a:pt x="0" y="152416"/>
                </a:lnTo>
                <a:cubicBezTo>
                  <a:pt x="0" y="68295"/>
                  <a:pt x="68295" y="0"/>
                  <a:pt x="152416" y="0"/>
                </a:cubicBezTo>
                <a:close/>
              </a:path>
            </a:pathLst>
          </a:custGeom>
          <a:gradFill flip="none" rotWithShape="1">
            <a:gsLst>
              <a:gs pos="0">
                <a:srgbClr val="8C1D40"/>
              </a:gs>
              <a:gs pos="100000">
                <a:srgbClr val="6B1532"/>
              </a:gs>
            </a:gsLst>
            <a:lin ang="270000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783910" y="2147888"/>
            <a:ext cx="762000" cy="762000"/>
          </a:xfrm>
          <a:custGeom>
            <a:avLst/>
            <a:gdLst/>
            <a:ahLst/>
            <a:cxnLst/>
            <a:rect l="l" t="t" r="r" b="b"/>
            <a:pathLst>
              <a:path w="762000" h="762000">
                <a:moveTo>
                  <a:pt x="381000" y="0"/>
                </a:moveTo>
                <a:lnTo>
                  <a:pt x="381000" y="0"/>
                </a:lnTo>
                <a:cubicBezTo>
                  <a:pt x="591280" y="0"/>
                  <a:pt x="762000" y="170720"/>
                  <a:pt x="762000" y="381000"/>
                </a:cubicBezTo>
                <a:lnTo>
                  <a:pt x="762000" y="381000"/>
                </a:lnTo>
                <a:cubicBezTo>
                  <a:pt x="762000" y="591280"/>
                  <a:pt x="591280" y="762000"/>
                  <a:pt x="381000" y="762000"/>
                </a:cubicBezTo>
                <a:lnTo>
                  <a:pt x="381000" y="762000"/>
                </a:lnTo>
                <a:cubicBezTo>
                  <a:pt x="170720" y="762000"/>
                  <a:pt x="0" y="591280"/>
                  <a:pt x="0" y="381000"/>
                </a:cubicBezTo>
                <a:lnTo>
                  <a:pt x="0" y="381000"/>
                </a:lnTo>
                <a:cubicBezTo>
                  <a:pt x="0" y="170720"/>
                  <a:pt x="170720" y="0"/>
                  <a:pt x="381000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9036323" y="2357438"/>
            <a:ext cx="257175" cy="342900"/>
          </a:xfrm>
          <a:custGeom>
            <a:avLst/>
            <a:gdLst/>
            <a:ahLst/>
            <a:cxnLst/>
            <a:rect l="l" t="t" r="r" b="b"/>
            <a:pathLst>
              <a:path w="257175" h="342900">
                <a:moveTo>
                  <a:pt x="196163" y="257175"/>
                </a:moveTo>
                <a:cubicBezTo>
                  <a:pt x="201052" y="242240"/>
                  <a:pt x="210830" y="228712"/>
                  <a:pt x="221880" y="217058"/>
                </a:cubicBezTo>
                <a:cubicBezTo>
                  <a:pt x="243780" y="194020"/>
                  <a:pt x="257175" y="162878"/>
                  <a:pt x="257175" y="128588"/>
                </a:cubicBezTo>
                <a:cubicBezTo>
                  <a:pt x="257175" y="57596"/>
                  <a:pt x="199579" y="0"/>
                  <a:pt x="128587" y="0"/>
                </a:cubicBezTo>
                <a:cubicBezTo>
                  <a:pt x="57596" y="0"/>
                  <a:pt x="0" y="57596"/>
                  <a:pt x="0" y="128588"/>
                </a:cubicBezTo>
                <a:cubicBezTo>
                  <a:pt x="0" y="162878"/>
                  <a:pt x="13395" y="194020"/>
                  <a:pt x="35295" y="217058"/>
                </a:cubicBezTo>
                <a:cubicBezTo>
                  <a:pt x="46345" y="228712"/>
                  <a:pt x="56190" y="242240"/>
                  <a:pt x="61012" y="257175"/>
                </a:cubicBezTo>
                <a:lnTo>
                  <a:pt x="196096" y="257175"/>
                </a:lnTo>
                <a:close/>
                <a:moveTo>
                  <a:pt x="192881" y="289322"/>
                </a:moveTo>
                <a:lnTo>
                  <a:pt x="64294" y="289322"/>
                </a:lnTo>
                <a:lnTo>
                  <a:pt x="64294" y="300038"/>
                </a:lnTo>
                <a:cubicBezTo>
                  <a:pt x="64294" y="329639"/>
                  <a:pt x="88270" y="353616"/>
                  <a:pt x="117872" y="353616"/>
                </a:cubicBezTo>
                <a:lnTo>
                  <a:pt x="139303" y="353616"/>
                </a:lnTo>
                <a:cubicBezTo>
                  <a:pt x="168905" y="353616"/>
                  <a:pt x="192881" y="329639"/>
                  <a:pt x="192881" y="300038"/>
                </a:cubicBezTo>
                <a:lnTo>
                  <a:pt x="192881" y="289322"/>
                </a:lnTo>
                <a:close/>
                <a:moveTo>
                  <a:pt x="123230" y="75009"/>
                </a:moveTo>
                <a:cubicBezTo>
                  <a:pt x="96575" y="75009"/>
                  <a:pt x="75009" y="96575"/>
                  <a:pt x="75009" y="123230"/>
                </a:cubicBezTo>
                <a:cubicBezTo>
                  <a:pt x="75009" y="132137"/>
                  <a:pt x="67843" y="139303"/>
                  <a:pt x="58936" y="139303"/>
                </a:cubicBezTo>
                <a:cubicBezTo>
                  <a:pt x="50029" y="139303"/>
                  <a:pt x="42863" y="132137"/>
                  <a:pt x="42863" y="123230"/>
                </a:cubicBezTo>
                <a:cubicBezTo>
                  <a:pt x="42863" y="78827"/>
                  <a:pt x="78827" y="42863"/>
                  <a:pt x="123230" y="42863"/>
                </a:cubicBezTo>
                <a:cubicBezTo>
                  <a:pt x="132137" y="42863"/>
                  <a:pt x="139303" y="50029"/>
                  <a:pt x="139303" y="58936"/>
                </a:cubicBezTo>
                <a:cubicBezTo>
                  <a:pt x="139303" y="67843"/>
                  <a:pt x="132137" y="75009"/>
                  <a:pt x="123230" y="75009"/>
                </a:cubicBez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6676058" y="3062288"/>
            <a:ext cx="4981575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00000"/>
              </a:lnSpc>
            </a:pPr>
            <a:r>
              <a:rPr lang="en-US" sz="225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Key Insight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747495" y="3709988"/>
            <a:ext cx="4838700" cy="1076325"/>
          </a:xfrm>
          <a:custGeom>
            <a:avLst/>
            <a:gdLst/>
            <a:ahLst/>
            <a:cxnLst/>
            <a:rect l="l" t="t" r="r" b="b"/>
            <a:pathLst>
              <a:path w="4838700" h="1076325">
                <a:moveTo>
                  <a:pt x="114295" y="0"/>
                </a:moveTo>
                <a:lnTo>
                  <a:pt x="4724405" y="0"/>
                </a:lnTo>
                <a:cubicBezTo>
                  <a:pt x="4787528" y="0"/>
                  <a:pt x="4838700" y="51172"/>
                  <a:pt x="4838700" y="114295"/>
                </a:cubicBezTo>
                <a:lnTo>
                  <a:pt x="4838700" y="962030"/>
                </a:lnTo>
                <a:cubicBezTo>
                  <a:pt x="4838700" y="1025153"/>
                  <a:pt x="4787528" y="1076325"/>
                  <a:pt x="4724405" y="1076325"/>
                </a:cubicBezTo>
                <a:lnTo>
                  <a:pt x="114295" y="1076325"/>
                </a:lnTo>
                <a:cubicBezTo>
                  <a:pt x="51172" y="1076325"/>
                  <a:pt x="0" y="1025153"/>
                  <a:pt x="0" y="962030"/>
                </a:cubicBezTo>
                <a:lnTo>
                  <a:pt x="0" y="114295"/>
                </a:lnTo>
                <a:cubicBezTo>
                  <a:pt x="0" y="51214"/>
                  <a:pt x="51214" y="0"/>
                  <a:pt x="114295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6890370" y="3900488"/>
            <a:ext cx="45529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 is not detection.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890370" y="4286250"/>
            <a:ext cx="4552950" cy="31432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500" b="1" dirty="0">
                <a:solidFill>
                  <a:srgbClr val="FFC62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The problem is decision making.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6709395" y="5014913"/>
            <a:ext cx="49149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Current systems inform operators that something is wrong. They do not guide operators on what to do about it.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C1D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Project Objective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381000" y="1257300"/>
            <a:ext cx="6448425" cy="1333500"/>
          </a:xfrm>
          <a:custGeom>
            <a:avLst/>
            <a:gdLst/>
            <a:ahLst/>
            <a:cxnLst/>
            <a:rect l="l" t="t" r="r" b="b"/>
            <a:pathLst>
              <a:path w="6448425" h="1333500">
                <a:moveTo>
                  <a:pt x="152406" y="0"/>
                </a:moveTo>
                <a:lnTo>
                  <a:pt x="6296019" y="0"/>
                </a:lnTo>
                <a:cubicBezTo>
                  <a:pt x="6380134" y="0"/>
                  <a:pt x="6448425" y="68291"/>
                  <a:pt x="6448425" y="152406"/>
                </a:cubicBezTo>
                <a:lnTo>
                  <a:pt x="6448425" y="1181094"/>
                </a:lnTo>
                <a:cubicBezTo>
                  <a:pt x="6448425" y="1265209"/>
                  <a:pt x="6380134" y="1333500"/>
                  <a:pt x="6296019" y="1333500"/>
                </a:cubicBezTo>
                <a:lnTo>
                  <a:pt x="152406" y="1333500"/>
                </a:lnTo>
                <a:cubicBezTo>
                  <a:pt x="68291" y="1333500"/>
                  <a:pt x="0" y="1265209"/>
                  <a:pt x="0" y="1181094"/>
                </a:cubicBezTo>
                <a:lnTo>
                  <a:pt x="0" y="152406"/>
                </a:lnTo>
                <a:cubicBezTo>
                  <a:pt x="0" y="68291"/>
                  <a:pt x="68291" y="0"/>
                  <a:pt x="152406" y="0"/>
                </a:cubicBezTo>
                <a:close/>
              </a:path>
            </a:pathLst>
          </a:custGeom>
          <a:gradFill flip="none" rotWithShape="1">
            <a:gsLst>
              <a:gs pos="0">
                <a:srgbClr val="8C1D40"/>
              </a:gs>
              <a:gs pos="100000">
                <a:srgbClr val="A0204A"/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09600" y="14859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762000" y="1638300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200025" y="114300"/>
                </a:moveTo>
                <a:cubicBezTo>
                  <a:pt x="200025" y="66987"/>
                  <a:pt x="161613" y="28575"/>
                  <a:pt x="114300" y="28575"/>
                </a:cubicBezTo>
                <a:cubicBezTo>
                  <a:pt x="66987" y="28575"/>
                  <a:pt x="28575" y="66987"/>
                  <a:pt x="28575" y="114300"/>
                </a:cubicBezTo>
                <a:cubicBezTo>
                  <a:pt x="28575" y="161613"/>
                  <a:pt x="66987" y="200025"/>
                  <a:pt x="114300" y="200025"/>
                </a:cubicBezTo>
                <a:cubicBezTo>
                  <a:pt x="161613" y="200025"/>
                  <a:pt x="200025" y="161613"/>
                  <a:pt x="200025" y="114300"/>
                </a:cubicBezTo>
                <a:close/>
                <a:moveTo>
                  <a:pt x="0" y="114300"/>
                </a:moveTo>
                <a:cubicBezTo>
                  <a:pt x="0" y="51216"/>
                  <a:pt x="51216" y="0"/>
                  <a:pt x="114300" y="0"/>
                </a:cubicBezTo>
                <a:cubicBezTo>
                  <a:pt x="177384" y="0"/>
                  <a:pt x="228600" y="51216"/>
                  <a:pt x="228600" y="114300"/>
                </a:cubicBezTo>
                <a:cubicBezTo>
                  <a:pt x="228600" y="177384"/>
                  <a:pt x="177384" y="228600"/>
                  <a:pt x="114300" y="228600"/>
                </a:cubicBezTo>
                <a:cubicBezTo>
                  <a:pt x="51216" y="228600"/>
                  <a:pt x="0" y="177384"/>
                  <a:pt x="0" y="114300"/>
                </a:cubicBezTo>
                <a:close/>
                <a:moveTo>
                  <a:pt x="114300" y="150019"/>
                </a:moveTo>
                <a:cubicBezTo>
                  <a:pt x="134014" y="150019"/>
                  <a:pt x="150019" y="134014"/>
                  <a:pt x="150019" y="114300"/>
                </a:cubicBezTo>
                <a:cubicBezTo>
                  <a:pt x="150019" y="94586"/>
                  <a:pt x="134014" y="78581"/>
                  <a:pt x="114300" y="78581"/>
                </a:cubicBezTo>
                <a:cubicBezTo>
                  <a:pt x="94586" y="78581"/>
                  <a:pt x="78581" y="94586"/>
                  <a:pt x="78581" y="114300"/>
                </a:cubicBezTo>
                <a:cubicBezTo>
                  <a:pt x="78581" y="134014"/>
                  <a:pt x="94586" y="150019"/>
                  <a:pt x="114300" y="150019"/>
                </a:cubicBezTo>
                <a:close/>
                <a:moveTo>
                  <a:pt x="114300" y="50006"/>
                </a:moveTo>
                <a:cubicBezTo>
                  <a:pt x="149785" y="50006"/>
                  <a:pt x="178594" y="78815"/>
                  <a:pt x="178594" y="114300"/>
                </a:cubicBezTo>
                <a:cubicBezTo>
                  <a:pt x="178594" y="149785"/>
                  <a:pt x="149785" y="178594"/>
                  <a:pt x="114300" y="178594"/>
                </a:cubicBezTo>
                <a:cubicBezTo>
                  <a:pt x="78815" y="178594"/>
                  <a:pt x="50006" y="149785"/>
                  <a:pt x="50006" y="114300"/>
                </a:cubicBezTo>
                <a:cubicBezTo>
                  <a:pt x="50006" y="78815"/>
                  <a:pt x="78815" y="50006"/>
                  <a:pt x="114300" y="50006"/>
                </a:cubicBezTo>
                <a:close/>
                <a:moveTo>
                  <a:pt x="100013" y="114300"/>
                </a:moveTo>
                <a:cubicBezTo>
                  <a:pt x="100013" y="106415"/>
                  <a:pt x="106415" y="100013"/>
                  <a:pt x="114300" y="100013"/>
                </a:cubicBezTo>
                <a:cubicBezTo>
                  <a:pt x="122185" y="100013"/>
                  <a:pt x="128588" y="106415"/>
                  <a:pt x="128588" y="114300"/>
                </a:cubicBezTo>
                <a:cubicBezTo>
                  <a:pt x="128588" y="122185"/>
                  <a:pt x="122185" y="128588"/>
                  <a:pt x="114300" y="128588"/>
                </a:cubicBezTo>
                <a:cubicBezTo>
                  <a:pt x="106415" y="128588"/>
                  <a:pt x="100013" y="122185"/>
                  <a:pt x="100013" y="114300"/>
                </a:cubicBez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295400" y="1485900"/>
            <a:ext cx="541972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8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 a Maintenance Decision-Support System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295400" y="1866900"/>
            <a:ext cx="5381625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Design an intelligent framework that transforms raw sensor data into actionable maintenance recommendations.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445768" y="3048000"/>
            <a:ext cx="3127995" cy="3429000"/>
          </a:xfrm>
          <a:custGeom>
            <a:avLst/>
            <a:gdLst/>
            <a:ahLst/>
            <a:cxnLst/>
            <a:rect l="l" t="t" r="r" b="b"/>
            <a:pathLst>
              <a:path w="3124200" h="3695700">
                <a:moveTo>
                  <a:pt x="38100" y="0"/>
                </a:moveTo>
                <a:lnTo>
                  <a:pt x="3009886" y="0"/>
                </a:lnTo>
                <a:cubicBezTo>
                  <a:pt x="3073020" y="0"/>
                  <a:pt x="3124200" y="51180"/>
                  <a:pt x="3124200" y="114314"/>
                </a:cubicBezTo>
                <a:lnTo>
                  <a:pt x="3124200" y="3581386"/>
                </a:lnTo>
                <a:cubicBezTo>
                  <a:pt x="3124200" y="3644520"/>
                  <a:pt x="3073020" y="3695700"/>
                  <a:pt x="3009886" y="3695700"/>
                </a:cubicBezTo>
                <a:lnTo>
                  <a:pt x="38100" y="3695700"/>
                </a:lnTo>
                <a:cubicBezTo>
                  <a:pt x="17072" y="3695700"/>
                  <a:pt x="0" y="3678628"/>
                  <a:pt x="0" y="3657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EFF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92431" y="3048000"/>
            <a:ext cx="45719" cy="3429000"/>
          </a:xfrm>
          <a:custGeom>
            <a:avLst/>
            <a:gdLst/>
            <a:ahLst/>
            <a:cxnLst/>
            <a:rect l="l" t="t" r="r" b="b"/>
            <a:pathLst>
              <a:path w="38100" h="3695700">
                <a:moveTo>
                  <a:pt x="38100" y="0"/>
                </a:moveTo>
                <a:lnTo>
                  <a:pt x="38100" y="0"/>
                </a:lnTo>
                <a:lnTo>
                  <a:pt x="38100" y="3695700"/>
                </a:lnTo>
                <a:lnTo>
                  <a:pt x="38100" y="3695700"/>
                </a:lnTo>
                <a:cubicBezTo>
                  <a:pt x="17072" y="3695700"/>
                  <a:pt x="0" y="3678628"/>
                  <a:pt x="0" y="3657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2B7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590550" y="3467100"/>
            <a:ext cx="333375" cy="381000"/>
          </a:xfrm>
          <a:custGeom>
            <a:avLst/>
            <a:gdLst/>
            <a:ahLst/>
            <a:cxnLst/>
            <a:rect l="l" t="t" r="r" b="b"/>
            <a:pathLst>
              <a:path w="333375" h="381000">
                <a:moveTo>
                  <a:pt x="76200" y="0"/>
                </a:moveTo>
                <a:lnTo>
                  <a:pt x="257175" y="0"/>
                </a:lnTo>
                <a:cubicBezTo>
                  <a:pt x="299231" y="0"/>
                  <a:pt x="333375" y="34144"/>
                  <a:pt x="333375" y="76200"/>
                </a:cubicBezTo>
                <a:lnTo>
                  <a:pt x="333375" y="304800"/>
                </a:lnTo>
                <a:cubicBezTo>
                  <a:pt x="333375" y="346856"/>
                  <a:pt x="299231" y="381000"/>
                  <a:pt x="257175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7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89521" y="35814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133350" y="61258"/>
                </a:moveTo>
                <a:cubicBezTo>
                  <a:pt x="128945" y="64175"/>
                  <a:pt x="123885" y="66526"/>
                  <a:pt x="118616" y="68401"/>
                </a:cubicBezTo>
                <a:cubicBezTo>
                  <a:pt x="104626" y="73402"/>
                  <a:pt x="86261" y="76200"/>
                  <a:pt x="66675" y="76200"/>
                </a:cubicBezTo>
                <a:cubicBezTo>
                  <a:pt x="47089" y="76200"/>
                  <a:pt x="28694" y="73372"/>
                  <a:pt x="14734" y="68401"/>
                </a:cubicBezTo>
                <a:cubicBezTo>
                  <a:pt x="9495" y="66526"/>
                  <a:pt x="4405" y="64175"/>
                  <a:pt x="0" y="61258"/>
                </a:cubicBezTo>
                <a:lnTo>
                  <a:pt x="0" y="85725"/>
                </a:lnTo>
                <a:cubicBezTo>
                  <a:pt x="0" y="98881"/>
                  <a:pt x="29855" y="109537"/>
                  <a:pt x="66675" y="109537"/>
                </a:cubicBezTo>
                <a:cubicBezTo>
                  <a:pt x="103495" y="109537"/>
                  <a:pt x="133350" y="98881"/>
                  <a:pt x="133350" y="85725"/>
                </a:cubicBezTo>
                <a:lnTo>
                  <a:pt x="133350" y="61258"/>
                </a:lnTo>
                <a:close/>
                <a:moveTo>
                  <a:pt x="133350" y="38100"/>
                </a:moveTo>
                <a:lnTo>
                  <a:pt x="133350" y="23813"/>
                </a:lnTo>
                <a:cubicBezTo>
                  <a:pt x="133350" y="10656"/>
                  <a:pt x="103495" y="0"/>
                  <a:pt x="66675" y="0"/>
                </a:cubicBezTo>
                <a:cubicBezTo>
                  <a:pt x="29855" y="0"/>
                  <a:pt x="0" y="10656"/>
                  <a:pt x="0" y="23813"/>
                </a:cubicBezTo>
                <a:lnTo>
                  <a:pt x="0" y="38100"/>
                </a:lnTo>
                <a:cubicBezTo>
                  <a:pt x="0" y="51256"/>
                  <a:pt x="29855" y="61912"/>
                  <a:pt x="66675" y="61912"/>
                </a:cubicBezTo>
                <a:cubicBezTo>
                  <a:pt x="103495" y="61912"/>
                  <a:pt x="133350" y="51256"/>
                  <a:pt x="133350" y="38100"/>
                </a:cubicBezTo>
                <a:close/>
                <a:moveTo>
                  <a:pt x="118616" y="116026"/>
                </a:moveTo>
                <a:cubicBezTo>
                  <a:pt x="104656" y="120997"/>
                  <a:pt x="86291" y="123825"/>
                  <a:pt x="66675" y="123825"/>
                </a:cubicBezTo>
                <a:cubicBezTo>
                  <a:pt x="47059" y="123825"/>
                  <a:pt x="28694" y="120997"/>
                  <a:pt x="14734" y="116026"/>
                </a:cubicBezTo>
                <a:cubicBezTo>
                  <a:pt x="9495" y="114151"/>
                  <a:pt x="4405" y="111800"/>
                  <a:pt x="0" y="108883"/>
                </a:cubicBezTo>
                <a:lnTo>
                  <a:pt x="0" y="128588"/>
                </a:lnTo>
                <a:cubicBezTo>
                  <a:pt x="0" y="141744"/>
                  <a:pt x="29855" y="152400"/>
                  <a:pt x="66675" y="152400"/>
                </a:cubicBezTo>
                <a:cubicBezTo>
                  <a:pt x="103495" y="152400"/>
                  <a:pt x="133350" y="141744"/>
                  <a:pt x="133350" y="128588"/>
                </a:cubicBezTo>
                <a:lnTo>
                  <a:pt x="133350" y="108883"/>
                </a:lnTo>
                <a:cubicBezTo>
                  <a:pt x="128945" y="111800"/>
                  <a:pt x="123885" y="114151"/>
                  <a:pt x="118616" y="11602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055191" y="3400425"/>
            <a:ext cx="237172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Use Heterogeneous Industrial Data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81050" y="4162425"/>
            <a:ext cx="2684115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Integrate sensor telemetry, maintenance logs, and operational context into unified analysis.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699494" y="3048000"/>
            <a:ext cx="3127995" cy="3429000"/>
          </a:xfrm>
          <a:custGeom>
            <a:avLst/>
            <a:gdLst/>
            <a:ahLst/>
            <a:cxnLst/>
            <a:rect l="l" t="t" r="r" b="b"/>
            <a:pathLst>
              <a:path w="3124200" h="3695700">
                <a:moveTo>
                  <a:pt x="38100" y="0"/>
                </a:moveTo>
                <a:lnTo>
                  <a:pt x="3009886" y="0"/>
                </a:lnTo>
                <a:cubicBezTo>
                  <a:pt x="3073020" y="0"/>
                  <a:pt x="3124200" y="51180"/>
                  <a:pt x="3124200" y="114314"/>
                </a:cubicBezTo>
                <a:lnTo>
                  <a:pt x="3124200" y="3581386"/>
                </a:lnTo>
                <a:cubicBezTo>
                  <a:pt x="3124200" y="3644520"/>
                  <a:pt x="3073020" y="3695700"/>
                  <a:pt x="3009886" y="3695700"/>
                </a:cubicBezTo>
                <a:lnTo>
                  <a:pt x="38100" y="3695700"/>
                </a:lnTo>
                <a:cubicBezTo>
                  <a:pt x="17072" y="3695700"/>
                  <a:pt x="0" y="3678628"/>
                  <a:pt x="0" y="3657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FAF5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691876" y="3048000"/>
            <a:ext cx="45719" cy="3429000"/>
          </a:xfrm>
          <a:custGeom>
            <a:avLst/>
            <a:gdLst/>
            <a:ahLst/>
            <a:cxnLst/>
            <a:rect l="l" t="t" r="r" b="b"/>
            <a:pathLst>
              <a:path w="38100" h="3695700">
                <a:moveTo>
                  <a:pt x="38100" y="0"/>
                </a:moveTo>
                <a:lnTo>
                  <a:pt x="38100" y="0"/>
                </a:lnTo>
                <a:lnTo>
                  <a:pt x="38100" y="3695700"/>
                </a:lnTo>
                <a:lnTo>
                  <a:pt x="38100" y="3695700"/>
                </a:lnTo>
                <a:cubicBezTo>
                  <a:pt x="17072" y="3695700"/>
                  <a:pt x="0" y="3678628"/>
                  <a:pt x="0" y="36576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889995" y="34671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Shape 16"/>
          <p:cNvSpPr/>
          <p:nvPr/>
        </p:nvSpPr>
        <p:spPr>
          <a:xfrm>
            <a:off x="4003923" y="3581400"/>
            <a:ext cx="152400" cy="152400"/>
          </a:xfrm>
          <a:custGeom>
            <a:avLst/>
            <a:gdLst/>
            <a:ahLst/>
            <a:cxnLst/>
            <a:rect l="l" t="t" r="r" b="b"/>
            <a:pathLst>
              <a:path w="152400" h="152400">
                <a:moveTo>
                  <a:pt x="152400" y="28575"/>
                </a:moveTo>
                <a:cubicBezTo>
                  <a:pt x="152400" y="43517"/>
                  <a:pt x="134809" y="65812"/>
                  <a:pt x="127218" y="74712"/>
                </a:cubicBezTo>
                <a:cubicBezTo>
                  <a:pt x="126087" y="76021"/>
                  <a:pt x="124420" y="76527"/>
                  <a:pt x="122902" y="76200"/>
                </a:cubicBezTo>
                <a:lnTo>
                  <a:pt x="95250" y="76200"/>
                </a:lnTo>
                <a:cubicBezTo>
                  <a:pt x="89981" y="76200"/>
                  <a:pt x="85725" y="80456"/>
                  <a:pt x="85725" y="85725"/>
                </a:cubicBezTo>
                <a:cubicBezTo>
                  <a:pt x="85725" y="90994"/>
                  <a:pt x="89981" y="95250"/>
                  <a:pt x="95250" y="95250"/>
                </a:cubicBezTo>
                <a:lnTo>
                  <a:pt x="123825" y="95250"/>
                </a:lnTo>
                <a:cubicBezTo>
                  <a:pt x="139601" y="95250"/>
                  <a:pt x="152400" y="108049"/>
                  <a:pt x="152400" y="123825"/>
                </a:cubicBezTo>
                <a:cubicBezTo>
                  <a:pt x="152400" y="139601"/>
                  <a:pt x="139601" y="152400"/>
                  <a:pt x="123825" y="152400"/>
                </a:cubicBezTo>
                <a:lnTo>
                  <a:pt x="41553" y="152400"/>
                </a:lnTo>
                <a:cubicBezTo>
                  <a:pt x="44142" y="149453"/>
                  <a:pt x="47298" y="145673"/>
                  <a:pt x="50483" y="141446"/>
                </a:cubicBezTo>
                <a:cubicBezTo>
                  <a:pt x="52358" y="138946"/>
                  <a:pt x="54293" y="136208"/>
                  <a:pt x="56138" y="133350"/>
                </a:cubicBezTo>
                <a:lnTo>
                  <a:pt x="123825" y="133350"/>
                </a:lnTo>
                <a:cubicBezTo>
                  <a:pt x="129094" y="133350"/>
                  <a:pt x="133350" y="129094"/>
                  <a:pt x="133350" y="123825"/>
                </a:cubicBezTo>
                <a:cubicBezTo>
                  <a:pt x="133350" y="118556"/>
                  <a:pt x="129094" y="114300"/>
                  <a:pt x="123825" y="114300"/>
                </a:cubicBezTo>
                <a:lnTo>
                  <a:pt x="95250" y="114300"/>
                </a:lnTo>
                <a:cubicBezTo>
                  <a:pt x="79474" y="114300"/>
                  <a:pt x="66675" y="101501"/>
                  <a:pt x="66675" y="85725"/>
                </a:cubicBezTo>
                <a:cubicBezTo>
                  <a:pt x="66675" y="69949"/>
                  <a:pt x="79474" y="57150"/>
                  <a:pt x="95250" y="57150"/>
                </a:cubicBezTo>
                <a:lnTo>
                  <a:pt x="107097" y="57150"/>
                </a:lnTo>
                <a:cubicBezTo>
                  <a:pt x="100846" y="47774"/>
                  <a:pt x="95250" y="36999"/>
                  <a:pt x="95250" y="28575"/>
                </a:cubicBezTo>
                <a:cubicBezTo>
                  <a:pt x="95250" y="12799"/>
                  <a:pt x="108049" y="0"/>
                  <a:pt x="123825" y="0"/>
                </a:cubicBezTo>
                <a:cubicBezTo>
                  <a:pt x="139601" y="0"/>
                  <a:pt x="152400" y="12799"/>
                  <a:pt x="152400" y="28575"/>
                </a:cubicBezTo>
                <a:close/>
                <a:moveTo>
                  <a:pt x="34856" y="145584"/>
                </a:moveTo>
                <a:cubicBezTo>
                  <a:pt x="33724" y="146864"/>
                  <a:pt x="32712" y="147995"/>
                  <a:pt x="31849" y="148947"/>
                </a:cubicBezTo>
                <a:lnTo>
                  <a:pt x="31313" y="149543"/>
                </a:lnTo>
                <a:lnTo>
                  <a:pt x="31254" y="149483"/>
                </a:lnTo>
                <a:cubicBezTo>
                  <a:pt x="29468" y="150852"/>
                  <a:pt x="26908" y="150674"/>
                  <a:pt x="25301" y="148947"/>
                </a:cubicBezTo>
                <a:cubicBezTo>
                  <a:pt x="17800" y="140791"/>
                  <a:pt x="0" y="119807"/>
                  <a:pt x="0" y="104775"/>
                </a:cubicBezTo>
                <a:cubicBezTo>
                  <a:pt x="0" y="88999"/>
                  <a:pt x="12799" y="76200"/>
                  <a:pt x="28575" y="76200"/>
                </a:cubicBezTo>
                <a:cubicBezTo>
                  <a:pt x="44351" y="76200"/>
                  <a:pt x="57150" y="88999"/>
                  <a:pt x="57150" y="104775"/>
                </a:cubicBezTo>
                <a:cubicBezTo>
                  <a:pt x="57150" y="113705"/>
                  <a:pt x="50869" y="124718"/>
                  <a:pt x="44202" y="133916"/>
                </a:cubicBezTo>
                <a:cubicBezTo>
                  <a:pt x="41017" y="138291"/>
                  <a:pt x="37743" y="142250"/>
                  <a:pt x="35034" y="145375"/>
                </a:cubicBezTo>
                <a:lnTo>
                  <a:pt x="34856" y="145584"/>
                </a:lnTo>
                <a:close/>
                <a:moveTo>
                  <a:pt x="38100" y="104775"/>
                </a:moveTo>
                <a:cubicBezTo>
                  <a:pt x="38100" y="99518"/>
                  <a:pt x="33832" y="95250"/>
                  <a:pt x="28575" y="95250"/>
                </a:cubicBezTo>
                <a:cubicBezTo>
                  <a:pt x="23318" y="95250"/>
                  <a:pt x="19050" y="99518"/>
                  <a:pt x="19050" y="104775"/>
                </a:cubicBezTo>
                <a:cubicBezTo>
                  <a:pt x="19050" y="110032"/>
                  <a:pt x="23318" y="114300"/>
                  <a:pt x="28575" y="114300"/>
                </a:cubicBezTo>
                <a:cubicBezTo>
                  <a:pt x="33832" y="114300"/>
                  <a:pt x="38100" y="110032"/>
                  <a:pt x="38100" y="104775"/>
                </a:cubicBezTo>
                <a:close/>
                <a:moveTo>
                  <a:pt x="123825" y="38100"/>
                </a:moveTo>
                <a:cubicBezTo>
                  <a:pt x="129082" y="38100"/>
                  <a:pt x="133350" y="33832"/>
                  <a:pt x="133350" y="28575"/>
                </a:cubicBezTo>
                <a:cubicBezTo>
                  <a:pt x="133350" y="23318"/>
                  <a:pt x="129082" y="19050"/>
                  <a:pt x="123825" y="19050"/>
                </a:cubicBezTo>
                <a:cubicBezTo>
                  <a:pt x="118568" y="19050"/>
                  <a:pt x="114300" y="23318"/>
                  <a:pt x="114300" y="28575"/>
                </a:cubicBezTo>
                <a:cubicBezTo>
                  <a:pt x="114300" y="33832"/>
                  <a:pt x="118568" y="38100"/>
                  <a:pt x="123825" y="3810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9" name="Text 17"/>
          <p:cNvSpPr/>
          <p:nvPr/>
        </p:nvSpPr>
        <p:spPr>
          <a:xfrm>
            <a:off x="4403675" y="3400425"/>
            <a:ext cx="2314575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Guide Maintenance Decisions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4080495" y="4162425"/>
            <a:ext cx="2684115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Move beyond status reporting to provide clear, prioritized action recommendations.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7056090" y="1257300"/>
            <a:ext cx="4752975" cy="4816929"/>
          </a:xfrm>
          <a:custGeom>
            <a:avLst/>
            <a:gdLst/>
            <a:ahLst/>
            <a:cxnLst/>
            <a:rect l="l" t="t" r="r" b="b"/>
            <a:pathLst>
              <a:path w="4752975" h="5219700">
                <a:moveTo>
                  <a:pt x="152380" y="0"/>
                </a:moveTo>
                <a:lnTo>
                  <a:pt x="4600595" y="0"/>
                </a:lnTo>
                <a:cubicBezTo>
                  <a:pt x="4684752" y="0"/>
                  <a:pt x="4752975" y="68223"/>
                  <a:pt x="4752975" y="152380"/>
                </a:cubicBezTo>
                <a:lnTo>
                  <a:pt x="4752975" y="5067320"/>
                </a:lnTo>
                <a:cubicBezTo>
                  <a:pt x="4752975" y="5151477"/>
                  <a:pt x="4684752" y="5219700"/>
                  <a:pt x="4600595" y="5219700"/>
                </a:cubicBezTo>
                <a:lnTo>
                  <a:pt x="152380" y="5219700"/>
                </a:lnTo>
                <a:cubicBezTo>
                  <a:pt x="68223" y="5219700"/>
                  <a:pt x="0" y="5151477"/>
                  <a:pt x="0" y="5067320"/>
                </a:cubicBezTo>
                <a:lnTo>
                  <a:pt x="0" y="152380"/>
                </a:lnTo>
                <a:cubicBezTo>
                  <a:pt x="0" y="68279"/>
                  <a:pt x="68279" y="0"/>
                  <a:pt x="152380" y="0"/>
                </a:cubicBezTo>
                <a:close/>
              </a:path>
            </a:pathLst>
          </a:custGeom>
          <a:solidFill>
            <a:srgbClr val="F9FA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284690" y="1524000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5953"/>
                </a:moveTo>
                <a:cubicBezTo>
                  <a:pt x="140419" y="5953"/>
                  <a:pt x="157758" y="23292"/>
                  <a:pt x="157758" y="44648"/>
                </a:cubicBezTo>
                <a:cubicBezTo>
                  <a:pt x="157758" y="66005"/>
                  <a:pt x="140419" y="83344"/>
                  <a:pt x="119063" y="83344"/>
                </a:cubicBezTo>
                <a:cubicBezTo>
                  <a:pt x="97706" y="83344"/>
                  <a:pt x="80367" y="66005"/>
                  <a:pt x="80367" y="44648"/>
                </a:cubicBezTo>
                <a:cubicBezTo>
                  <a:pt x="80367" y="23292"/>
                  <a:pt x="97706" y="5953"/>
                  <a:pt x="119063" y="5953"/>
                </a:cubicBezTo>
                <a:close/>
                <a:moveTo>
                  <a:pt x="35719" y="32742"/>
                </a:moveTo>
                <a:cubicBezTo>
                  <a:pt x="50504" y="32742"/>
                  <a:pt x="62508" y="44746"/>
                  <a:pt x="62508" y="59531"/>
                </a:cubicBezTo>
                <a:cubicBezTo>
                  <a:pt x="62508" y="74317"/>
                  <a:pt x="50504" y="86320"/>
                  <a:pt x="35719" y="86320"/>
                </a:cubicBezTo>
                <a:cubicBezTo>
                  <a:pt x="20933" y="86320"/>
                  <a:pt x="8930" y="74317"/>
                  <a:pt x="8930" y="59531"/>
                </a:cubicBezTo>
                <a:cubicBezTo>
                  <a:pt x="8930" y="44746"/>
                  <a:pt x="20933" y="32742"/>
                  <a:pt x="35719" y="32742"/>
                </a:cubicBezTo>
                <a:close/>
                <a:moveTo>
                  <a:pt x="0" y="154781"/>
                </a:moveTo>
                <a:cubicBezTo>
                  <a:pt x="0" y="128476"/>
                  <a:pt x="21320" y="107156"/>
                  <a:pt x="47625" y="107156"/>
                </a:cubicBezTo>
                <a:cubicBezTo>
                  <a:pt x="52388" y="107156"/>
                  <a:pt x="57001" y="107863"/>
                  <a:pt x="61354" y="109165"/>
                </a:cubicBezTo>
                <a:cubicBezTo>
                  <a:pt x="49113" y="122858"/>
                  <a:pt x="41672" y="140940"/>
                  <a:pt x="41672" y="160734"/>
                </a:cubicBezTo>
                <a:lnTo>
                  <a:pt x="41672" y="166688"/>
                </a:lnTo>
                <a:cubicBezTo>
                  <a:pt x="41672" y="170929"/>
                  <a:pt x="42565" y="174947"/>
                  <a:pt x="44165" y="178594"/>
                </a:cubicBezTo>
                <a:lnTo>
                  <a:pt x="11906" y="178594"/>
                </a:lnTo>
                <a:cubicBezTo>
                  <a:pt x="5321" y="178594"/>
                  <a:pt x="0" y="173273"/>
                  <a:pt x="0" y="166688"/>
                </a:cubicBezTo>
                <a:lnTo>
                  <a:pt x="0" y="154781"/>
                </a:lnTo>
                <a:close/>
                <a:moveTo>
                  <a:pt x="193960" y="178594"/>
                </a:moveTo>
                <a:cubicBezTo>
                  <a:pt x="195560" y="174947"/>
                  <a:pt x="196453" y="170929"/>
                  <a:pt x="196453" y="166688"/>
                </a:cubicBezTo>
                <a:lnTo>
                  <a:pt x="196453" y="160734"/>
                </a:lnTo>
                <a:cubicBezTo>
                  <a:pt x="196453" y="140940"/>
                  <a:pt x="189012" y="122858"/>
                  <a:pt x="176771" y="109165"/>
                </a:cubicBezTo>
                <a:cubicBezTo>
                  <a:pt x="181124" y="107863"/>
                  <a:pt x="185738" y="107156"/>
                  <a:pt x="190500" y="107156"/>
                </a:cubicBezTo>
                <a:cubicBezTo>
                  <a:pt x="216805" y="107156"/>
                  <a:pt x="238125" y="128476"/>
                  <a:pt x="238125" y="154781"/>
                </a:cubicBezTo>
                <a:lnTo>
                  <a:pt x="238125" y="166688"/>
                </a:lnTo>
                <a:cubicBezTo>
                  <a:pt x="238125" y="173273"/>
                  <a:pt x="232804" y="178594"/>
                  <a:pt x="226219" y="178594"/>
                </a:cubicBezTo>
                <a:lnTo>
                  <a:pt x="193960" y="178594"/>
                </a:lnTo>
                <a:close/>
                <a:moveTo>
                  <a:pt x="175617" y="59531"/>
                </a:moveTo>
                <a:cubicBezTo>
                  <a:pt x="175617" y="44746"/>
                  <a:pt x="187621" y="32742"/>
                  <a:pt x="202406" y="32742"/>
                </a:cubicBezTo>
                <a:cubicBezTo>
                  <a:pt x="217192" y="32742"/>
                  <a:pt x="229195" y="44746"/>
                  <a:pt x="229195" y="59531"/>
                </a:cubicBezTo>
                <a:cubicBezTo>
                  <a:pt x="229195" y="74317"/>
                  <a:pt x="217192" y="86320"/>
                  <a:pt x="202406" y="86320"/>
                </a:cubicBezTo>
                <a:cubicBezTo>
                  <a:pt x="187621" y="86320"/>
                  <a:pt x="175617" y="74317"/>
                  <a:pt x="175617" y="59531"/>
                </a:cubicBezTo>
                <a:close/>
                <a:moveTo>
                  <a:pt x="59531" y="160734"/>
                </a:moveTo>
                <a:cubicBezTo>
                  <a:pt x="59531" y="127843"/>
                  <a:pt x="86171" y="101203"/>
                  <a:pt x="119063" y="101203"/>
                </a:cubicBezTo>
                <a:cubicBezTo>
                  <a:pt x="151954" y="101203"/>
                  <a:pt x="178594" y="127843"/>
                  <a:pt x="178594" y="160734"/>
                </a:cubicBezTo>
                <a:lnTo>
                  <a:pt x="178594" y="166688"/>
                </a:lnTo>
                <a:cubicBezTo>
                  <a:pt x="178594" y="173273"/>
                  <a:pt x="173273" y="178594"/>
                  <a:pt x="166688" y="178594"/>
                </a:cubicBezTo>
                <a:lnTo>
                  <a:pt x="71438" y="178594"/>
                </a:lnTo>
                <a:cubicBezTo>
                  <a:pt x="64852" y="178594"/>
                  <a:pt x="59531" y="173273"/>
                  <a:pt x="59531" y="166688"/>
                </a:cubicBezTo>
                <a:lnTo>
                  <a:pt x="59531" y="160734"/>
                </a:ln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3" name="Text 21"/>
          <p:cNvSpPr/>
          <p:nvPr/>
        </p:nvSpPr>
        <p:spPr>
          <a:xfrm>
            <a:off x="7608539" y="1485900"/>
            <a:ext cx="40671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Target Users</a:t>
            </a: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7284690" y="1943100"/>
            <a:ext cx="4295775" cy="952500"/>
          </a:xfrm>
          <a:custGeom>
            <a:avLst/>
            <a:gdLst/>
            <a:ahLst/>
            <a:cxnLst/>
            <a:rect l="l" t="t" r="r" b="b"/>
            <a:pathLst>
              <a:path w="4295775" h="952500">
                <a:moveTo>
                  <a:pt x="114300" y="0"/>
                </a:moveTo>
                <a:lnTo>
                  <a:pt x="4181475" y="0"/>
                </a:lnTo>
                <a:cubicBezTo>
                  <a:pt x="4244559" y="0"/>
                  <a:pt x="4295775" y="51216"/>
                  <a:pt x="4295775" y="114300"/>
                </a:cubicBezTo>
                <a:lnTo>
                  <a:pt x="4295775" y="838200"/>
                </a:lnTo>
                <a:cubicBezTo>
                  <a:pt x="4295775" y="901284"/>
                  <a:pt x="4244559" y="952500"/>
                  <a:pt x="418147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5" name="Shape 23"/>
          <p:cNvSpPr/>
          <p:nvPr/>
        </p:nvSpPr>
        <p:spPr>
          <a:xfrm>
            <a:off x="7437090" y="20955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C1D40">
              <a:alpha val="10196"/>
            </a:srgb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6" name="Shape 24"/>
          <p:cNvSpPr/>
          <p:nvPr/>
        </p:nvSpPr>
        <p:spPr>
          <a:xfrm>
            <a:off x="7560915" y="22098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66675" y="73819"/>
                </a:moveTo>
                <a:cubicBezTo>
                  <a:pt x="46961" y="73819"/>
                  <a:pt x="30956" y="57814"/>
                  <a:pt x="30956" y="38100"/>
                </a:cubicBezTo>
                <a:cubicBezTo>
                  <a:pt x="30956" y="18386"/>
                  <a:pt x="46961" y="2381"/>
                  <a:pt x="66675" y="2381"/>
                </a:cubicBezTo>
                <a:cubicBezTo>
                  <a:pt x="86389" y="2381"/>
                  <a:pt x="102394" y="18386"/>
                  <a:pt x="102394" y="38100"/>
                </a:cubicBezTo>
                <a:cubicBezTo>
                  <a:pt x="102394" y="57814"/>
                  <a:pt x="86389" y="73819"/>
                  <a:pt x="66675" y="73819"/>
                </a:cubicBezTo>
                <a:close/>
                <a:moveTo>
                  <a:pt x="57596" y="90488"/>
                </a:moveTo>
                <a:lnTo>
                  <a:pt x="75754" y="90488"/>
                </a:lnTo>
                <a:cubicBezTo>
                  <a:pt x="78641" y="90488"/>
                  <a:pt x="80962" y="92809"/>
                  <a:pt x="80962" y="95696"/>
                </a:cubicBezTo>
                <a:cubicBezTo>
                  <a:pt x="80962" y="96947"/>
                  <a:pt x="80516" y="98137"/>
                  <a:pt x="79712" y="99090"/>
                </a:cubicBezTo>
                <a:lnTo>
                  <a:pt x="71557" y="108615"/>
                </a:lnTo>
                <a:lnTo>
                  <a:pt x="80784" y="142875"/>
                </a:lnTo>
                <a:lnTo>
                  <a:pt x="80962" y="142875"/>
                </a:lnTo>
                <a:lnTo>
                  <a:pt x="91261" y="101650"/>
                </a:lnTo>
                <a:cubicBezTo>
                  <a:pt x="91916" y="99060"/>
                  <a:pt x="94565" y="97482"/>
                  <a:pt x="97066" y="98435"/>
                </a:cubicBezTo>
                <a:cubicBezTo>
                  <a:pt x="115491" y="105460"/>
                  <a:pt x="128588" y="123319"/>
                  <a:pt x="128588" y="144214"/>
                </a:cubicBezTo>
                <a:cubicBezTo>
                  <a:pt x="128588" y="148709"/>
                  <a:pt x="124926" y="152370"/>
                  <a:pt x="120432" y="152370"/>
                </a:cubicBezTo>
                <a:lnTo>
                  <a:pt x="12918" y="152400"/>
                </a:lnTo>
                <a:cubicBezTo>
                  <a:pt x="8424" y="152400"/>
                  <a:pt x="4763" y="148739"/>
                  <a:pt x="4763" y="144244"/>
                </a:cubicBezTo>
                <a:cubicBezTo>
                  <a:pt x="4763" y="123349"/>
                  <a:pt x="17859" y="105489"/>
                  <a:pt x="36284" y="98465"/>
                </a:cubicBezTo>
                <a:cubicBezTo>
                  <a:pt x="38785" y="97512"/>
                  <a:pt x="41434" y="99090"/>
                  <a:pt x="42089" y="101679"/>
                </a:cubicBezTo>
                <a:lnTo>
                  <a:pt x="52388" y="142905"/>
                </a:lnTo>
                <a:lnTo>
                  <a:pt x="52566" y="142905"/>
                </a:lnTo>
                <a:lnTo>
                  <a:pt x="61793" y="108645"/>
                </a:lnTo>
                <a:lnTo>
                  <a:pt x="53638" y="99120"/>
                </a:lnTo>
                <a:cubicBezTo>
                  <a:pt x="52834" y="98167"/>
                  <a:pt x="52388" y="96976"/>
                  <a:pt x="52388" y="95726"/>
                </a:cubicBezTo>
                <a:cubicBezTo>
                  <a:pt x="52388" y="92839"/>
                  <a:pt x="54709" y="90517"/>
                  <a:pt x="57596" y="90517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7" name="Text 25"/>
          <p:cNvSpPr/>
          <p:nvPr/>
        </p:nvSpPr>
        <p:spPr>
          <a:xfrm>
            <a:off x="7932390" y="2171700"/>
            <a:ext cx="165542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Plant Operators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7437090" y="2552700"/>
            <a:ext cx="405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Monitor equipment health and receive actionable alerts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7284690" y="3048000"/>
            <a:ext cx="4295775" cy="952500"/>
          </a:xfrm>
          <a:custGeom>
            <a:avLst/>
            <a:gdLst/>
            <a:ahLst/>
            <a:cxnLst/>
            <a:rect l="l" t="t" r="r" b="b"/>
            <a:pathLst>
              <a:path w="4295775" h="952500">
                <a:moveTo>
                  <a:pt x="114300" y="0"/>
                </a:moveTo>
                <a:lnTo>
                  <a:pt x="4181475" y="0"/>
                </a:lnTo>
                <a:cubicBezTo>
                  <a:pt x="4244559" y="0"/>
                  <a:pt x="4295775" y="51216"/>
                  <a:pt x="4295775" y="114300"/>
                </a:cubicBezTo>
                <a:lnTo>
                  <a:pt x="4295775" y="838200"/>
                </a:lnTo>
                <a:cubicBezTo>
                  <a:pt x="4295775" y="901284"/>
                  <a:pt x="4244559" y="952500"/>
                  <a:pt x="418147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30" name="Shape 28"/>
          <p:cNvSpPr/>
          <p:nvPr/>
        </p:nvSpPr>
        <p:spPr>
          <a:xfrm>
            <a:off x="7437090" y="32004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C1D40">
              <a:alpha val="10196"/>
            </a:srgb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1" name="Shape 29"/>
          <p:cNvSpPr/>
          <p:nvPr/>
        </p:nvSpPr>
        <p:spPr>
          <a:xfrm>
            <a:off x="7541865" y="3314700"/>
            <a:ext cx="171450" cy="152400"/>
          </a:xfrm>
          <a:custGeom>
            <a:avLst/>
            <a:gdLst/>
            <a:ahLst/>
            <a:cxnLst/>
            <a:rect l="l" t="t" r="r" b="b"/>
            <a:pathLst>
              <a:path w="171450" h="152400">
                <a:moveTo>
                  <a:pt x="104775" y="78581"/>
                </a:moveTo>
                <a:lnTo>
                  <a:pt x="104775" y="19050"/>
                </a:lnTo>
                <a:cubicBezTo>
                  <a:pt x="104775" y="13781"/>
                  <a:pt x="100519" y="9525"/>
                  <a:pt x="95250" y="9525"/>
                </a:cubicBezTo>
                <a:lnTo>
                  <a:pt x="76200" y="9525"/>
                </a:lnTo>
                <a:cubicBezTo>
                  <a:pt x="70931" y="9525"/>
                  <a:pt x="66675" y="13781"/>
                  <a:pt x="66675" y="19050"/>
                </a:cubicBezTo>
                <a:lnTo>
                  <a:pt x="66675" y="78581"/>
                </a:lnTo>
                <a:cubicBezTo>
                  <a:pt x="66675" y="82540"/>
                  <a:pt x="63490" y="85725"/>
                  <a:pt x="59531" y="85725"/>
                </a:cubicBezTo>
                <a:cubicBezTo>
                  <a:pt x="55572" y="85725"/>
                  <a:pt x="52388" y="82540"/>
                  <a:pt x="52388" y="78581"/>
                </a:cubicBezTo>
                <a:lnTo>
                  <a:pt x="52388" y="23247"/>
                </a:lnTo>
                <a:cubicBezTo>
                  <a:pt x="26789" y="32683"/>
                  <a:pt x="9525" y="57090"/>
                  <a:pt x="9525" y="85725"/>
                </a:cubicBezTo>
                <a:lnTo>
                  <a:pt x="9525" y="104775"/>
                </a:lnTo>
                <a:lnTo>
                  <a:pt x="161925" y="104775"/>
                </a:lnTo>
                <a:lnTo>
                  <a:pt x="161925" y="85725"/>
                </a:lnTo>
                <a:cubicBezTo>
                  <a:pt x="161627" y="57388"/>
                  <a:pt x="144542" y="32831"/>
                  <a:pt x="119062" y="23277"/>
                </a:cubicBezTo>
                <a:lnTo>
                  <a:pt x="119062" y="78581"/>
                </a:lnTo>
                <a:cubicBezTo>
                  <a:pt x="119062" y="82540"/>
                  <a:pt x="115878" y="85725"/>
                  <a:pt x="111919" y="85725"/>
                </a:cubicBezTo>
                <a:cubicBezTo>
                  <a:pt x="107960" y="85725"/>
                  <a:pt x="104775" y="82540"/>
                  <a:pt x="104775" y="78581"/>
                </a:cubicBezTo>
                <a:close/>
                <a:moveTo>
                  <a:pt x="11906" y="119062"/>
                </a:moveTo>
                <a:cubicBezTo>
                  <a:pt x="5328" y="119062"/>
                  <a:pt x="0" y="124391"/>
                  <a:pt x="0" y="130969"/>
                </a:cubicBezTo>
                <a:cubicBezTo>
                  <a:pt x="0" y="137547"/>
                  <a:pt x="5328" y="142875"/>
                  <a:pt x="11906" y="142875"/>
                </a:cubicBezTo>
                <a:lnTo>
                  <a:pt x="159544" y="142875"/>
                </a:lnTo>
                <a:cubicBezTo>
                  <a:pt x="166122" y="142875"/>
                  <a:pt x="171450" y="137547"/>
                  <a:pt x="171450" y="130969"/>
                </a:cubicBezTo>
                <a:cubicBezTo>
                  <a:pt x="171450" y="124391"/>
                  <a:pt x="166122" y="119062"/>
                  <a:pt x="159544" y="119062"/>
                </a:cubicBezTo>
                <a:lnTo>
                  <a:pt x="11906" y="119062"/>
                </a:ln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2" name="Text 30"/>
          <p:cNvSpPr/>
          <p:nvPr/>
        </p:nvSpPr>
        <p:spPr>
          <a:xfrm>
            <a:off x="7932389" y="3276600"/>
            <a:ext cx="210435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Reliability Engineers</a:t>
            </a: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7437090" y="3657600"/>
            <a:ext cx="405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Analyze failure patterns and optimize maintenance strategies</a:t>
            </a: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7284690" y="4152900"/>
            <a:ext cx="4295775" cy="952500"/>
          </a:xfrm>
          <a:custGeom>
            <a:avLst/>
            <a:gdLst/>
            <a:ahLst/>
            <a:cxnLst/>
            <a:rect l="l" t="t" r="r" b="b"/>
            <a:pathLst>
              <a:path w="4295775" h="952500">
                <a:moveTo>
                  <a:pt x="114300" y="0"/>
                </a:moveTo>
                <a:lnTo>
                  <a:pt x="4181475" y="0"/>
                </a:lnTo>
                <a:cubicBezTo>
                  <a:pt x="4244559" y="0"/>
                  <a:pt x="4295775" y="51216"/>
                  <a:pt x="4295775" y="114300"/>
                </a:cubicBezTo>
                <a:lnTo>
                  <a:pt x="4295775" y="838200"/>
                </a:lnTo>
                <a:cubicBezTo>
                  <a:pt x="4295775" y="901284"/>
                  <a:pt x="4244559" y="952500"/>
                  <a:pt x="4181475" y="952500"/>
                </a:cubicBezTo>
                <a:lnTo>
                  <a:pt x="114300" y="952500"/>
                </a:lnTo>
                <a:cubicBezTo>
                  <a:pt x="51216" y="952500"/>
                  <a:pt x="0" y="901284"/>
                  <a:pt x="0" y="8382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35" name="Shape 33"/>
          <p:cNvSpPr/>
          <p:nvPr/>
        </p:nvSpPr>
        <p:spPr>
          <a:xfrm>
            <a:off x="7437090" y="4305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C1D40">
              <a:alpha val="10196"/>
            </a:srgbClr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6" name="Shape 34"/>
          <p:cNvSpPr/>
          <p:nvPr/>
        </p:nvSpPr>
        <p:spPr>
          <a:xfrm>
            <a:off x="7560915" y="4419600"/>
            <a:ext cx="133350" cy="152400"/>
          </a:xfrm>
          <a:custGeom>
            <a:avLst/>
            <a:gdLst/>
            <a:ahLst/>
            <a:cxnLst/>
            <a:rect l="l" t="t" r="r" b="b"/>
            <a:pathLst>
              <a:path w="133350" h="152400">
                <a:moveTo>
                  <a:pt x="38100" y="0"/>
                </a:moveTo>
                <a:cubicBezTo>
                  <a:pt x="43369" y="0"/>
                  <a:pt x="47625" y="4256"/>
                  <a:pt x="47625" y="9525"/>
                </a:cubicBezTo>
                <a:lnTo>
                  <a:pt x="47625" y="19050"/>
                </a:lnTo>
                <a:lnTo>
                  <a:pt x="85725" y="19050"/>
                </a:lnTo>
                <a:lnTo>
                  <a:pt x="85725" y="9525"/>
                </a:lnTo>
                <a:cubicBezTo>
                  <a:pt x="85725" y="4256"/>
                  <a:pt x="89981" y="0"/>
                  <a:pt x="95250" y="0"/>
                </a:cubicBezTo>
                <a:cubicBezTo>
                  <a:pt x="100519" y="0"/>
                  <a:pt x="104775" y="4256"/>
                  <a:pt x="104775" y="9525"/>
                </a:cubicBezTo>
                <a:lnTo>
                  <a:pt x="104775" y="19050"/>
                </a:lnTo>
                <a:lnTo>
                  <a:pt x="114300" y="19050"/>
                </a:lnTo>
                <a:cubicBezTo>
                  <a:pt x="124807" y="19050"/>
                  <a:pt x="133350" y="27593"/>
                  <a:pt x="133350" y="38100"/>
                </a:cubicBezTo>
                <a:lnTo>
                  <a:pt x="133350" y="123825"/>
                </a:lnTo>
                <a:cubicBezTo>
                  <a:pt x="133350" y="134332"/>
                  <a:pt x="124807" y="142875"/>
                  <a:pt x="114300" y="142875"/>
                </a:cubicBezTo>
                <a:lnTo>
                  <a:pt x="19050" y="142875"/>
                </a:lnTo>
                <a:cubicBezTo>
                  <a:pt x="8543" y="142875"/>
                  <a:pt x="0" y="134332"/>
                  <a:pt x="0" y="123825"/>
                </a:cubicBezTo>
                <a:lnTo>
                  <a:pt x="0" y="38100"/>
                </a:lnTo>
                <a:cubicBezTo>
                  <a:pt x="0" y="27593"/>
                  <a:pt x="8543" y="19050"/>
                  <a:pt x="19050" y="19050"/>
                </a:cubicBezTo>
                <a:lnTo>
                  <a:pt x="28575" y="19050"/>
                </a:lnTo>
                <a:lnTo>
                  <a:pt x="28575" y="9525"/>
                </a:lnTo>
                <a:cubicBezTo>
                  <a:pt x="28575" y="4256"/>
                  <a:pt x="32831" y="0"/>
                  <a:pt x="38100" y="0"/>
                </a:cubicBezTo>
                <a:close/>
                <a:moveTo>
                  <a:pt x="19050" y="71438"/>
                </a:moveTo>
                <a:lnTo>
                  <a:pt x="19050" y="80962"/>
                </a:lnTo>
                <a:cubicBezTo>
                  <a:pt x="19050" y="83582"/>
                  <a:pt x="21193" y="85725"/>
                  <a:pt x="23813" y="85725"/>
                </a:cubicBezTo>
                <a:lnTo>
                  <a:pt x="33338" y="85725"/>
                </a:lnTo>
                <a:cubicBezTo>
                  <a:pt x="35957" y="85725"/>
                  <a:pt x="38100" y="83582"/>
                  <a:pt x="38100" y="80962"/>
                </a:cubicBezTo>
                <a:lnTo>
                  <a:pt x="38100" y="71438"/>
                </a:lnTo>
                <a:cubicBezTo>
                  <a:pt x="38100" y="68818"/>
                  <a:pt x="35957" y="66675"/>
                  <a:pt x="33338" y="66675"/>
                </a:cubicBezTo>
                <a:lnTo>
                  <a:pt x="23813" y="66675"/>
                </a:lnTo>
                <a:cubicBezTo>
                  <a:pt x="21193" y="66675"/>
                  <a:pt x="19050" y="68818"/>
                  <a:pt x="19050" y="71438"/>
                </a:cubicBezTo>
                <a:close/>
                <a:moveTo>
                  <a:pt x="57150" y="71438"/>
                </a:moveTo>
                <a:lnTo>
                  <a:pt x="57150" y="80962"/>
                </a:lnTo>
                <a:cubicBezTo>
                  <a:pt x="57150" y="83582"/>
                  <a:pt x="59293" y="85725"/>
                  <a:pt x="61912" y="85725"/>
                </a:cubicBezTo>
                <a:lnTo>
                  <a:pt x="71438" y="85725"/>
                </a:lnTo>
                <a:cubicBezTo>
                  <a:pt x="74057" y="85725"/>
                  <a:pt x="76200" y="83582"/>
                  <a:pt x="76200" y="80962"/>
                </a:cubicBezTo>
                <a:lnTo>
                  <a:pt x="76200" y="71438"/>
                </a:lnTo>
                <a:cubicBezTo>
                  <a:pt x="76200" y="68818"/>
                  <a:pt x="74057" y="66675"/>
                  <a:pt x="71438" y="66675"/>
                </a:cubicBezTo>
                <a:lnTo>
                  <a:pt x="61912" y="66675"/>
                </a:lnTo>
                <a:cubicBezTo>
                  <a:pt x="59293" y="66675"/>
                  <a:pt x="57150" y="68818"/>
                  <a:pt x="57150" y="71438"/>
                </a:cubicBezTo>
                <a:close/>
                <a:moveTo>
                  <a:pt x="100013" y="66675"/>
                </a:moveTo>
                <a:cubicBezTo>
                  <a:pt x="97393" y="66675"/>
                  <a:pt x="95250" y="68818"/>
                  <a:pt x="95250" y="71438"/>
                </a:cubicBezTo>
                <a:lnTo>
                  <a:pt x="95250" y="80962"/>
                </a:lnTo>
                <a:cubicBezTo>
                  <a:pt x="95250" y="83582"/>
                  <a:pt x="97393" y="85725"/>
                  <a:pt x="100013" y="85725"/>
                </a:cubicBezTo>
                <a:lnTo>
                  <a:pt x="109537" y="85725"/>
                </a:lnTo>
                <a:cubicBezTo>
                  <a:pt x="112157" y="85725"/>
                  <a:pt x="114300" y="83582"/>
                  <a:pt x="114300" y="80962"/>
                </a:cubicBezTo>
                <a:lnTo>
                  <a:pt x="114300" y="71438"/>
                </a:lnTo>
                <a:cubicBezTo>
                  <a:pt x="114300" y="68818"/>
                  <a:pt x="112157" y="66675"/>
                  <a:pt x="109537" y="66675"/>
                </a:cubicBezTo>
                <a:lnTo>
                  <a:pt x="100013" y="66675"/>
                </a:lnTo>
                <a:close/>
                <a:moveTo>
                  <a:pt x="19050" y="109537"/>
                </a:moveTo>
                <a:lnTo>
                  <a:pt x="19050" y="119062"/>
                </a:lnTo>
                <a:cubicBezTo>
                  <a:pt x="19050" y="121682"/>
                  <a:pt x="21193" y="123825"/>
                  <a:pt x="23813" y="123825"/>
                </a:cubicBezTo>
                <a:lnTo>
                  <a:pt x="33338" y="123825"/>
                </a:lnTo>
                <a:cubicBezTo>
                  <a:pt x="35957" y="123825"/>
                  <a:pt x="38100" y="121682"/>
                  <a:pt x="38100" y="119062"/>
                </a:cubicBezTo>
                <a:lnTo>
                  <a:pt x="38100" y="109537"/>
                </a:lnTo>
                <a:cubicBezTo>
                  <a:pt x="38100" y="106918"/>
                  <a:pt x="35957" y="104775"/>
                  <a:pt x="33338" y="104775"/>
                </a:cubicBezTo>
                <a:lnTo>
                  <a:pt x="23813" y="104775"/>
                </a:lnTo>
                <a:cubicBezTo>
                  <a:pt x="21193" y="104775"/>
                  <a:pt x="19050" y="106918"/>
                  <a:pt x="19050" y="109537"/>
                </a:cubicBezTo>
                <a:close/>
                <a:moveTo>
                  <a:pt x="61912" y="104775"/>
                </a:moveTo>
                <a:cubicBezTo>
                  <a:pt x="59293" y="104775"/>
                  <a:pt x="57150" y="106918"/>
                  <a:pt x="57150" y="109537"/>
                </a:cubicBezTo>
                <a:lnTo>
                  <a:pt x="57150" y="119062"/>
                </a:lnTo>
                <a:cubicBezTo>
                  <a:pt x="57150" y="121682"/>
                  <a:pt x="59293" y="123825"/>
                  <a:pt x="61912" y="123825"/>
                </a:cubicBezTo>
                <a:lnTo>
                  <a:pt x="71438" y="123825"/>
                </a:lnTo>
                <a:cubicBezTo>
                  <a:pt x="74057" y="123825"/>
                  <a:pt x="76200" y="121682"/>
                  <a:pt x="76200" y="119062"/>
                </a:cubicBezTo>
                <a:lnTo>
                  <a:pt x="76200" y="109537"/>
                </a:lnTo>
                <a:cubicBezTo>
                  <a:pt x="76200" y="106918"/>
                  <a:pt x="74057" y="104775"/>
                  <a:pt x="71438" y="104775"/>
                </a:cubicBezTo>
                <a:lnTo>
                  <a:pt x="61912" y="104775"/>
                </a:lnTo>
                <a:close/>
                <a:moveTo>
                  <a:pt x="95250" y="109537"/>
                </a:moveTo>
                <a:lnTo>
                  <a:pt x="95250" y="119062"/>
                </a:lnTo>
                <a:cubicBezTo>
                  <a:pt x="95250" y="121682"/>
                  <a:pt x="97393" y="123825"/>
                  <a:pt x="100013" y="123825"/>
                </a:cubicBezTo>
                <a:lnTo>
                  <a:pt x="109537" y="123825"/>
                </a:lnTo>
                <a:cubicBezTo>
                  <a:pt x="112157" y="123825"/>
                  <a:pt x="114300" y="121682"/>
                  <a:pt x="114300" y="119062"/>
                </a:cubicBezTo>
                <a:lnTo>
                  <a:pt x="114300" y="109537"/>
                </a:lnTo>
                <a:cubicBezTo>
                  <a:pt x="114300" y="106918"/>
                  <a:pt x="112157" y="104775"/>
                  <a:pt x="109537" y="104775"/>
                </a:cubicBezTo>
                <a:lnTo>
                  <a:pt x="100013" y="104775"/>
                </a:lnTo>
                <a:cubicBezTo>
                  <a:pt x="97393" y="104775"/>
                  <a:pt x="95250" y="106918"/>
                  <a:pt x="95250" y="109537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7" name="Text 35"/>
          <p:cNvSpPr/>
          <p:nvPr/>
        </p:nvSpPr>
        <p:spPr>
          <a:xfrm>
            <a:off x="7932389" y="4381500"/>
            <a:ext cx="230076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Planners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437090" y="4762500"/>
            <a:ext cx="40576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 crews and allocate resources efficiently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C1D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Sources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Heterogeneous data integration from multiple industrial streams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400050" y="1562100"/>
            <a:ext cx="5581650" cy="1600200"/>
          </a:xfrm>
          <a:custGeom>
            <a:avLst/>
            <a:gdLst/>
            <a:ahLst/>
            <a:cxnLst/>
            <a:rect l="l" t="t" r="r" b="b"/>
            <a:pathLst>
              <a:path w="5581650" h="1600200">
                <a:moveTo>
                  <a:pt x="38100" y="0"/>
                </a:moveTo>
                <a:lnTo>
                  <a:pt x="5467348" y="0"/>
                </a:lnTo>
                <a:cubicBezTo>
                  <a:pt x="5530433" y="0"/>
                  <a:pt x="5581650" y="51217"/>
                  <a:pt x="5581650" y="114302"/>
                </a:cubicBezTo>
                <a:lnTo>
                  <a:pt x="5581650" y="1485898"/>
                </a:lnTo>
                <a:cubicBezTo>
                  <a:pt x="5581650" y="1548983"/>
                  <a:pt x="5530433" y="1600200"/>
                  <a:pt x="54673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DBEAFE">
                  <a:alpha val="5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400050" y="15621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155DFC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Shape 5"/>
          <p:cNvSpPr/>
          <p:nvPr/>
        </p:nvSpPr>
        <p:spPr>
          <a:xfrm>
            <a:off x="6096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155DFC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8" name="Shape 6"/>
          <p:cNvSpPr/>
          <p:nvPr/>
        </p:nvSpPr>
        <p:spPr>
          <a:xfrm>
            <a:off x="804863" y="1905000"/>
            <a:ext cx="142875" cy="228600"/>
          </a:xfrm>
          <a:custGeom>
            <a:avLst/>
            <a:gdLst/>
            <a:ahLst/>
            <a:cxnLst/>
            <a:rect l="l" t="t" r="r" b="b"/>
            <a:pathLst>
              <a:path w="142875" h="228600">
                <a:moveTo>
                  <a:pt x="71438" y="0"/>
                </a:moveTo>
                <a:cubicBezTo>
                  <a:pt x="47774" y="0"/>
                  <a:pt x="28575" y="19199"/>
                  <a:pt x="28575" y="42863"/>
                </a:cubicBezTo>
                <a:lnTo>
                  <a:pt x="28575" y="116398"/>
                </a:lnTo>
                <a:cubicBezTo>
                  <a:pt x="15404" y="128141"/>
                  <a:pt x="7144" y="145286"/>
                  <a:pt x="7144" y="164306"/>
                </a:cubicBezTo>
                <a:cubicBezTo>
                  <a:pt x="7144" y="199802"/>
                  <a:pt x="35942" y="228600"/>
                  <a:pt x="71438" y="228600"/>
                </a:cubicBezTo>
                <a:cubicBezTo>
                  <a:pt x="106933" y="228600"/>
                  <a:pt x="135731" y="199802"/>
                  <a:pt x="135731" y="164306"/>
                </a:cubicBezTo>
                <a:cubicBezTo>
                  <a:pt x="135731" y="145286"/>
                  <a:pt x="127471" y="128141"/>
                  <a:pt x="114300" y="116398"/>
                </a:cubicBezTo>
                <a:lnTo>
                  <a:pt x="114300" y="42863"/>
                </a:lnTo>
                <a:cubicBezTo>
                  <a:pt x="114300" y="19199"/>
                  <a:pt x="95101" y="0"/>
                  <a:pt x="71438" y="0"/>
                </a:cubicBezTo>
                <a:close/>
                <a:moveTo>
                  <a:pt x="100013" y="164306"/>
                </a:moveTo>
                <a:cubicBezTo>
                  <a:pt x="100013" y="180067"/>
                  <a:pt x="87198" y="192881"/>
                  <a:pt x="71438" y="192881"/>
                </a:cubicBezTo>
                <a:cubicBezTo>
                  <a:pt x="55677" y="192881"/>
                  <a:pt x="42863" y="180067"/>
                  <a:pt x="42863" y="164306"/>
                </a:cubicBezTo>
                <a:cubicBezTo>
                  <a:pt x="42863" y="152296"/>
                  <a:pt x="50229" y="142027"/>
                  <a:pt x="60722" y="137830"/>
                </a:cubicBezTo>
                <a:lnTo>
                  <a:pt x="60722" y="96441"/>
                </a:lnTo>
                <a:cubicBezTo>
                  <a:pt x="60722" y="90502"/>
                  <a:pt x="65499" y="85725"/>
                  <a:pt x="71438" y="85725"/>
                </a:cubicBezTo>
                <a:cubicBezTo>
                  <a:pt x="77376" y="85725"/>
                  <a:pt x="82153" y="90502"/>
                  <a:pt x="82153" y="96441"/>
                </a:cubicBezTo>
                <a:lnTo>
                  <a:pt x="82153" y="137830"/>
                </a:lnTo>
                <a:cubicBezTo>
                  <a:pt x="92646" y="142071"/>
                  <a:pt x="100013" y="152340"/>
                  <a:pt x="100013" y="164306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1295400" y="17526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 Telemetry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95400" y="20955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Real-time machine condition monitoring through multiple sensor types.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1295400" y="2705100"/>
            <a:ext cx="990600" cy="266700"/>
          </a:xfrm>
          <a:custGeom>
            <a:avLst/>
            <a:gdLst/>
            <a:ahLst/>
            <a:cxnLst/>
            <a:rect l="l" t="t" r="r" b="b"/>
            <a:pathLst>
              <a:path w="990600" h="266700">
                <a:moveTo>
                  <a:pt x="133350" y="0"/>
                </a:moveTo>
                <a:lnTo>
                  <a:pt x="857250" y="0"/>
                </a:lnTo>
                <a:cubicBezTo>
                  <a:pt x="930848" y="0"/>
                  <a:pt x="990600" y="59752"/>
                  <a:pt x="990600" y="133350"/>
                </a:cubicBezTo>
                <a:lnTo>
                  <a:pt x="990600" y="133350"/>
                </a:lnTo>
                <a:cubicBezTo>
                  <a:pt x="990600" y="206948"/>
                  <a:pt x="930848" y="266700"/>
                  <a:pt x="8572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BEDB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1295400" y="2705100"/>
            <a:ext cx="10572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193C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Temperature</a:t>
            </a:r>
            <a:endParaRPr lang="en-US" dirty="0"/>
          </a:p>
        </p:txBody>
      </p:sp>
      <p:sp>
        <p:nvSpPr>
          <p:cNvPr id="13" name="Shape 11"/>
          <p:cNvSpPr/>
          <p:nvPr/>
        </p:nvSpPr>
        <p:spPr>
          <a:xfrm>
            <a:off x="2362572" y="2705100"/>
            <a:ext cx="762000" cy="266700"/>
          </a:xfrm>
          <a:custGeom>
            <a:avLst/>
            <a:gdLst/>
            <a:ahLst/>
            <a:cxnLst/>
            <a:rect l="l" t="t" r="r" b="b"/>
            <a:pathLst>
              <a:path w="762000" h="266700">
                <a:moveTo>
                  <a:pt x="133350" y="0"/>
                </a:moveTo>
                <a:lnTo>
                  <a:pt x="628650" y="0"/>
                </a:lnTo>
                <a:cubicBezTo>
                  <a:pt x="702248" y="0"/>
                  <a:pt x="762000" y="59752"/>
                  <a:pt x="762000" y="133350"/>
                </a:cubicBezTo>
                <a:lnTo>
                  <a:pt x="762000" y="133350"/>
                </a:lnTo>
                <a:cubicBezTo>
                  <a:pt x="762000" y="206948"/>
                  <a:pt x="702248" y="266700"/>
                  <a:pt x="6286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BEDB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4" name="Text 12"/>
          <p:cNvSpPr/>
          <p:nvPr/>
        </p:nvSpPr>
        <p:spPr>
          <a:xfrm>
            <a:off x="2362572" y="2705100"/>
            <a:ext cx="8286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193C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Vibration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3203377" y="2705100"/>
            <a:ext cx="742950" cy="266700"/>
          </a:xfrm>
          <a:custGeom>
            <a:avLst/>
            <a:gdLst/>
            <a:ahLst/>
            <a:cxnLst/>
            <a:rect l="l" t="t" r="r" b="b"/>
            <a:pathLst>
              <a:path w="742950" h="266700">
                <a:moveTo>
                  <a:pt x="133350" y="0"/>
                </a:moveTo>
                <a:lnTo>
                  <a:pt x="609600" y="0"/>
                </a:lnTo>
                <a:cubicBezTo>
                  <a:pt x="683198" y="0"/>
                  <a:pt x="742950" y="59752"/>
                  <a:pt x="742950" y="133350"/>
                </a:cubicBezTo>
                <a:lnTo>
                  <a:pt x="742950" y="133350"/>
                </a:lnTo>
                <a:cubicBezTo>
                  <a:pt x="742950" y="206948"/>
                  <a:pt x="683198" y="266700"/>
                  <a:pt x="6096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BEDB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3203377" y="2705100"/>
            <a:ext cx="80962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193C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Pressure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027215" y="2705100"/>
            <a:ext cx="609600" cy="266700"/>
          </a:xfrm>
          <a:custGeom>
            <a:avLst/>
            <a:gdLst/>
            <a:ahLst/>
            <a:cxnLst/>
            <a:rect l="l" t="t" r="r" b="b"/>
            <a:pathLst>
              <a:path w="609600" h="266700">
                <a:moveTo>
                  <a:pt x="133350" y="0"/>
                </a:moveTo>
                <a:lnTo>
                  <a:pt x="476250" y="0"/>
                </a:lnTo>
                <a:cubicBezTo>
                  <a:pt x="549848" y="0"/>
                  <a:pt x="609600" y="59752"/>
                  <a:pt x="609600" y="133350"/>
                </a:cubicBezTo>
                <a:lnTo>
                  <a:pt x="609600" y="133350"/>
                </a:lnTo>
                <a:cubicBezTo>
                  <a:pt x="609600" y="206948"/>
                  <a:pt x="549848" y="266700"/>
                  <a:pt x="47625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BEDB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4027215" y="2705100"/>
            <a:ext cx="67627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193C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Speed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710113" y="2705100"/>
            <a:ext cx="600075" cy="266700"/>
          </a:xfrm>
          <a:custGeom>
            <a:avLst/>
            <a:gdLst/>
            <a:ahLst/>
            <a:cxnLst/>
            <a:rect l="l" t="t" r="r" b="b"/>
            <a:pathLst>
              <a:path w="600075" h="266700">
                <a:moveTo>
                  <a:pt x="133350" y="0"/>
                </a:moveTo>
                <a:lnTo>
                  <a:pt x="466725" y="0"/>
                </a:lnTo>
                <a:cubicBezTo>
                  <a:pt x="540323" y="0"/>
                  <a:pt x="600075" y="59752"/>
                  <a:pt x="600075" y="133350"/>
                </a:cubicBezTo>
                <a:lnTo>
                  <a:pt x="600075" y="133350"/>
                </a:lnTo>
                <a:cubicBezTo>
                  <a:pt x="600075" y="206948"/>
                  <a:pt x="540323" y="266700"/>
                  <a:pt x="4667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BEDB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4710113" y="2705100"/>
            <a:ext cx="6667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193CB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Power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00050" y="3314700"/>
            <a:ext cx="5581650" cy="1600200"/>
          </a:xfrm>
          <a:custGeom>
            <a:avLst/>
            <a:gdLst/>
            <a:ahLst/>
            <a:cxnLst/>
            <a:rect l="l" t="t" r="r" b="b"/>
            <a:pathLst>
              <a:path w="5581650" h="1600200">
                <a:moveTo>
                  <a:pt x="38100" y="0"/>
                </a:moveTo>
                <a:lnTo>
                  <a:pt x="5467348" y="0"/>
                </a:lnTo>
                <a:cubicBezTo>
                  <a:pt x="5530433" y="0"/>
                  <a:pt x="5581650" y="51217"/>
                  <a:pt x="5581650" y="114302"/>
                </a:cubicBezTo>
                <a:lnTo>
                  <a:pt x="5581650" y="1485898"/>
                </a:lnTo>
                <a:cubicBezTo>
                  <a:pt x="5581650" y="1548983"/>
                  <a:pt x="5530433" y="1600200"/>
                  <a:pt x="54673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DCFCE7">
                  <a:alpha val="5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2" name="Shape 20"/>
          <p:cNvSpPr/>
          <p:nvPr/>
        </p:nvSpPr>
        <p:spPr>
          <a:xfrm>
            <a:off x="400050" y="33147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3" name="Shape 21"/>
          <p:cNvSpPr/>
          <p:nvPr/>
        </p:nvSpPr>
        <p:spPr>
          <a:xfrm>
            <a:off x="609600" y="35052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4" name="Shape 22"/>
          <p:cNvSpPr/>
          <p:nvPr/>
        </p:nvSpPr>
        <p:spPr>
          <a:xfrm>
            <a:off x="790575" y="3657600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57150" y="114300"/>
                </a:moveTo>
                <a:cubicBezTo>
                  <a:pt x="57150" y="106415"/>
                  <a:pt x="50748" y="100013"/>
                  <a:pt x="42863" y="100013"/>
                </a:cubicBezTo>
                <a:cubicBezTo>
                  <a:pt x="34977" y="100013"/>
                  <a:pt x="28575" y="106415"/>
                  <a:pt x="28575" y="114300"/>
                </a:cubicBezTo>
                <a:cubicBezTo>
                  <a:pt x="28575" y="122185"/>
                  <a:pt x="34977" y="128588"/>
                  <a:pt x="42863" y="128588"/>
                </a:cubicBezTo>
                <a:cubicBezTo>
                  <a:pt x="50748" y="128588"/>
                  <a:pt x="57150" y="122185"/>
                  <a:pt x="57150" y="114300"/>
                </a:cubicBezTo>
                <a:close/>
                <a:moveTo>
                  <a:pt x="71438" y="114300"/>
                </a:moveTo>
                <a:cubicBezTo>
                  <a:pt x="71438" y="120238"/>
                  <a:pt x="76215" y="125016"/>
                  <a:pt x="82153" y="125016"/>
                </a:cubicBezTo>
                <a:lnTo>
                  <a:pt x="132159" y="125016"/>
                </a:lnTo>
                <a:cubicBezTo>
                  <a:pt x="138098" y="125016"/>
                  <a:pt x="142875" y="120238"/>
                  <a:pt x="142875" y="114300"/>
                </a:cubicBezTo>
                <a:cubicBezTo>
                  <a:pt x="142875" y="108362"/>
                  <a:pt x="138098" y="103584"/>
                  <a:pt x="132159" y="103584"/>
                </a:cubicBezTo>
                <a:lnTo>
                  <a:pt x="82153" y="103584"/>
                </a:lnTo>
                <a:cubicBezTo>
                  <a:pt x="76215" y="103584"/>
                  <a:pt x="71438" y="108362"/>
                  <a:pt x="71438" y="114300"/>
                </a:cubicBezTo>
                <a:close/>
                <a:moveTo>
                  <a:pt x="71438" y="171450"/>
                </a:moveTo>
                <a:cubicBezTo>
                  <a:pt x="71438" y="177388"/>
                  <a:pt x="76215" y="182166"/>
                  <a:pt x="82153" y="182166"/>
                </a:cubicBezTo>
                <a:lnTo>
                  <a:pt x="132159" y="182166"/>
                </a:lnTo>
                <a:cubicBezTo>
                  <a:pt x="138098" y="182166"/>
                  <a:pt x="142875" y="177388"/>
                  <a:pt x="142875" y="171450"/>
                </a:cubicBezTo>
                <a:cubicBezTo>
                  <a:pt x="142875" y="165512"/>
                  <a:pt x="138098" y="160734"/>
                  <a:pt x="132159" y="160734"/>
                </a:cubicBezTo>
                <a:lnTo>
                  <a:pt x="82153" y="160734"/>
                </a:lnTo>
                <a:cubicBezTo>
                  <a:pt x="76215" y="160734"/>
                  <a:pt x="71438" y="165512"/>
                  <a:pt x="71438" y="171450"/>
                </a:cubicBezTo>
                <a:close/>
                <a:moveTo>
                  <a:pt x="42863" y="185738"/>
                </a:moveTo>
                <a:cubicBezTo>
                  <a:pt x="50748" y="185738"/>
                  <a:pt x="57150" y="179335"/>
                  <a:pt x="57150" y="171450"/>
                </a:cubicBezTo>
                <a:cubicBezTo>
                  <a:pt x="57150" y="163565"/>
                  <a:pt x="50748" y="157163"/>
                  <a:pt x="42863" y="157163"/>
                </a:cubicBezTo>
                <a:cubicBezTo>
                  <a:pt x="34977" y="157163"/>
                  <a:pt x="28575" y="163565"/>
                  <a:pt x="28575" y="171450"/>
                </a:cubicBezTo>
                <a:cubicBezTo>
                  <a:pt x="28575" y="179335"/>
                  <a:pt x="34977" y="185738"/>
                  <a:pt x="42863" y="18573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1295400" y="35052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Maintenance &amp; Failure Records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1295400" y="38481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Historical data on past repairs, component replacements, and failure events.</a:t>
            </a: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1295400" y="4457700"/>
            <a:ext cx="1057275" cy="266700"/>
          </a:xfrm>
          <a:custGeom>
            <a:avLst/>
            <a:gdLst/>
            <a:ahLst/>
            <a:cxnLst/>
            <a:rect l="l" t="t" r="r" b="b"/>
            <a:pathLst>
              <a:path w="1057275" h="266700">
                <a:moveTo>
                  <a:pt x="133350" y="0"/>
                </a:moveTo>
                <a:lnTo>
                  <a:pt x="923925" y="0"/>
                </a:lnTo>
                <a:cubicBezTo>
                  <a:pt x="997523" y="0"/>
                  <a:pt x="1057275" y="59752"/>
                  <a:pt x="1057275" y="133350"/>
                </a:cubicBezTo>
                <a:lnTo>
                  <a:pt x="1057275" y="133350"/>
                </a:lnTo>
                <a:cubicBezTo>
                  <a:pt x="1057275" y="206948"/>
                  <a:pt x="997523" y="266700"/>
                  <a:pt x="9239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B9F8C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8" name="Text 26"/>
          <p:cNvSpPr/>
          <p:nvPr/>
        </p:nvSpPr>
        <p:spPr>
          <a:xfrm>
            <a:off x="1295400" y="4457700"/>
            <a:ext cx="11239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0166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Repair History</a:t>
            </a: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2432372" y="4457700"/>
            <a:ext cx="942975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133350" y="0"/>
                </a:moveTo>
                <a:lnTo>
                  <a:pt x="809625" y="0"/>
                </a:lnTo>
                <a:cubicBezTo>
                  <a:pt x="883223" y="0"/>
                  <a:pt x="942975" y="59752"/>
                  <a:pt x="942975" y="133350"/>
                </a:cubicBezTo>
                <a:lnTo>
                  <a:pt x="942975" y="133350"/>
                </a:lnTo>
                <a:cubicBezTo>
                  <a:pt x="942975" y="206948"/>
                  <a:pt x="883223" y="266700"/>
                  <a:pt x="809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B9F8C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0" name="Text 28"/>
          <p:cNvSpPr/>
          <p:nvPr/>
        </p:nvSpPr>
        <p:spPr>
          <a:xfrm>
            <a:off x="2432372" y="4457700"/>
            <a:ext cx="10096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0166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Failure Logs</a:t>
            </a:r>
            <a:endParaRPr lang="en-US" dirty="0"/>
          </a:p>
        </p:txBody>
      </p:sp>
      <p:sp>
        <p:nvSpPr>
          <p:cNvPr id="31" name="Shape 29"/>
          <p:cNvSpPr/>
          <p:nvPr/>
        </p:nvSpPr>
        <p:spPr>
          <a:xfrm>
            <a:off x="3451324" y="4457700"/>
            <a:ext cx="1190625" cy="266700"/>
          </a:xfrm>
          <a:custGeom>
            <a:avLst/>
            <a:gdLst/>
            <a:ahLst/>
            <a:cxnLst/>
            <a:rect l="l" t="t" r="r" b="b"/>
            <a:pathLst>
              <a:path w="1190625" h="266700">
                <a:moveTo>
                  <a:pt x="133350" y="0"/>
                </a:moveTo>
                <a:lnTo>
                  <a:pt x="1057275" y="0"/>
                </a:lnTo>
                <a:cubicBezTo>
                  <a:pt x="1130873" y="0"/>
                  <a:pt x="1190625" y="59752"/>
                  <a:pt x="1190625" y="133350"/>
                </a:cubicBezTo>
                <a:lnTo>
                  <a:pt x="1190625" y="133350"/>
                </a:lnTo>
                <a:cubicBezTo>
                  <a:pt x="1190625" y="206948"/>
                  <a:pt x="1130873" y="266700"/>
                  <a:pt x="10572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B9F8C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2" name="Text 30"/>
          <p:cNvSpPr/>
          <p:nvPr/>
        </p:nvSpPr>
        <p:spPr>
          <a:xfrm>
            <a:off x="3451324" y="4457700"/>
            <a:ext cx="12573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01663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Component Age</a:t>
            </a: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229350" y="1562100"/>
            <a:ext cx="5581650" cy="1600200"/>
          </a:xfrm>
          <a:custGeom>
            <a:avLst/>
            <a:gdLst/>
            <a:ahLst/>
            <a:cxnLst/>
            <a:rect l="l" t="t" r="r" b="b"/>
            <a:pathLst>
              <a:path w="5581650" h="1600200">
                <a:moveTo>
                  <a:pt x="38100" y="0"/>
                </a:moveTo>
                <a:lnTo>
                  <a:pt x="5467348" y="0"/>
                </a:lnTo>
                <a:cubicBezTo>
                  <a:pt x="5530433" y="0"/>
                  <a:pt x="5581650" y="51217"/>
                  <a:pt x="5581650" y="114302"/>
                </a:cubicBezTo>
                <a:lnTo>
                  <a:pt x="5581650" y="1485898"/>
                </a:lnTo>
                <a:cubicBezTo>
                  <a:pt x="5581650" y="1548983"/>
                  <a:pt x="5530433" y="1600200"/>
                  <a:pt x="5467348" y="1600200"/>
                </a:cubicBez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AF5FF"/>
              </a:gs>
              <a:gs pos="100000">
                <a:srgbClr val="F3E8FF">
                  <a:alpha val="50000"/>
                </a:srgbClr>
              </a:gs>
            </a:gsLst>
            <a:lin ang="2700000" scaled="1"/>
          </a:gra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4" name="Shape 32"/>
          <p:cNvSpPr/>
          <p:nvPr/>
        </p:nvSpPr>
        <p:spPr>
          <a:xfrm>
            <a:off x="6229350" y="1562100"/>
            <a:ext cx="38100" cy="1600200"/>
          </a:xfrm>
          <a:custGeom>
            <a:avLst/>
            <a:gdLst/>
            <a:ahLst/>
            <a:cxnLst/>
            <a:rect l="l" t="t" r="r" b="b"/>
            <a:pathLst>
              <a:path w="38100" h="1600200">
                <a:moveTo>
                  <a:pt x="38100" y="0"/>
                </a:moveTo>
                <a:lnTo>
                  <a:pt x="38100" y="0"/>
                </a:lnTo>
                <a:lnTo>
                  <a:pt x="38100" y="1600200"/>
                </a:lnTo>
                <a:lnTo>
                  <a:pt x="38100" y="1600200"/>
                </a:lnTo>
                <a:cubicBezTo>
                  <a:pt x="17072" y="1600200"/>
                  <a:pt x="0" y="1583128"/>
                  <a:pt x="0" y="1562100"/>
                </a:cubicBezTo>
                <a:lnTo>
                  <a:pt x="0" y="38100"/>
                </a:lnTo>
                <a:cubicBezTo>
                  <a:pt x="0" y="17072"/>
                  <a:pt x="17072" y="0"/>
                  <a:pt x="38100" y="0"/>
                </a:cubicBezTo>
                <a:close/>
              </a:path>
            </a:pathLst>
          </a:custGeom>
          <a:solidFill>
            <a:srgbClr val="9810FA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5" name="Shape 33"/>
          <p:cNvSpPr/>
          <p:nvPr/>
        </p:nvSpPr>
        <p:spPr>
          <a:xfrm>
            <a:off x="64389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9810FA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6" name="Shape 34"/>
          <p:cNvSpPr/>
          <p:nvPr/>
        </p:nvSpPr>
        <p:spPr>
          <a:xfrm>
            <a:off x="6562725" y="1905000"/>
            <a:ext cx="285750" cy="228600"/>
          </a:xfrm>
          <a:custGeom>
            <a:avLst/>
            <a:gdLst/>
            <a:ahLst/>
            <a:cxnLst/>
            <a:rect l="l" t="t" r="r" b="b"/>
            <a:pathLst>
              <a:path w="285750" h="228600">
                <a:moveTo>
                  <a:pt x="185693" y="93985"/>
                </a:moveTo>
                <a:cubicBezTo>
                  <a:pt x="191140" y="92512"/>
                  <a:pt x="196855" y="95101"/>
                  <a:pt x="199311" y="100146"/>
                </a:cubicBezTo>
                <a:lnTo>
                  <a:pt x="207615" y="116934"/>
                </a:lnTo>
                <a:cubicBezTo>
                  <a:pt x="212214" y="117559"/>
                  <a:pt x="216724" y="118809"/>
                  <a:pt x="220965" y="120551"/>
                </a:cubicBezTo>
                <a:lnTo>
                  <a:pt x="236592" y="110148"/>
                </a:lnTo>
                <a:cubicBezTo>
                  <a:pt x="241280" y="107022"/>
                  <a:pt x="247486" y="107647"/>
                  <a:pt x="251460" y="111621"/>
                </a:cubicBezTo>
                <a:lnTo>
                  <a:pt x="260033" y="120194"/>
                </a:lnTo>
                <a:cubicBezTo>
                  <a:pt x="264006" y="124167"/>
                  <a:pt x="264631" y="130418"/>
                  <a:pt x="261506" y="135062"/>
                </a:cubicBezTo>
                <a:lnTo>
                  <a:pt x="251103" y="150644"/>
                </a:lnTo>
                <a:cubicBezTo>
                  <a:pt x="251951" y="152742"/>
                  <a:pt x="252710" y="154930"/>
                  <a:pt x="253335" y="157207"/>
                </a:cubicBezTo>
                <a:cubicBezTo>
                  <a:pt x="253960" y="159484"/>
                  <a:pt x="254362" y="161717"/>
                  <a:pt x="254675" y="163994"/>
                </a:cubicBezTo>
                <a:lnTo>
                  <a:pt x="271507" y="172298"/>
                </a:lnTo>
                <a:cubicBezTo>
                  <a:pt x="276552" y="174799"/>
                  <a:pt x="279142" y="180514"/>
                  <a:pt x="277669" y="185916"/>
                </a:cubicBezTo>
                <a:lnTo>
                  <a:pt x="274543" y="197614"/>
                </a:lnTo>
                <a:cubicBezTo>
                  <a:pt x="273070" y="203016"/>
                  <a:pt x="268025" y="206678"/>
                  <a:pt x="262399" y="206320"/>
                </a:cubicBezTo>
                <a:lnTo>
                  <a:pt x="243647" y="205115"/>
                </a:lnTo>
                <a:cubicBezTo>
                  <a:pt x="240834" y="208731"/>
                  <a:pt x="237574" y="212080"/>
                  <a:pt x="233869" y="214938"/>
                </a:cubicBezTo>
                <a:lnTo>
                  <a:pt x="235074" y="233645"/>
                </a:lnTo>
                <a:cubicBezTo>
                  <a:pt x="235431" y="239271"/>
                  <a:pt x="231770" y="244361"/>
                  <a:pt x="226368" y="245790"/>
                </a:cubicBezTo>
                <a:lnTo>
                  <a:pt x="214670" y="248915"/>
                </a:lnTo>
                <a:cubicBezTo>
                  <a:pt x="209223" y="250388"/>
                  <a:pt x="203552" y="247799"/>
                  <a:pt x="201052" y="242754"/>
                </a:cubicBezTo>
                <a:lnTo>
                  <a:pt x="192747" y="225966"/>
                </a:lnTo>
                <a:cubicBezTo>
                  <a:pt x="188149" y="225341"/>
                  <a:pt x="183639" y="224091"/>
                  <a:pt x="179397" y="222349"/>
                </a:cubicBezTo>
                <a:lnTo>
                  <a:pt x="163770" y="232752"/>
                </a:lnTo>
                <a:cubicBezTo>
                  <a:pt x="159082" y="235878"/>
                  <a:pt x="152876" y="235253"/>
                  <a:pt x="148903" y="231279"/>
                </a:cubicBezTo>
                <a:lnTo>
                  <a:pt x="140330" y="222706"/>
                </a:lnTo>
                <a:cubicBezTo>
                  <a:pt x="136356" y="218733"/>
                  <a:pt x="135731" y="212527"/>
                  <a:pt x="138857" y="207838"/>
                </a:cubicBezTo>
                <a:lnTo>
                  <a:pt x="149260" y="192212"/>
                </a:lnTo>
                <a:cubicBezTo>
                  <a:pt x="148411" y="190113"/>
                  <a:pt x="147652" y="187925"/>
                  <a:pt x="147027" y="185648"/>
                </a:cubicBezTo>
                <a:cubicBezTo>
                  <a:pt x="146402" y="183371"/>
                  <a:pt x="146000" y="181094"/>
                  <a:pt x="145688" y="178862"/>
                </a:cubicBezTo>
                <a:lnTo>
                  <a:pt x="128855" y="170557"/>
                </a:lnTo>
                <a:cubicBezTo>
                  <a:pt x="123810" y="168057"/>
                  <a:pt x="121265" y="162342"/>
                  <a:pt x="122694" y="156939"/>
                </a:cubicBezTo>
                <a:lnTo>
                  <a:pt x="125819" y="145241"/>
                </a:lnTo>
                <a:cubicBezTo>
                  <a:pt x="127293" y="139839"/>
                  <a:pt x="132338" y="136178"/>
                  <a:pt x="137964" y="136535"/>
                </a:cubicBezTo>
                <a:lnTo>
                  <a:pt x="156671" y="137740"/>
                </a:lnTo>
                <a:cubicBezTo>
                  <a:pt x="159484" y="134124"/>
                  <a:pt x="162744" y="130775"/>
                  <a:pt x="166449" y="127918"/>
                </a:cubicBezTo>
                <a:lnTo>
                  <a:pt x="165244" y="109255"/>
                </a:lnTo>
                <a:cubicBezTo>
                  <a:pt x="164887" y="103629"/>
                  <a:pt x="168548" y="98539"/>
                  <a:pt x="173950" y="97110"/>
                </a:cubicBezTo>
                <a:lnTo>
                  <a:pt x="185648" y="93985"/>
                </a:lnTo>
                <a:close/>
                <a:moveTo>
                  <a:pt x="200204" y="151805"/>
                </a:moveTo>
                <a:cubicBezTo>
                  <a:pt x="189361" y="151817"/>
                  <a:pt x="180568" y="160630"/>
                  <a:pt x="180581" y="171472"/>
                </a:cubicBezTo>
                <a:cubicBezTo>
                  <a:pt x="180593" y="182315"/>
                  <a:pt x="189406" y="191108"/>
                  <a:pt x="200248" y="191095"/>
                </a:cubicBezTo>
                <a:cubicBezTo>
                  <a:pt x="211091" y="191083"/>
                  <a:pt x="219884" y="182270"/>
                  <a:pt x="219871" y="171428"/>
                </a:cubicBezTo>
                <a:cubicBezTo>
                  <a:pt x="219859" y="160585"/>
                  <a:pt x="211046" y="151792"/>
                  <a:pt x="200204" y="151805"/>
                </a:cubicBezTo>
                <a:close/>
                <a:moveTo>
                  <a:pt x="100414" y="-20315"/>
                </a:moveTo>
                <a:lnTo>
                  <a:pt x="112112" y="-17190"/>
                </a:lnTo>
                <a:cubicBezTo>
                  <a:pt x="117515" y="-15716"/>
                  <a:pt x="121176" y="-10626"/>
                  <a:pt x="120819" y="-5045"/>
                </a:cubicBezTo>
                <a:lnTo>
                  <a:pt x="119613" y="13618"/>
                </a:lnTo>
                <a:cubicBezTo>
                  <a:pt x="123319" y="16475"/>
                  <a:pt x="126578" y="19779"/>
                  <a:pt x="129391" y="23440"/>
                </a:cubicBezTo>
                <a:lnTo>
                  <a:pt x="148144" y="22235"/>
                </a:lnTo>
                <a:cubicBezTo>
                  <a:pt x="153725" y="21878"/>
                  <a:pt x="158814" y="25539"/>
                  <a:pt x="160288" y="30941"/>
                </a:cubicBezTo>
                <a:lnTo>
                  <a:pt x="163413" y="42639"/>
                </a:lnTo>
                <a:cubicBezTo>
                  <a:pt x="164842" y="48042"/>
                  <a:pt x="162297" y="53757"/>
                  <a:pt x="157252" y="56257"/>
                </a:cubicBezTo>
                <a:lnTo>
                  <a:pt x="140419" y="64562"/>
                </a:lnTo>
                <a:cubicBezTo>
                  <a:pt x="140107" y="66839"/>
                  <a:pt x="139660" y="69116"/>
                  <a:pt x="139080" y="71348"/>
                </a:cubicBezTo>
                <a:cubicBezTo>
                  <a:pt x="138499" y="73581"/>
                  <a:pt x="137696" y="75813"/>
                  <a:pt x="136847" y="77912"/>
                </a:cubicBezTo>
                <a:lnTo>
                  <a:pt x="147251" y="93538"/>
                </a:lnTo>
                <a:cubicBezTo>
                  <a:pt x="150376" y="98227"/>
                  <a:pt x="149751" y="104433"/>
                  <a:pt x="145777" y="108406"/>
                </a:cubicBezTo>
                <a:lnTo>
                  <a:pt x="137205" y="116979"/>
                </a:lnTo>
                <a:cubicBezTo>
                  <a:pt x="133231" y="120953"/>
                  <a:pt x="127025" y="121578"/>
                  <a:pt x="122337" y="118452"/>
                </a:cubicBezTo>
                <a:lnTo>
                  <a:pt x="106710" y="108049"/>
                </a:lnTo>
                <a:cubicBezTo>
                  <a:pt x="102468" y="109791"/>
                  <a:pt x="97959" y="111041"/>
                  <a:pt x="93360" y="111666"/>
                </a:cubicBezTo>
                <a:lnTo>
                  <a:pt x="85055" y="128454"/>
                </a:lnTo>
                <a:cubicBezTo>
                  <a:pt x="82555" y="133499"/>
                  <a:pt x="76840" y="136044"/>
                  <a:pt x="71438" y="134615"/>
                </a:cubicBezTo>
                <a:lnTo>
                  <a:pt x="59740" y="131490"/>
                </a:lnTo>
                <a:cubicBezTo>
                  <a:pt x="54293" y="130016"/>
                  <a:pt x="50676" y="124926"/>
                  <a:pt x="51033" y="119345"/>
                </a:cubicBezTo>
                <a:lnTo>
                  <a:pt x="52239" y="100638"/>
                </a:lnTo>
                <a:cubicBezTo>
                  <a:pt x="48533" y="97780"/>
                  <a:pt x="45274" y="94476"/>
                  <a:pt x="42461" y="90815"/>
                </a:cubicBezTo>
                <a:lnTo>
                  <a:pt x="23708" y="92020"/>
                </a:lnTo>
                <a:cubicBezTo>
                  <a:pt x="18127" y="92378"/>
                  <a:pt x="13037" y="88716"/>
                  <a:pt x="11564" y="83314"/>
                </a:cubicBezTo>
                <a:lnTo>
                  <a:pt x="8439" y="71616"/>
                </a:lnTo>
                <a:cubicBezTo>
                  <a:pt x="7010" y="66214"/>
                  <a:pt x="9555" y="60499"/>
                  <a:pt x="14600" y="57998"/>
                </a:cubicBezTo>
                <a:lnTo>
                  <a:pt x="31433" y="49694"/>
                </a:lnTo>
                <a:cubicBezTo>
                  <a:pt x="31745" y="47417"/>
                  <a:pt x="32192" y="45184"/>
                  <a:pt x="32772" y="42907"/>
                </a:cubicBezTo>
                <a:cubicBezTo>
                  <a:pt x="33397" y="40630"/>
                  <a:pt x="34111" y="38442"/>
                  <a:pt x="35004" y="36344"/>
                </a:cubicBezTo>
                <a:lnTo>
                  <a:pt x="24601" y="20762"/>
                </a:lnTo>
                <a:cubicBezTo>
                  <a:pt x="21476" y="16073"/>
                  <a:pt x="22101" y="9867"/>
                  <a:pt x="26075" y="5894"/>
                </a:cubicBezTo>
                <a:lnTo>
                  <a:pt x="34647" y="-2679"/>
                </a:lnTo>
                <a:cubicBezTo>
                  <a:pt x="38621" y="-6653"/>
                  <a:pt x="44827" y="-7278"/>
                  <a:pt x="49515" y="-4152"/>
                </a:cubicBezTo>
                <a:lnTo>
                  <a:pt x="65142" y="6251"/>
                </a:lnTo>
                <a:cubicBezTo>
                  <a:pt x="69384" y="4509"/>
                  <a:pt x="73893" y="3259"/>
                  <a:pt x="78492" y="2634"/>
                </a:cubicBezTo>
                <a:lnTo>
                  <a:pt x="86797" y="-14154"/>
                </a:lnTo>
                <a:cubicBezTo>
                  <a:pt x="89297" y="-19199"/>
                  <a:pt x="94967" y="-21744"/>
                  <a:pt x="100414" y="-20315"/>
                </a:cubicBezTo>
                <a:close/>
                <a:moveTo>
                  <a:pt x="85904" y="37505"/>
                </a:moveTo>
                <a:cubicBezTo>
                  <a:pt x="75061" y="37505"/>
                  <a:pt x="66258" y="46307"/>
                  <a:pt x="66258" y="57150"/>
                </a:cubicBezTo>
                <a:cubicBezTo>
                  <a:pt x="66258" y="67993"/>
                  <a:pt x="75061" y="76795"/>
                  <a:pt x="85904" y="76795"/>
                </a:cubicBezTo>
                <a:cubicBezTo>
                  <a:pt x="96746" y="76795"/>
                  <a:pt x="105549" y="67993"/>
                  <a:pt x="105549" y="57150"/>
                </a:cubicBezTo>
                <a:cubicBezTo>
                  <a:pt x="105549" y="46307"/>
                  <a:pt x="96746" y="37505"/>
                  <a:pt x="85904" y="3750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7" name="Text 35"/>
          <p:cNvSpPr/>
          <p:nvPr/>
        </p:nvSpPr>
        <p:spPr>
          <a:xfrm>
            <a:off x="7124700" y="1752600"/>
            <a:ext cx="459105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Context</a:t>
            </a:r>
            <a:endParaRPr lang="en-US" dirty="0"/>
          </a:p>
        </p:txBody>
      </p:sp>
      <p:sp>
        <p:nvSpPr>
          <p:cNvPr id="38" name="Text 36"/>
          <p:cNvSpPr/>
          <p:nvPr/>
        </p:nvSpPr>
        <p:spPr>
          <a:xfrm>
            <a:off x="7124700" y="2095500"/>
            <a:ext cx="4572000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Environmental and scheduling factors that influence maintenance decisions.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7124700" y="2705100"/>
            <a:ext cx="1190625" cy="266700"/>
          </a:xfrm>
          <a:custGeom>
            <a:avLst/>
            <a:gdLst/>
            <a:ahLst/>
            <a:cxnLst/>
            <a:rect l="l" t="t" r="r" b="b"/>
            <a:pathLst>
              <a:path w="1190625" h="266700">
                <a:moveTo>
                  <a:pt x="133350" y="0"/>
                </a:moveTo>
                <a:lnTo>
                  <a:pt x="1057275" y="0"/>
                </a:lnTo>
                <a:cubicBezTo>
                  <a:pt x="1130873" y="0"/>
                  <a:pt x="1190625" y="59752"/>
                  <a:pt x="1190625" y="133350"/>
                </a:cubicBezTo>
                <a:lnTo>
                  <a:pt x="1190625" y="133350"/>
                </a:lnTo>
                <a:cubicBezTo>
                  <a:pt x="1190625" y="206948"/>
                  <a:pt x="1130873" y="266700"/>
                  <a:pt x="10572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9D4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0" name="Text 38"/>
          <p:cNvSpPr/>
          <p:nvPr/>
        </p:nvSpPr>
        <p:spPr>
          <a:xfrm>
            <a:off x="7124700" y="2705100"/>
            <a:ext cx="12573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6E11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Production Load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8395395" y="2705100"/>
            <a:ext cx="1152525" cy="266700"/>
          </a:xfrm>
          <a:custGeom>
            <a:avLst/>
            <a:gdLst/>
            <a:ahLst/>
            <a:cxnLst/>
            <a:rect l="l" t="t" r="r" b="b"/>
            <a:pathLst>
              <a:path w="1152525" h="266700">
                <a:moveTo>
                  <a:pt x="133350" y="0"/>
                </a:moveTo>
                <a:lnTo>
                  <a:pt x="1019175" y="0"/>
                </a:lnTo>
                <a:cubicBezTo>
                  <a:pt x="1092773" y="0"/>
                  <a:pt x="1152525" y="59752"/>
                  <a:pt x="1152525" y="133350"/>
                </a:cubicBezTo>
                <a:lnTo>
                  <a:pt x="1152525" y="133350"/>
                </a:lnTo>
                <a:cubicBezTo>
                  <a:pt x="1152525" y="206948"/>
                  <a:pt x="1092773" y="266700"/>
                  <a:pt x="10191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9D4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2" name="Text 40"/>
          <p:cNvSpPr/>
          <p:nvPr/>
        </p:nvSpPr>
        <p:spPr>
          <a:xfrm>
            <a:off x="8395395" y="2705100"/>
            <a:ext cx="121920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6E11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Shift Schedules</a:t>
            </a:r>
            <a:endParaRPr lang="en-US" dirty="0"/>
          </a:p>
        </p:txBody>
      </p:sp>
      <p:sp>
        <p:nvSpPr>
          <p:cNvPr id="43" name="Shape 41"/>
          <p:cNvSpPr/>
          <p:nvPr/>
        </p:nvSpPr>
        <p:spPr>
          <a:xfrm>
            <a:off x="9620845" y="2705100"/>
            <a:ext cx="1209675" cy="266700"/>
          </a:xfrm>
          <a:custGeom>
            <a:avLst/>
            <a:gdLst/>
            <a:ahLst/>
            <a:cxnLst/>
            <a:rect l="l" t="t" r="r" b="b"/>
            <a:pathLst>
              <a:path w="1209675" h="266700">
                <a:moveTo>
                  <a:pt x="133350" y="0"/>
                </a:moveTo>
                <a:lnTo>
                  <a:pt x="1076325" y="0"/>
                </a:lnTo>
                <a:cubicBezTo>
                  <a:pt x="1149923" y="0"/>
                  <a:pt x="1209675" y="59752"/>
                  <a:pt x="1209675" y="133350"/>
                </a:cubicBezTo>
                <a:lnTo>
                  <a:pt x="1209675" y="133350"/>
                </a:lnTo>
                <a:cubicBezTo>
                  <a:pt x="1209675" y="206948"/>
                  <a:pt x="1149923" y="266700"/>
                  <a:pt x="10763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E9D4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4" name="Text 42"/>
          <p:cNvSpPr/>
          <p:nvPr/>
        </p:nvSpPr>
        <p:spPr>
          <a:xfrm>
            <a:off x="9620845" y="2705100"/>
            <a:ext cx="1276350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b="1" dirty="0">
                <a:solidFill>
                  <a:srgbClr val="6E11B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Crew Availability</a:t>
            </a:r>
            <a:endParaRPr lang="en-US" dirty="0"/>
          </a:p>
        </p:txBody>
      </p:sp>
      <p:sp>
        <p:nvSpPr>
          <p:cNvPr id="45" name="Shape 43"/>
          <p:cNvSpPr/>
          <p:nvPr/>
        </p:nvSpPr>
        <p:spPr>
          <a:xfrm>
            <a:off x="6248400" y="3380014"/>
            <a:ext cx="5581650" cy="3143250"/>
          </a:xfrm>
          <a:custGeom>
            <a:avLst/>
            <a:gdLst/>
            <a:ahLst/>
            <a:cxnLst/>
            <a:rect l="l" t="t" r="r" b="b"/>
            <a:pathLst>
              <a:path w="5581650" h="3143250">
                <a:moveTo>
                  <a:pt x="114289" y="0"/>
                </a:moveTo>
                <a:lnTo>
                  <a:pt x="5467361" y="0"/>
                </a:lnTo>
                <a:cubicBezTo>
                  <a:pt x="5530439" y="0"/>
                  <a:pt x="5581650" y="51211"/>
                  <a:pt x="5581650" y="114289"/>
                </a:cubicBezTo>
                <a:lnTo>
                  <a:pt x="5581650" y="3028961"/>
                </a:lnTo>
                <a:cubicBezTo>
                  <a:pt x="5581650" y="3092081"/>
                  <a:pt x="5530481" y="3143250"/>
                  <a:pt x="5467361" y="3143250"/>
                </a:cubicBezTo>
                <a:lnTo>
                  <a:pt x="114289" y="3143250"/>
                </a:lnTo>
                <a:cubicBezTo>
                  <a:pt x="51211" y="3143250"/>
                  <a:pt x="0" y="3092039"/>
                  <a:pt x="0" y="3028961"/>
                </a:cubicBezTo>
                <a:lnTo>
                  <a:pt x="0" y="114289"/>
                </a:lnTo>
                <a:cubicBezTo>
                  <a:pt x="0" y="51169"/>
                  <a:pt x="51169" y="0"/>
                  <a:pt x="114289" y="0"/>
                </a:cubicBezTo>
                <a:close/>
              </a:path>
            </a:pathLst>
          </a:custGeom>
          <a:gradFill flip="none" rotWithShape="1">
            <a:gsLst>
              <a:gs pos="0">
                <a:srgbClr val="8C1D40">
                  <a:alpha val="10000"/>
                </a:srgbClr>
              </a:gs>
              <a:gs pos="100000">
                <a:srgbClr val="8C1D40">
                  <a:alpha val="5000"/>
                </a:srgbClr>
              </a:gs>
            </a:gsLst>
            <a:lin ang="2700000" scaled="1"/>
          </a:gradFill>
          <a:ln w="25400">
            <a:solidFill>
              <a:srgbClr val="8C1D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/>
          <p:nvPr/>
        </p:nvSpPr>
        <p:spPr>
          <a:xfrm>
            <a:off x="6791325" y="3886200"/>
            <a:ext cx="5038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Data Integration</a:t>
            </a: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7002587" y="4305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BEAF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9" name="Shape 47"/>
          <p:cNvSpPr/>
          <p:nvPr/>
        </p:nvSpPr>
        <p:spPr>
          <a:xfrm>
            <a:off x="7212137" y="4514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23812" y="35719"/>
                </a:moveTo>
                <a:cubicBezTo>
                  <a:pt x="23812" y="29133"/>
                  <a:pt x="29133" y="23812"/>
                  <a:pt x="35719" y="23812"/>
                </a:cubicBezTo>
                <a:lnTo>
                  <a:pt x="95250" y="23812"/>
                </a:lnTo>
                <a:cubicBezTo>
                  <a:pt x="101836" y="23812"/>
                  <a:pt x="107156" y="29133"/>
                  <a:pt x="107156" y="35719"/>
                </a:cubicBezTo>
                <a:lnTo>
                  <a:pt x="107156" y="142875"/>
                </a:lnTo>
                <a:lnTo>
                  <a:pt x="142875" y="142875"/>
                </a:lnTo>
                <a:lnTo>
                  <a:pt x="142875" y="95250"/>
                </a:lnTo>
                <a:cubicBezTo>
                  <a:pt x="142875" y="88664"/>
                  <a:pt x="148196" y="83344"/>
                  <a:pt x="154781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166688" y="107156"/>
                </a:lnTo>
                <a:lnTo>
                  <a:pt x="166688" y="154781"/>
                </a:lnTo>
                <a:cubicBezTo>
                  <a:pt x="166688" y="161367"/>
                  <a:pt x="161367" y="166688"/>
                  <a:pt x="154781" y="166688"/>
                </a:cubicBezTo>
                <a:lnTo>
                  <a:pt x="95250" y="166688"/>
                </a:lnTo>
                <a:cubicBezTo>
                  <a:pt x="88664" y="166688"/>
                  <a:pt x="83344" y="161367"/>
                  <a:pt x="83344" y="154781"/>
                </a:cubicBezTo>
                <a:lnTo>
                  <a:pt x="83344" y="47625"/>
                </a:lnTo>
                <a:lnTo>
                  <a:pt x="47625" y="47625"/>
                </a:lnTo>
                <a:lnTo>
                  <a:pt x="47625" y="95250"/>
                </a:lnTo>
                <a:cubicBezTo>
                  <a:pt x="47625" y="101836"/>
                  <a:pt x="42304" y="107156"/>
                  <a:pt x="35719" y="107156"/>
                </a:cubicBezTo>
                <a:lnTo>
                  <a:pt x="11906" y="107156"/>
                </a:lnTo>
                <a:cubicBezTo>
                  <a:pt x="5321" y="107156"/>
                  <a:pt x="0" y="101836"/>
                  <a:pt x="0" y="95250"/>
                </a:cubicBezTo>
                <a:cubicBezTo>
                  <a:pt x="0" y="88664"/>
                  <a:pt x="5321" y="83344"/>
                  <a:pt x="11906" y="83344"/>
                </a:cubicBezTo>
                <a:lnTo>
                  <a:pt x="23812" y="83344"/>
                </a:lnTo>
                <a:lnTo>
                  <a:pt x="23812" y="35719"/>
                </a:lnTo>
                <a:close/>
              </a:path>
            </a:pathLst>
          </a:custGeom>
          <a:solidFill>
            <a:srgbClr val="155DFC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0" name="Text 48"/>
          <p:cNvSpPr/>
          <p:nvPr/>
        </p:nvSpPr>
        <p:spPr>
          <a:xfrm>
            <a:off x="6969249" y="49911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Sensors</a:t>
            </a:r>
            <a:endParaRPr lang="en-US" dirty="0"/>
          </a:p>
        </p:txBody>
      </p:sp>
      <p:sp>
        <p:nvSpPr>
          <p:cNvPr id="51" name="Shape 49"/>
          <p:cNvSpPr/>
          <p:nvPr/>
        </p:nvSpPr>
        <p:spPr>
          <a:xfrm>
            <a:off x="7800305" y="46482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23812"/>
                </a:moveTo>
                <a:cubicBezTo>
                  <a:pt x="95250" y="17227"/>
                  <a:pt x="89929" y="11906"/>
                  <a:pt x="83344" y="11906"/>
                </a:cubicBezTo>
                <a:cubicBezTo>
                  <a:pt x="76758" y="11906"/>
                  <a:pt x="71438" y="17227"/>
                  <a:pt x="71438" y="23812"/>
                </a:cubicBezTo>
                <a:lnTo>
                  <a:pt x="71438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71438" y="107156"/>
                </a:lnTo>
                <a:lnTo>
                  <a:pt x="71438" y="166688"/>
                </a:lnTo>
                <a:cubicBezTo>
                  <a:pt x="71438" y="173273"/>
                  <a:pt x="76758" y="178594"/>
                  <a:pt x="83344" y="178594"/>
                </a:cubicBezTo>
                <a:cubicBezTo>
                  <a:pt x="89929" y="178594"/>
                  <a:pt x="95250" y="173273"/>
                  <a:pt x="95250" y="166688"/>
                </a:cubicBezTo>
                <a:lnTo>
                  <a:pt x="95250" y="107156"/>
                </a:lnTo>
                <a:lnTo>
                  <a:pt x="154781" y="107156"/>
                </a:lnTo>
                <a:cubicBezTo>
                  <a:pt x="161367" y="107156"/>
                  <a:pt x="166688" y="101836"/>
                  <a:pt x="166688" y="95250"/>
                </a:cubicBezTo>
                <a:cubicBezTo>
                  <a:pt x="166688" y="88664"/>
                  <a:pt x="161367" y="83344"/>
                  <a:pt x="154781" y="83344"/>
                </a:cubicBezTo>
                <a:lnTo>
                  <a:pt x="95250" y="83344"/>
                </a:lnTo>
                <a:lnTo>
                  <a:pt x="95250" y="23812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2" name="Shape 50"/>
          <p:cNvSpPr/>
          <p:nvPr/>
        </p:nvSpPr>
        <p:spPr>
          <a:xfrm>
            <a:off x="8155112" y="4305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3" name="Shape 51"/>
          <p:cNvSpPr/>
          <p:nvPr/>
        </p:nvSpPr>
        <p:spPr>
          <a:xfrm>
            <a:off x="8352755" y="4514850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107156" y="23812"/>
                </a:moveTo>
                <a:cubicBezTo>
                  <a:pt x="146596" y="23812"/>
                  <a:pt x="178594" y="55811"/>
                  <a:pt x="178594" y="95250"/>
                </a:cubicBezTo>
                <a:cubicBezTo>
                  <a:pt x="178594" y="134689"/>
                  <a:pt x="146596" y="166688"/>
                  <a:pt x="107156" y="166688"/>
                </a:cubicBezTo>
                <a:cubicBezTo>
                  <a:pt x="82897" y="166688"/>
                  <a:pt x="61429" y="154595"/>
                  <a:pt x="48518" y="136066"/>
                </a:cubicBezTo>
                <a:cubicBezTo>
                  <a:pt x="44760" y="130671"/>
                  <a:pt x="37319" y="129369"/>
                  <a:pt x="31924" y="133127"/>
                </a:cubicBezTo>
                <a:cubicBezTo>
                  <a:pt x="26529" y="136885"/>
                  <a:pt x="25226" y="144326"/>
                  <a:pt x="28984" y="149721"/>
                </a:cubicBezTo>
                <a:cubicBezTo>
                  <a:pt x="46174" y="174352"/>
                  <a:pt x="74786" y="190500"/>
                  <a:pt x="107156" y="190500"/>
                </a:cubicBezTo>
                <a:cubicBezTo>
                  <a:pt x="159767" y="190500"/>
                  <a:pt x="202406" y="147861"/>
                  <a:pt x="202406" y="95250"/>
                </a:cubicBezTo>
                <a:cubicBezTo>
                  <a:pt x="202406" y="42639"/>
                  <a:pt x="159767" y="0"/>
                  <a:pt x="107156" y="0"/>
                </a:cubicBezTo>
                <a:cubicBezTo>
                  <a:pt x="75270" y="0"/>
                  <a:pt x="47067" y="15664"/>
                  <a:pt x="29766" y="39700"/>
                </a:cubicBezTo>
                <a:lnTo>
                  <a:pt x="29766" y="29766"/>
                </a:lnTo>
                <a:cubicBezTo>
                  <a:pt x="29766" y="23180"/>
                  <a:pt x="24445" y="17859"/>
                  <a:pt x="17859" y="17859"/>
                </a:cubicBezTo>
                <a:cubicBezTo>
                  <a:pt x="11274" y="17859"/>
                  <a:pt x="5953" y="23180"/>
                  <a:pt x="5953" y="29766"/>
                </a:cubicBezTo>
                <a:lnTo>
                  <a:pt x="5953" y="71438"/>
                </a:lnTo>
                <a:cubicBezTo>
                  <a:pt x="5953" y="78023"/>
                  <a:pt x="11274" y="83344"/>
                  <a:pt x="17859" y="83344"/>
                </a:cubicBezTo>
                <a:lnTo>
                  <a:pt x="27012" y="83344"/>
                </a:lnTo>
                <a:cubicBezTo>
                  <a:pt x="27198" y="83344"/>
                  <a:pt x="27384" y="83344"/>
                  <a:pt x="27570" y="83344"/>
                </a:cubicBezTo>
                <a:lnTo>
                  <a:pt x="59568" y="83344"/>
                </a:lnTo>
                <a:cubicBezTo>
                  <a:pt x="66154" y="83344"/>
                  <a:pt x="71475" y="78023"/>
                  <a:pt x="71475" y="71438"/>
                </a:cubicBezTo>
                <a:cubicBezTo>
                  <a:pt x="71475" y="64852"/>
                  <a:pt x="66154" y="59531"/>
                  <a:pt x="59568" y="59531"/>
                </a:cubicBezTo>
                <a:lnTo>
                  <a:pt x="45318" y="59531"/>
                </a:lnTo>
                <a:cubicBezTo>
                  <a:pt x="57634" y="38174"/>
                  <a:pt x="80739" y="23812"/>
                  <a:pt x="107156" y="23812"/>
                </a:cubicBezTo>
                <a:close/>
                <a:moveTo>
                  <a:pt x="116086" y="56555"/>
                </a:moveTo>
                <a:cubicBezTo>
                  <a:pt x="116086" y="51606"/>
                  <a:pt x="112105" y="47625"/>
                  <a:pt x="107156" y="47625"/>
                </a:cubicBezTo>
                <a:cubicBezTo>
                  <a:pt x="102208" y="47625"/>
                  <a:pt x="98227" y="51606"/>
                  <a:pt x="98227" y="56555"/>
                </a:cubicBezTo>
                <a:lnTo>
                  <a:pt x="98227" y="95250"/>
                </a:lnTo>
                <a:cubicBezTo>
                  <a:pt x="98227" y="97631"/>
                  <a:pt x="99157" y="99901"/>
                  <a:pt x="100831" y="101575"/>
                </a:cubicBezTo>
                <a:lnTo>
                  <a:pt x="127620" y="128364"/>
                </a:lnTo>
                <a:cubicBezTo>
                  <a:pt x="131118" y="131862"/>
                  <a:pt x="136773" y="131862"/>
                  <a:pt x="140233" y="128364"/>
                </a:cubicBezTo>
                <a:cubicBezTo>
                  <a:pt x="143694" y="124867"/>
                  <a:pt x="143731" y="119211"/>
                  <a:pt x="140233" y="115751"/>
                </a:cubicBezTo>
                <a:lnTo>
                  <a:pt x="116049" y="91567"/>
                </a:lnTo>
                <a:lnTo>
                  <a:pt x="116049" y="56555"/>
                </a:ln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4" name="Text 52"/>
          <p:cNvSpPr/>
          <p:nvPr/>
        </p:nvSpPr>
        <p:spPr>
          <a:xfrm>
            <a:off x="8121774" y="49911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History</a:t>
            </a:r>
            <a:endParaRPr lang="en-US" dirty="0"/>
          </a:p>
        </p:txBody>
      </p:sp>
      <p:sp>
        <p:nvSpPr>
          <p:cNvPr id="55" name="Shape 53"/>
          <p:cNvSpPr/>
          <p:nvPr/>
        </p:nvSpPr>
        <p:spPr>
          <a:xfrm>
            <a:off x="8952830" y="464820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95250" y="23812"/>
                </a:moveTo>
                <a:cubicBezTo>
                  <a:pt x="95250" y="17227"/>
                  <a:pt x="89929" y="11906"/>
                  <a:pt x="83344" y="11906"/>
                </a:cubicBezTo>
                <a:cubicBezTo>
                  <a:pt x="76758" y="11906"/>
                  <a:pt x="71438" y="17227"/>
                  <a:pt x="71438" y="23812"/>
                </a:cubicBezTo>
                <a:lnTo>
                  <a:pt x="71438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71438" y="107156"/>
                </a:lnTo>
                <a:lnTo>
                  <a:pt x="71438" y="166688"/>
                </a:lnTo>
                <a:cubicBezTo>
                  <a:pt x="71438" y="173273"/>
                  <a:pt x="76758" y="178594"/>
                  <a:pt x="83344" y="178594"/>
                </a:cubicBezTo>
                <a:cubicBezTo>
                  <a:pt x="89929" y="178594"/>
                  <a:pt x="95250" y="173273"/>
                  <a:pt x="95250" y="166688"/>
                </a:cubicBezTo>
                <a:lnTo>
                  <a:pt x="95250" y="107156"/>
                </a:lnTo>
                <a:lnTo>
                  <a:pt x="154781" y="107156"/>
                </a:lnTo>
                <a:cubicBezTo>
                  <a:pt x="161367" y="107156"/>
                  <a:pt x="166688" y="101836"/>
                  <a:pt x="166688" y="95250"/>
                </a:cubicBezTo>
                <a:cubicBezTo>
                  <a:pt x="166688" y="88664"/>
                  <a:pt x="161367" y="83344"/>
                  <a:pt x="154781" y="83344"/>
                </a:cubicBezTo>
                <a:lnTo>
                  <a:pt x="95250" y="83344"/>
                </a:lnTo>
                <a:lnTo>
                  <a:pt x="95250" y="23812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6" name="Shape 54"/>
          <p:cNvSpPr/>
          <p:nvPr/>
        </p:nvSpPr>
        <p:spPr>
          <a:xfrm>
            <a:off x="9307637" y="4305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F3E8FF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7" name="Shape 55"/>
          <p:cNvSpPr/>
          <p:nvPr/>
        </p:nvSpPr>
        <p:spPr>
          <a:xfrm>
            <a:off x="9517187" y="4514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1906" y="23812"/>
                </a:moveTo>
                <a:cubicBezTo>
                  <a:pt x="5321" y="23812"/>
                  <a:pt x="0" y="29133"/>
                  <a:pt x="0" y="35719"/>
                </a:cubicBezTo>
                <a:cubicBezTo>
                  <a:pt x="0" y="42304"/>
                  <a:pt x="5321" y="47625"/>
                  <a:pt x="11906" y="47625"/>
                </a:cubicBezTo>
                <a:lnTo>
                  <a:pt x="44165" y="47625"/>
                </a:lnTo>
                <a:cubicBezTo>
                  <a:pt x="48741" y="58155"/>
                  <a:pt x="59234" y="65484"/>
                  <a:pt x="71438" y="65484"/>
                </a:cubicBezTo>
                <a:cubicBezTo>
                  <a:pt x="83641" y="65484"/>
                  <a:pt x="94134" y="58155"/>
                  <a:pt x="98710" y="47625"/>
                </a:cubicBezTo>
                <a:lnTo>
                  <a:pt x="178594" y="47625"/>
                </a:lnTo>
                <a:cubicBezTo>
                  <a:pt x="185179" y="47625"/>
                  <a:pt x="190500" y="42304"/>
                  <a:pt x="190500" y="35719"/>
                </a:cubicBezTo>
                <a:cubicBezTo>
                  <a:pt x="190500" y="29133"/>
                  <a:pt x="185179" y="23812"/>
                  <a:pt x="178594" y="23812"/>
                </a:cubicBezTo>
                <a:lnTo>
                  <a:pt x="98710" y="23812"/>
                </a:lnTo>
                <a:cubicBezTo>
                  <a:pt x="94134" y="13283"/>
                  <a:pt x="83641" y="5953"/>
                  <a:pt x="71438" y="5953"/>
                </a:cubicBezTo>
                <a:cubicBezTo>
                  <a:pt x="59234" y="5953"/>
                  <a:pt x="48741" y="13283"/>
                  <a:pt x="44165" y="23812"/>
                </a:cubicBezTo>
                <a:lnTo>
                  <a:pt x="11906" y="23812"/>
                </a:lnTo>
                <a:close/>
                <a:moveTo>
                  <a:pt x="11906" y="83344"/>
                </a:move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03696" y="107156"/>
                </a:lnTo>
                <a:cubicBezTo>
                  <a:pt x="108272" y="117686"/>
                  <a:pt x="118765" y="125016"/>
                  <a:pt x="130969" y="125016"/>
                </a:cubicBezTo>
                <a:cubicBezTo>
                  <a:pt x="143173" y="125016"/>
                  <a:pt x="153665" y="117686"/>
                  <a:pt x="158242" y="107156"/>
                </a:cubicBezTo>
                <a:lnTo>
                  <a:pt x="178594" y="107156"/>
                </a:lnTo>
                <a:cubicBezTo>
                  <a:pt x="185179" y="107156"/>
                  <a:pt x="190500" y="101836"/>
                  <a:pt x="190500" y="95250"/>
                </a:cubicBezTo>
                <a:cubicBezTo>
                  <a:pt x="190500" y="88664"/>
                  <a:pt x="185179" y="83344"/>
                  <a:pt x="178594" y="83344"/>
                </a:cubicBezTo>
                <a:lnTo>
                  <a:pt x="158242" y="83344"/>
                </a:lnTo>
                <a:cubicBezTo>
                  <a:pt x="153665" y="72814"/>
                  <a:pt x="143173" y="65484"/>
                  <a:pt x="130969" y="65484"/>
                </a:cubicBezTo>
                <a:cubicBezTo>
                  <a:pt x="118765" y="65484"/>
                  <a:pt x="108272" y="72814"/>
                  <a:pt x="103696" y="83344"/>
                </a:cubicBezTo>
                <a:lnTo>
                  <a:pt x="11906" y="83344"/>
                </a:lnTo>
                <a:close/>
                <a:moveTo>
                  <a:pt x="11906" y="142875"/>
                </a:moveTo>
                <a:cubicBezTo>
                  <a:pt x="5321" y="142875"/>
                  <a:pt x="0" y="148196"/>
                  <a:pt x="0" y="154781"/>
                </a:cubicBezTo>
                <a:cubicBezTo>
                  <a:pt x="0" y="161367"/>
                  <a:pt x="5321" y="166688"/>
                  <a:pt x="11906" y="166688"/>
                </a:cubicBezTo>
                <a:lnTo>
                  <a:pt x="32258" y="166688"/>
                </a:lnTo>
                <a:cubicBezTo>
                  <a:pt x="36835" y="177217"/>
                  <a:pt x="47327" y="184547"/>
                  <a:pt x="59531" y="184547"/>
                </a:cubicBezTo>
                <a:cubicBezTo>
                  <a:pt x="71735" y="184547"/>
                  <a:pt x="82228" y="177217"/>
                  <a:pt x="86804" y="166688"/>
                </a:cubicBezTo>
                <a:lnTo>
                  <a:pt x="178594" y="166688"/>
                </a:lnTo>
                <a:cubicBezTo>
                  <a:pt x="185179" y="166688"/>
                  <a:pt x="190500" y="161367"/>
                  <a:pt x="190500" y="154781"/>
                </a:cubicBezTo>
                <a:cubicBezTo>
                  <a:pt x="190500" y="148196"/>
                  <a:pt x="185179" y="142875"/>
                  <a:pt x="178594" y="142875"/>
                </a:cubicBezTo>
                <a:lnTo>
                  <a:pt x="86804" y="142875"/>
                </a:lnTo>
                <a:cubicBezTo>
                  <a:pt x="82228" y="132345"/>
                  <a:pt x="71735" y="125016"/>
                  <a:pt x="59531" y="125016"/>
                </a:cubicBezTo>
                <a:cubicBezTo>
                  <a:pt x="47327" y="125016"/>
                  <a:pt x="36835" y="132345"/>
                  <a:pt x="32258" y="142875"/>
                </a:cubicBezTo>
                <a:lnTo>
                  <a:pt x="11906" y="142875"/>
                </a:lnTo>
                <a:close/>
              </a:path>
            </a:pathLst>
          </a:custGeom>
          <a:solidFill>
            <a:srgbClr val="9810FA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58" name="Text 56"/>
          <p:cNvSpPr/>
          <p:nvPr/>
        </p:nvSpPr>
        <p:spPr>
          <a:xfrm>
            <a:off x="9274299" y="4991100"/>
            <a:ext cx="6762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Context</a:t>
            </a:r>
            <a:endParaRPr lang="en-US" dirty="0"/>
          </a:p>
        </p:txBody>
      </p:sp>
      <p:sp>
        <p:nvSpPr>
          <p:cNvPr id="59" name="Shape 57"/>
          <p:cNvSpPr/>
          <p:nvPr/>
        </p:nvSpPr>
        <p:spPr>
          <a:xfrm>
            <a:off x="10093449" y="464820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187003" y="103659"/>
                </a:moveTo>
                <a:cubicBezTo>
                  <a:pt x="191653" y="99008"/>
                  <a:pt x="191653" y="91455"/>
                  <a:pt x="187003" y="86804"/>
                </a:cubicBezTo>
                <a:lnTo>
                  <a:pt x="127471" y="27273"/>
                </a:lnTo>
                <a:cubicBezTo>
                  <a:pt x="122820" y="22622"/>
                  <a:pt x="115267" y="22622"/>
                  <a:pt x="110617" y="27273"/>
                </a:cubicBezTo>
                <a:cubicBezTo>
                  <a:pt x="105966" y="31924"/>
                  <a:pt x="105966" y="39477"/>
                  <a:pt x="110617" y="44128"/>
                </a:cubicBezTo>
                <a:lnTo>
                  <a:pt x="149833" y="83344"/>
                </a:lnTo>
                <a:lnTo>
                  <a:pt x="11906" y="83344"/>
                </a:lnTo>
                <a:cubicBezTo>
                  <a:pt x="5321" y="83344"/>
                  <a:pt x="0" y="88664"/>
                  <a:pt x="0" y="95250"/>
                </a:cubicBezTo>
                <a:cubicBezTo>
                  <a:pt x="0" y="101836"/>
                  <a:pt x="5321" y="107156"/>
                  <a:pt x="11906" y="107156"/>
                </a:cubicBezTo>
                <a:lnTo>
                  <a:pt x="149833" y="107156"/>
                </a:lnTo>
                <a:lnTo>
                  <a:pt x="110617" y="146372"/>
                </a:lnTo>
                <a:cubicBezTo>
                  <a:pt x="105966" y="151023"/>
                  <a:pt x="105966" y="158576"/>
                  <a:pt x="110617" y="163227"/>
                </a:cubicBezTo>
                <a:cubicBezTo>
                  <a:pt x="115267" y="167878"/>
                  <a:pt x="122820" y="167878"/>
                  <a:pt x="127471" y="163227"/>
                </a:cubicBezTo>
                <a:lnTo>
                  <a:pt x="187003" y="103696"/>
                </a:ln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0" name="Shape 58"/>
          <p:cNvSpPr/>
          <p:nvPr/>
        </p:nvSpPr>
        <p:spPr>
          <a:xfrm>
            <a:off x="10567913" y="4305300"/>
            <a:ext cx="609600" cy="609600"/>
          </a:xfrm>
          <a:custGeom>
            <a:avLst/>
            <a:gdLst/>
            <a:ahLst/>
            <a:cxnLst/>
            <a:rect l="l" t="t" r="r" b="b"/>
            <a:pathLst>
              <a:path w="609600" h="609600">
                <a:moveTo>
                  <a:pt x="114300" y="0"/>
                </a:moveTo>
                <a:lnTo>
                  <a:pt x="495300" y="0"/>
                </a:lnTo>
                <a:cubicBezTo>
                  <a:pt x="558384" y="0"/>
                  <a:pt x="609600" y="51216"/>
                  <a:pt x="609600" y="114300"/>
                </a:cubicBezTo>
                <a:lnTo>
                  <a:pt x="609600" y="495300"/>
                </a:lnTo>
                <a:cubicBezTo>
                  <a:pt x="609600" y="558384"/>
                  <a:pt x="558384" y="609600"/>
                  <a:pt x="495300" y="609600"/>
                </a:cubicBezTo>
                <a:lnTo>
                  <a:pt x="114300" y="609600"/>
                </a:lnTo>
                <a:cubicBezTo>
                  <a:pt x="51216" y="609600"/>
                  <a:pt x="0" y="558384"/>
                  <a:pt x="0" y="4953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1" name="Shape 59"/>
          <p:cNvSpPr/>
          <p:nvPr/>
        </p:nvSpPr>
        <p:spPr>
          <a:xfrm>
            <a:off x="10777463" y="4514850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4648" y="20836"/>
                </a:moveTo>
                <a:cubicBezTo>
                  <a:pt x="44648" y="9339"/>
                  <a:pt x="53987" y="0"/>
                  <a:pt x="65484" y="0"/>
                </a:cubicBezTo>
                <a:lnTo>
                  <a:pt x="74414" y="0"/>
                </a:lnTo>
                <a:cubicBezTo>
                  <a:pt x="81000" y="0"/>
                  <a:pt x="86320" y="5321"/>
                  <a:pt x="86320" y="11906"/>
                </a:cubicBezTo>
                <a:lnTo>
                  <a:pt x="86320" y="178594"/>
                </a:lnTo>
                <a:cubicBezTo>
                  <a:pt x="86320" y="185179"/>
                  <a:pt x="81000" y="190500"/>
                  <a:pt x="74414" y="190500"/>
                </a:cubicBezTo>
                <a:lnTo>
                  <a:pt x="62508" y="190500"/>
                </a:lnTo>
                <a:cubicBezTo>
                  <a:pt x="51420" y="190500"/>
                  <a:pt x="42081" y="182910"/>
                  <a:pt x="39439" y="172641"/>
                </a:cubicBezTo>
                <a:cubicBezTo>
                  <a:pt x="39179" y="172641"/>
                  <a:pt x="38956" y="172641"/>
                  <a:pt x="38695" y="172641"/>
                </a:cubicBezTo>
                <a:cubicBezTo>
                  <a:pt x="22250" y="172641"/>
                  <a:pt x="8930" y="159321"/>
                  <a:pt x="8930" y="142875"/>
                </a:cubicBezTo>
                <a:cubicBezTo>
                  <a:pt x="8930" y="136178"/>
                  <a:pt x="11162" y="130001"/>
                  <a:pt x="14883" y="125016"/>
                </a:cubicBezTo>
                <a:cubicBezTo>
                  <a:pt x="7665" y="119583"/>
                  <a:pt x="2977" y="110951"/>
                  <a:pt x="2977" y="101203"/>
                </a:cubicBezTo>
                <a:cubicBezTo>
                  <a:pt x="2977" y="89706"/>
                  <a:pt x="9525" y="79697"/>
                  <a:pt x="19050" y="74749"/>
                </a:cubicBezTo>
                <a:cubicBezTo>
                  <a:pt x="16408" y="70284"/>
                  <a:pt x="14883" y="65075"/>
                  <a:pt x="14883" y="59531"/>
                </a:cubicBezTo>
                <a:cubicBezTo>
                  <a:pt x="14883" y="43086"/>
                  <a:pt x="28203" y="29766"/>
                  <a:pt x="44648" y="29766"/>
                </a:cubicBezTo>
                <a:lnTo>
                  <a:pt x="44648" y="20836"/>
                </a:lnTo>
                <a:close/>
                <a:moveTo>
                  <a:pt x="145852" y="20836"/>
                </a:moveTo>
                <a:lnTo>
                  <a:pt x="145852" y="29766"/>
                </a:lnTo>
                <a:cubicBezTo>
                  <a:pt x="162297" y="29766"/>
                  <a:pt x="175617" y="43086"/>
                  <a:pt x="175617" y="59531"/>
                </a:cubicBezTo>
                <a:cubicBezTo>
                  <a:pt x="175617" y="65112"/>
                  <a:pt x="174092" y="70321"/>
                  <a:pt x="171450" y="74749"/>
                </a:cubicBezTo>
                <a:cubicBezTo>
                  <a:pt x="181012" y="79697"/>
                  <a:pt x="187523" y="89669"/>
                  <a:pt x="187523" y="101203"/>
                </a:cubicBezTo>
                <a:cubicBezTo>
                  <a:pt x="187523" y="110951"/>
                  <a:pt x="182835" y="119583"/>
                  <a:pt x="175617" y="125016"/>
                </a:cubicBezTo>
                <a:cubicBezTo>
                  <a:pt x="179338" y="130001"/>
                  <a:pt x="181570" y="136178"/>
                  <a:pt x="181570" y="142875"/>
                </a:cubicBezTo>
                <a:cubicBezTo>
                  <a:pt x="181570" y="159321"/>
                  <a:pt x="168250" y="172641"/>
                  <a:pt x="151805" y="172641"/>
                </a:cubicBezTo>
                <a:cubicBezTo>
                  <a:pt x="151544" y="172641"/>
                  <a:pt x="151321" y="172641"/>
                  <a:pt x="151061" y="172641"/>
                </a:cubicBezTo>
                <a:cubicBezTo>
                  <a:pt x="148419" y="182910"/>
                  <a:pt x="139080" y="190500"/>
                  <a:pt x="127992" y="190500"/>
                </a:cubicBezTo>
                <a:lnTo>
                  <a:pt x="116086" y="190500"/>
                </a:lnTo>
                <a:cubicBezTo>
                  <a:pt x="109500" y="190500"/>
                  <a:pt x="104180" y="185179"/>
                  <a:pt x="104180" y="178594"/>
                </a:cubicBezTo>
                <a:lnTo>
                  <a:pt x="104180" y="11906"/>
                </a:lnTo>
                <a:cubicBezTo>
                  <a:pt x="104180" y="5321"/>
                  <a:pt x="109500" y="0"/>
                  <a:pt x="116086" y="0"/>
                </a:cubicBezTo>
                <a:lnTo>
                  <a:pt x="125016" y="0"/>
                </a:lnTo>
                <a:cubicBezTo>
                  <a:pt x="136513" y="0"/>
                  <a:pt x="145852" y="9339"/>
                  <a:pt x="145852" y="20836"/>
                </a:cubicBez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62" name="Text 60"/>
          <p:cNvSpPr/>
          <p:nvPr/>
        </p:nvSpPr>
        <p:spPr>
          <a:xfrm>
            <a:off x="10426824" y="4991100"/>
            <a:ext cx="895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20000"/>
              </a:lnSpc>
            </a:pPr>
            <a:r>
              <a:rPr lang="en-US" sz="1100" b="1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Unified Model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C1D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ARCHITECTURE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Analytics Layer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213694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Intelligent processing pipeline for anomaly detection and risk assessment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385763" y="1566863"/>
            <a:ext cx="5917764" cy="1838325"/>
          </a:xfrm>
          <a:custGeom>
            <a:avLst/>
            <a:gdLst/>
            <a:ahLst/>
            <a:cxnLst/>
            <a:rect l="l" t="t" r="r" b="b"/>
            <a:pathLst>
              <a:path w="5610225" h="18383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724018"/>
                </a:lnTo>
                <a:cubicBezTo>
                  <a:pt x="5610225" y="1787148"/>
                  <a:pt x="5559048" y="1838325"/>
                  <a:pt x="549591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6" name="Shape 4"/>
          <p:cNvSpPr/>
          <p:nvPr/>
        </p:nvSpPr>
        <p:spPr>
          <a:xfrm>
            <a:off x="581024" y="1762125"/>
            <a:ext cx="482263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B2C36"/>
              </a:gs>
              <a:gs pos="100000">
                <a:srgbClr val="E7000B"/>
              </a:gs>
            </a:gsLst>
            <a:lin ang="2700000" scaled="1"/>
          </a:gra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7" name="Text 5"/>
          <p:cNvSpPr/>
          <p:nvPr/>
        </p:nvSpPr>
        <p:spPr>
          <a:xfrm>
            <a:off x="771525" y="1857375"/>
            <a:ext cx="18084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1</a:t>
            </a: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152524" y="1857375"/>
            <a:ext cx="241131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Detect Abnormal Behavior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81025" y="2333625"/>
            <a:ext cx="558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anomalous patterns in sensor streams that deviate from normal operating conditions.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581025" y="2943225"/>
            <a:ext cx="1466882" cy="266700"/>
          </a:xfrm>
          <a:custGeom>
            <a:avLst/>
            <a:gdLst/>
            <a:ahLst/>
            <a:cxnLst/>
            <a:rect l="l" t="t" r="r" b="b"/>
            <a:pathLst>
              <a:path w="1390650" h="266700">
                <a:moveTo>
                  <a:pt x="133350" y="0"/>
                </a:moveTo>
                <a:lnTo>
                  <a:pt x="1257300" y="0"/>
                </a:lnTo>
                <a:cubicBezTo>
                  <a:pt x="1330898" y="0"/>
                  <a:pt x="1390650" y="59752"/>
                  <a:pt x="1390650" y="133350"/>
                </a:cubicBezTo>
                <a:lnTo>
                  <a:pt x="1390650" y="133350"/>
                </a:lnTo>
                <a:cubicBezTo>
                  <a:pt x="1390650" y="206948"/>
                  <a:pt x="1330898" y="266700"/>
                  <a:pt x="12573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E2E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1" name="Text 9"/>
          <p:cNvSpPr/>
          <p:nvPr/>
        </p:nvSpPr>
        <p:spPr>
          <a:xfrm>
            <a:off x="581025" y="2943225"/>
            <a:ext cx="1537212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Pattern Recognition</a:t>
            </a:r>
            <a:endParaRPr lang="en-US" dirty="0"/>
          </a:p>
        </p:txBody>
      </p:sp>
      <p:sp>
        <p:nvSpPr>
          <p:cNvPr id="12" name="Shape 10"/>
          <p:cNvSpPr/>
          <p:nvPr/>
        </p:nvSpPr>
        <p:spPr>
          <a:xfrm>
            <a:off x="2047503" y="2943225"/>
            <a:ext cx="1296081" cy="266700"/>
          </a:xfrm>
          <a:custGeom>
            <a:avLst/>
            <a:gdLst/>
            <a:ahLst/>
            <a:cxnLst/>
            <a:rect l="l" t="t" r="r" b="b"/>
            <a:pathLst>
              <a:path w="1228725" h="266700">
                <a:moveTo>
                  <a:pt x="133350" y="0"/>
                </a:moveTo>
                <a:lnTo>
                  <a:pt x="1095375" y="0"/>
                </a:lnTo>
                <a:cubicBezTo>
                  <a:pt x="1168973" y="0"/>
                  <a:pt x="1228725" y="59752"/>
                  <a:pt x="1228725" y="133350"/>
                </a:cubicBezTo>
                <a:lnTo>
                  <a:pt x="1228725" y="133350"/>
                </a:lnTo>
                <a:cubicBezTo>
                  <a:pt x="1228725" y="206948"/>
                  <a:pt x="1168973" y="266700"/>
                  <a:pt x="10953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E2E2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3" name="Text 11"/>
          <p:cNvSpPr/>
          <p:nvPr/>
        </p:nvSpPr>
        <p:spPr>
          <a:xfrm>
            <a:off x="2047502" y="2943225"/>
            <a:ext cx="1366411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C10007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Outlier Detection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385763" y="3567113"/>
            <a:ext cx="5917764" cy="1838325"/>
          </a:xfrm>
          <a:custGeom>
            <a:avLst/>
            <a:gdLst/>
            <a:ahLst/>
            <a:cxnLst/>
            <a:rect l="l" t="t" r="r" b="b"/>
            <a:pathLst>
              <a:path w="5610225" h="18383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724018"/>
                </a:lnTo>
                <a:cubicBezTo>
                  <a:pt x="5610225" y="1787148"/>
                  <a:pt x="5559048" y="1838325"/>
                  <a:pt x="549591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15" name="Shape 13"/>
          <p:cNvSpPr/>
          <p:nvPr/>
        </p:nvSpPr>
        <p:spPr>
          <a:xfrm>
            <a:off x="581024" y="3762375"/>
            <a:ext cx="482263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FF6900"/>
              </a:gs>
              <a:gs pos="100000">
                <a:srgbClr val="F54900"/>
              </a:gs>
            </a:gsLst>
            <a:lin ang="2700000" scaled="1"/>
          </a:gra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16" name="Text 14"/>
          <p:cNvSpPr/>
          <p:nvPr/>
        </p:nvSpPr>
        <p:spPr>
          <a:xfrm>
            <a:off x="754260" y="3857625"/>
            <a:ext cx="221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2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1152525" y="3857625"/>
            <a:ext cx="291367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 Near-Future Failure Risk</a:t>
            </a: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581025" y="4333875"/>
            <a:ext cx="558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Forecast probability of component failure within upcoming operational windows.</a:t>
            </a: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581025" y="4943475"/>
            <a:ext cx="994667" cy="266700"/>
          </a:xfrm>
          <a:custGeom>
            <a:avLst/>
            <a:gdLst/>
            <a:ahLst/>
            <a:cxnLst/>
            <a:rect l="l" t="t" r="r" b="b"/>
            <a:pathLst>
              <a:path w="942975" h="266700">
                <a:moveTo>
                  <a:pt x="133350" y="0"/>
                </a:moveTo>
                <a:lnTo>
                  <a:pt x="809625" y="0"/>
                </a:lnTo>
                <a:cubicBezTo>
                  <a:pt x="883223" y="0"/>
                  <a:pt x="942975" y="59752"/>
                  <a:pt x="942975" y="133350"/>
                </a:cubicBezTo>
                <a:lnTo>
                  <a:pt x="942975" y="133350"/>
                </a:lnTo>
                <a:cubicBezTo>
                  <a:pt x="942975" y="206948"/>
                  <a:pt x="883223" y="266700"/>
                  <a:pt x="8096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EDD4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0" name="Text 18"/>
          <p:cNvSpPr/>
          <p:nvPr/>
        </p:nvSpPr>
        <p:spPr>
          <a:xfrm>
            <a:off x="581024" y="4943475"/>
            <a:ext cx="1064997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CA3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Time-Series</a:t>
            </a: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602729" y="4943475"/>
            <a:ext cx="1225751" cy="266700"/>
          </a:xfrm>
          <a:custGeom>
            <a:avLst/>
            <a:gdLst/>
            <a:ahLst/>
            <a:cxnLst/>
            <a:rect l="l" t="t" r="r" b="b"/>
            <a:pathLst>
              <a:path w="1162050" h="266700">
                <a:moveTo>
                  <a:pt x="133350" y="0"/>
                </a:moveTo>
                <a:lnTo>
                  <a:pt x="1028700" y="0"/>
                </a:lnTo>
                <a:cubicBezTo>
                  <a:pt x="1102298" y="0"/>
                  <a:pt x="1162050" y="59752"/>
                  <a:pt x="1162050" y="133350"/>
                </a:cubicBezTo>
                <a:lnTo>
                  <a:pt x="1162050" y="133350"/>
                </a:lnTo>
                <a:cubicBezTo>
                  <a:pt x="1162050" y="206948"/>
                  <a:pt x="1102298" y="266700"/>
                  <a:pt x="10287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FFEDD4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2" name="Text 20"/>
          <p:cNvSpPr/>
          <p:nvPr/>
        </p:nvSpPr>
        <p:spPr>
          <a:xfrm>
            <a:off x="1602730" y="4943475"/>
            <a:ext cx="1296081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CA350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Survival Models</a:t>
            </a: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6196013" y="1566863"/>
            <a:ext cx="5917764" cy="1838325"/>
          </a:xfrm>
          <a:custGeom>
            <a:avLst/>
            <a:gdLst/>
            <a:ahLst/>
            <a:cxnLst/>
            <a:rect l="l" t="t" r="r" b="b"/>
            <a:pathLst>
              <a:path w="5610225" h="18383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724018"/>
                </a:lnTo>
                <a:cubicBezTo>
                  <a:pt x="5610225" y="1787148"/>
                  <a:pt x="5559048" y="1838325"/>
                  <a:pt x="549591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24" name="Shape 22"/>
          <p:cNvSpPr/>
          <p:nvPr/>
        </p:nvSpPr>
        <p:spPr>
          <a:xfrm>
            <a:off x="6391274" y="1762125"/>
            <a:ext cx="482263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2B7FFF"/>
              </a:gs>
              <a:gs pos="100000">
                <a:srgbClr val="155DFC"/>
              </a:gs>
            </a:gsLst>
            <a:lin ang="2700000" scaled="1"/>
          </a:gra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5" name="Text 23"/>
          <p:cNvSpPr/>
          <p:nvPr/>
        </p:nvSpPr>
        <p:spPr>
          <a:xfrm>
            <a:off x="6563617" y="1857375"/>
            <a:ext cx="221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3</a:t>
            </a: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6962775" y="1857375"/>
            <a:ext cx="29237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Provide Uncertainty Confidence</a:t>
            </a: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6391275" y="2333625"/>
            <a:ext cx="558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Quantify prediction confidence to support risk-aware decision making under uncertainty.</a:t>
            </a: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6391274" y="2943225"/>
            <a:ext cx="1386505" cy="266700"/>
          </a:xfrm>
          <a:custGeom>
            <a:avLst/>
            <a:gdLst/>
            <a:ahLst/>
            <a:cxnLst/>
            <a:rect l="l" t="t" r="r" b="b"/>
            <a:pathLst>
              <a:path w="1314450" h="266700">
                <a:moveTo>
                  <a:pt x="133350" y="0"/>
                </a:moveTo>
                <a:lnTo>
                  <a:pt x="1181100" y="0"/>
                </a:lnTo>
                <a:cubicBezTo>
                  <a:pt x="1254698" y="0"/>
                  <a:pt x="1314450" y="59752"/>
                  <a:pt x="1314450" y="133350"/>
                </a:cubicBezTo>
                <a:lnTo>
                  <a:pt x="1314450" y="133350"/>
                </a:lnTo>
                <a:cubicBezTo>
                  <a:pt x="1314450" y="206948"/>
                  <a:pt x="1254698" y="266700"/>
                  <a:pt x="1181100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BEAF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29" name="Text 27"/>
          <p:cNvSpPr/>
          <p:nvPr/>
        </p:nvSpPr>
        <p:spPr>
          <a:xfrm>
            <a:off x="6391275" y="2943225"/>
            <a:ext cx="145683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1447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Bayesian Methods</a:t>
            </a: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7777683" y="2943225"/>
            <a:ext cx="1517118" cy="266700"/>
          </a:xfrm>
          <a:custGeom>
            <a:avLst/>
            <a:gdLst/>
            <a:ahLst/>
            <a:cxnLst/>
            <a:rect l="l" t="t" r="r" b="b"/>
            <a:pathLst>
              <a:path w="1438275" h="266700">
                <a:moveTo>
                  <a:pt x="133350" y="0"/>
                </a:moveTo>
                <a:lnTo>
                  <a:pt x="1304925" y="0"/>
                </a:lnTo>
                <a:cubicBezTo>
                  <a:pt x="1378523" y="0"/>
                  <a:pt x="1438275" y="59752"/>
                  <a:pt x="1438275" y="133350"/>
                </a:cubicBezTo>
                <a:lnTo>
                  <a:pt x="1438275" y="133350"/>
                </a:lnTo>
                <a:cubicBezTo>
                  <a:pt x="1438275" y="206948"/>
                  <a:pt x="1378523" y="266700"/>
                  <a:pt x="13049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BEAFE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1" name="Text 29"/>
          <p:cNvSpPr/>
          <p:nvPr/>
        </p:nvSpPr>
        <p:spPr>
          <a:xfrm>
            <a:off x="7777683" y="2943225"/>
            <a:ext cx="1587448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1447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Confidence Intervals</a:t>
            </a: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196013" y="3567113"/>
            <a:ext cx="5917764" cy="1838325"/>
          </a:xfrm>
          <a:custGeom>
            <a:avLst/>
            <a:gdLst/>
            <a:ahLst/>
            <a:cxnLst/>
            <a:rect l="l" t="t" r="r" b="b"/>
            <a:pathLst>
              <a:path w="5610225" h="1838325">
                <a:moveTo>
                  <a:pt x="114307" y="0"/>
                </a:moveTo>
                <a:lnTo>
                  <a:pt x="5495918" y="0"/>
                </a:lnTo>
                <a:cubicBezTo>
                  <a:pt x="5559048" y="0"/>
                  <a:pt x="5610225" y="51177"/>
                  <a:pt x="5610225" y="114307"/>
                </a:cubicBezTo>
                <a:lnTo>
                  <a:pt x="5610225" y="1724018"/>
                </a:lnTo>
                <a:cubicBezTo>
                  <a:pt x="5610225" y="1787148"/>
                  <a:pt x="5559048" y="1838325"/>
                  <a:pt x="5495918" y="1838325"/>
                </a:cubicBezTo>
                <a:lnTo>
                  <a:pt x="114307" y="1838325"/>
                </a:lnTo>
                <a:cubicBezTo>
                  <a:pt x="51177" y="1838325"/>
                  <a:pt x="0" y="1787148"/>
                  <a:pt x="0" y="17240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142875" dist="9525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000"/>
          </a:p>
        </p:txBody>
      </p:sp>
      <p:sp>
        <p:nvSpPr>
          <p:cNvPr id="33" name="Shape 31"/>
          <p:cNvSpPr/>
          <p:nvPr/>
        </p:nvSpPr>
        <p:spPr>
          <a:xfrm>
            <a:off x="6391274" y="3762375"/>
            <a:ext cx="482263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C950"/>
              </a:gs>
              <a:gs pos="100000">
                <a:srgbClr val="00A63E"/>
              </a:gs>
            </a:gsLst>
            <a:lin ang="2700000" scaled="1"/>
          </a:gra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4" name="Text 32"/>
          <p:cNvSpPr/>
          <p:nvPr/>
        </p:nvSpPr>
        <p:spPr>
          <a:xfrm>
            <a:off x="6563766" y="3857625"/>
            <a:ext cx="22103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4</a:t>
            </a:r>
            <a:endParaRPr lang="en-US" dirty="0"/>
          </a:p>
        </p:txBody>
      </p:sp>
      <p:sp>
        <p:nvSpPr>
          <p:cNvPr id="35" name="Text 33"/>
          <p:cNvSpPr/>
          <p:nvPr/>
        </p:nvSpPr>
        <p:spPr>
          <a:xfrm>
            <a:off x="6962775" y="3857625"/>
            <a:ext cx="2622303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Identify Contributing Signals</a:t>
            </a:r>
            <a:endParaRPr lang="en-US" dirty="0"/>
          </a:p>
        </p:txBody>
      </p:sp>
      <p:sp>
        <p:nvSpPr>
          <p:cNvPr id="36" name="Text 34"/>
          <p:cNvSpPr/>
          <p:nvPr/>
        </p:nvSpPr>
        <p:spPr>
          <a:xfrm>
            <a:off x="6391275" y="4333875"/>
            <a:ext cx="5586208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 which sensor readings and patterns drive risk predictions for transparency.</a:t>
            </a:r>
            <a:endParaRPr lang="en-US" dirty="0"/>
          </a:p>
        </p:txBody>
      </p:sp>
      <p:sp>
        <p:nvSpPr>
          <p:cNvPr id="37" name="Shape 35"/>
          <p:cNvSpPr/>
          <p:nvPr/>
        </p:nvSpPr>
        <p:spPr>
          <a:xfrm>
            <a:off x="6391275" y="4943475"/>
            <a:ext cx="1456835" cy="266700"/>
          </a:xfrm>
          <a:custGeom>
            <a:avLst/>
            <a:gdLst/>
            <a:ahLst/>
            <a:cxnLst/>
            <a:rect l="l" t="t" r="r" b="b"/>
            <a:pathLst>
              <a:path w="1381125" h="266700">
                <a:moveTo>
                  <a:pt x="133350" y="0"/>
                </a:moveTo>
                <a:lnTo>
                  <a:pt x="1247775" y="0"/>
                </a:lnTo>
                <a:cubicBezTo>
                  <a:pt x="1321373" y="0"/>
                  <a:pt x="1381125" y="59752"/>
                  <a:pt x="1381125" y="133350"/>
                </a:cubicBezTo>
                <a:lnTo>
                  <a:pt x="1381125" y="133350"/>
                </a:lnTo>
                <a:cubicBezTo>
                  <a:pt x="1381125" y="206948"/>
                  <a:pt x="1321373" y="266700"/>
                  <a:pt x="124777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38" name="Text 36"/>
          <p:cNvSpPr/>
          <p:nvPr/>
        </p:nvSpPr>
        <p:spPr>
          <a:xfrm>
            <a:off x="6391274" y="4943475"/>
            <a:ext cx="1527165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Feature Importance</a:t>
            </a:r>
            <a:endParaRPr lang="en-US" dirty="0"/>
          </a:p>
        </p:txBody>
      </p:sp>
      <p:sp>
        <p:nvSpPr>
          <p:cNvPr id="39" name="Shape 37"/>
          <p:cNvSpPr/>
          <p:nvPr/>
        </p:nvSpPr>
        <p:spPr>
          <a:xfrm>
            <a:off x="7846516" y="4943475"/>
            <a:ext cx="1115232" cy="266700"/>
          </a:xfrm>
          <a:custGeom>
            <a:avLst/>
            <a:gdLst/>
            <a:ahLst/>
            <a:cxnLst/>
            <a:rect l="l" t="t" r="r" b="b"/>
            <a:pathLst>
              <a:path w="1057275" h="266700">
                <a:moveTo>
                  <a:pt x="133350" y="0"/>
                </a:moveTo>
                <a:lnTo>
                  <a:pt x="923925" y="0"/>
                </a:lnTo>
                <a:cubicBezTo>
                  <a:pt x="997523" y="0"/>
                  <a:pt x="1057275" y="59752"/>
                  <a:pt x="1057275" y="133350"/>
                </a:cubicBezTo>
                <a:lnTo>
                  <a:pt x="1057275" y="133350"/>
                </a:lnTo>
                <a:cubicBezTo>
                  <a:pt x="1057275" y="206948"/>
                  <a:pt x="997523" y="266700"/>
                  <a:pt x="923925" y="266700"/>
                </a:cubicBezTo>
                <a:lnTo>
                  <a:pt x="133350" y="266700"/>
                </a:lnTo>
                <a:cubicBezTo>
                  <a:pt x="59752" y="266700"/>
                  <a:pt x="0" y="206948"/>
                  <a:pt x="0" y="133350"/>
                </a:cubicBezTo>
                <a:lnTo>
                  <a:pt x="0" y="133350"/>
                </a:lnTo>
                <a:cubicBezTo>
                  <a:pt x="0" y="59752"/>
                  <a:pt x="59752" y="0"/>
                  <a:pt x="133350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US" sz="2000"/>
          </a:p>
        </p:txBody>
      </p:sp>
      <p:sp>
        <p:nvSpPr>
          <p:cNvPr id="40" name="Text 38"/>
          <p:cNvSpPr/>
          <p:nvPr/>
        </p:nvSpPr>
        <p:spPr>
          <a:xfrm>
            <a:off x="7846516" y="4943475"/>
            <a:ext cx="1185562" cy="266700"/>
          </a:xfrm>
          <a:prstGeom prst="rect">
            <a:avLst/>
          </a:prstGeom>
          <a:noFill/>
          <a:ln/>
        </p:spPr>
        <p:txBody>
          <a:bodyPr wrap="square" lIns="114300" tIns="38100" rIns="114300" bIns="3810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Explainable AI</a:t>
            </a:r>
            <a:endParaRPr lang="en-US" dirty="0"/>
          </a:p>
        </p:txBody>
      </p:sp>
      <p:sp>
        <p:nvSpPr>
          <p:cNvPr id="41" name="Shape 39"/>
          <p:cNvSpPr/>
          <p:nvPr/>
        </p:nvSpPr>
        <p:spPr>
          <a:xfrm>
            <a:off x="381000" y="5943600"/>
            <a:ext cx="11430000" cy="533400"/>
          </a:xfrm>
          <a:custGeom>
            <a:avLst/>
            <a:gdLst/>
            <a:ahLst/>
            <a:cxnLst/>
            <a:rect l="l" t="t" r="r" b="b"/>
            <a:pathLst>
              <a:path w="11430000" h="533400">
                <a:moveTo>
                  <a:pt x="114302" y="0"/>
                </a:moveTo>
                <a:lnTo>
                  <a:pt x="11315698" y="0"/>
                </a:lnTo>
                <a:cubicBezTo>
                  <a:pt x="11378783" y="0"/>
                  <a:pt x="11430000" y="51217"/>
                  <a:pt x="11430000" y="114302"/>
                </a:cubicBezTo>
                <a:lnTo>
                  <a:pt x="11430000" y="419098"/>
                </a:lnTo>
                <a:cubicBezTo>
                  <a:pt x="11430000" y="482183"/>
                  <a:pt x="11378783" y="533400"/>
                  <a:pt x="113156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gradFill flip="none" rotWithShape="1">
            <a:gsLst>
              <a:gs pos="0">
                <a:srgbClr val="8C1D40">
                  <a:alpha val="10000"/>
                </a:srgbClr>
              </a:gs>
              <a:gs pos="100000">
                <a:srgbClr val="FFC627">
                  <a:alpha val="10000"/>
                </a:srgbClr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3" name="Text 41"/>
          <p:cNvSpPr/>
          <p:nvPr/>
        </p:nvSpPr>
        <p:spPr>
          <a:xfrm>
            <a:off x="3563838" y="6096000"/>
            <a:ext cx="1276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5066109" y="60960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5500501" y="6096000"/>
            <a:ext cx="10477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Neural Models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6973119" y="6096000"/>
            <a:ext cx="9525" cy="22860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9525" y="0"/>
                </a:lnTo>
                <a:lnTo>
                  <a:pt x="9525" y="228600"/>
                </a:lnTo>
                <a:lnTo>
                  <a:pt x="0" y="228600"/>
                </a:lnTo>
                <a:lnTo>
                  <a:pt x="0" y="0"/>
                </a:lnTo>
                <a:close/>
              </a:path>
            </a:pathLst>
          </a:custGeom>
          <a:solidFill>
            <a:srgbClr val="D1D5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/>
          <p:nvPr/>
        </p:nvSpPr>
        <p:spPr>
          <a:xfrm>
            <a:off x="7484566" y="6096000"/>
            <a:ext cx="141922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b="1" dirty="0">
                <a:solidFill>
                  <a:srgbClr val="364153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Bayesian Reasoning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C1D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ENGINE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Layer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Transforming risk assessments into actionable maintenance plans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385763" y="1490663"/>
            <a:ext cx="5981700" cy="1057275"/>
          </a:xfrm>
          <a:custGeom>
            <a:avLst/>
            <a:gdLst/>
            <a:ahLst/>
            <a:cxnLst/>
            <a:rect l="l" t="t" r="r" b="b"/>
            <a:pathLst>
              <a:path w="5981700" h="1057275">
                <a:moveTo>
                  <a:pt x="114302" y="0"/>
                </a:moveTo>
                <a:lnTo>
                  <a:pt x="5867398" y="0"/>
                </a:lnTo>
                <a:cubicBezTo>
                  <a:pt x="5930525" y="0"/>
                  <a:pt x="5981700" y="51175"/>
                  <a:pt x="5981700" y="114302"/>
                </a:cubicBezTo>
                <a:lnTo>
                  <a:pt x="5981700" y="942973"/>
                </a:lnTo>
                <a:cubicBezTo>
                  <a:pt x="5981700" y="1006100"/>
                  <a:pt x="5930525" y="1057275"/>
                  <a:pt x="5867398" y="1057275"/>
                </a:cubicBezTo>
                <a:lnTo>
                  <a:pt x="114302" y="1057275"/>
                </a:lnTo>
                <a:cubicBezTo>
                  <a:pt x="51175" y="1057275"/>
                  <a:pt x="0" y="1006100"/>
                  <a:pt x="0" y="94297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6" name="Shape 4"/>
          <p:cNvSpPr/>
          <p:nvPr/>
        </p:nvSpPr>
        <p:spPr>
          <a:xfrm>
            <a:off x="542925" y="1647825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7" name="Shape 5"/>
          <p:cNvSpPr/>
          <p:nvPr/>
        </p:nvSpPr>
        <p:spPr>
          <a:xfrm>
            <a:off x="652463" y="1781175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42875" y="11906"/>
                </a:moveTo>
                <a:lnTo>
                  <a:pt x="190500" y="11906"/>
                </a:lnTo>
                <a:cubicBezTo>
                  <a:pt x="197086" y="11906"/>
                  <a:pt x="202406" y="17227"/>
                  <a:pt x="202406" y="23812"/>
                </a:cubicBezTo>
                <a:cubicBezTo>
                  <a:pt x="202406" y="30398"/>
                  <a:pt x="197086" y="35719"/>
                  <a:pt x="190500" y="35719"/>
                </a:cubicBezTo>
                <a:lnTo>
                  <a:pt x="148233" y="35719"/>
                </a:lnTo>
                <a:cubicBezTo>
                  <a:pt x="146298" y="45318"/>
                  <a:pt x="139712" y="53243"/>
                  <a:pt x="130969" y="57038"/>
                </a:cubicBezTo>
                <a:lnTo>
                  <a:pt x="130969" y="166688"/>
                </a:lnTo>
                <a:lnTo>
                  <a:pt x="190500" y="166688"/>
                </a:lnTo>
                <a:cubicBezTo>
                  <a:pt x="197086" y="166688"/>
                  <a:pt x="202406" y="172008"/>
                  <a:pt x="202406" y="178594"/>
                </a:cubicBezTo>
                <a:cubicBezTo>
                  <a:pt x="202406" y="185179"/>
                  <a:pt x="197086" y="190500"/>
                  <a:pt x="190500" y="190500"/>
                </a:cubicBezTo>
                <a:lnTo>
                  <a:pt x="47625" y="190500"/>
                </a:lnTo>
                <a:cubicBezTo>
                  <a:pt x="41039" y="190500"/>
                  <a:pt x="35719" y="185179"/>
                  <a:pt x="35719" y="178594"/>
                </a:cubicBezTo>
                <a:cubicBezTo>
                  <a:pt x="35719" y="172008"/>
                  <a:pt x="41039" y="166688"/>
                  <a:pt x="47625" y="166688"/>
                </a:cubicBezTo>
                <a:lnTo>
                  <a:pt x="107156" y="166688"/>
                </a:lnTo>
                <a:lnTo>
                  <a:pt x="107156" y="57038"/>
                </a:lnTo>
                <a:cubicBezTo>
                  <a:pt x="98413" y="53206"/>
                  <a:pt x="91827" y="45281"/>
                  <a:pt x="89892" y="35719"/>
                </a:cubicBezTo>
                <a:lnTo>
                  <a:pt x="47625" y="35719"/>
                </a:lnTo>
                <a:cubicBezTo>
                  <a:pt x="41039" y="35719"/>
                  <a:pt x="35719" y="30398"/>
                  <a:pt x="35719" y="23812"/>
                </a:cubicBezTo>
                <a:cubicBezTo>
                  <a:pt x="35719" y="17227"/>
                  <a:pt x="41039" y="11906"/>
                  <a:pt x="47625" y="11906"/>
                </a:cubicBezTo>
                <a:lnTo>
                  <a:pt x="95250" y="11906"/>
                </a:lnTo>
                <a:cubicBezTo>
                  <a:pt x="100682" y="4688"/>
                  <a:pt x="109314" y="0"/>
                  <a:pt x="119063" y="0"/>
                </a:cubicBezTo>
                <a:cubicBezTo>
                  <a:pt x="128811" y="0"/>
                  <a:pt x="137443" y="4688"/>
                  <a:pt x="142875" y="11906"/>
                </a:cubicBezTo>
                <a:close/>
                <a:moveTo>
                  <a:pt x="163562" y="119063"/>
                </a:moveTo>
                <a:lnTo>
                  <a:pt x="217438" y="119063"/>
                </a:lnTo>
                <a:lnTo>
                  <a:pt x="190500" y="72851"/>
                </a:lnTo>
                <a:lnTo>
                  <a:pt x="163562" y="119063"/>
                </a:lnTo>
                <a:close/>
                <a:moveTo>
                  <a:pt x="190500" y="154781"/>
                </a:moveTo>
                <a:cubicBezTo>
                  <a:pt x="167097" y="154781"/>
                  <a:pt x="147638" y="142131"/>
                  <a:pt x="143619" y="125425"/>
                </a:cubicBezTo>
                <a:cubicBezTo>
                  <a:pt x="142652" y="121332"/>
                  <a:pt x="143991" y="117128"/>
                  <a:pt x="146112" y="113481"/>
                </a:cubicBezTo>
                <a:lnTo>
                  <a:pt x="181533" y="52760"/>
                </a:lnTo>
                <a:cubicBezTo>
                  <a:pt x="183393" y="49560"/>
                  <a:pt x="186817" y="47625"/>
                  <a:pt x="190500" y="47625"/>
                </a:cubicBezTo>
                <a:cubicBezTo>
                  <a:pt x="194183" y="47625"/>
                  <a:pt x="197607" y="49597"/>
                  <a:pt x="199467" y="52760"/>
                </a:cubicBezTo>
                <a:lnTo>
                  <a:pt x="234888" y="113481"/>
                </a:lnTo>
                <a:cubicBezTo>
                  <a:pt x="237009" y="117128"/>
                  <a:pt x="238348" y="121332"/>
                  <a:pt x="237381" y="125425"/>
                </a:cubicBezTo>
                <a:cubicBezTo>
                  <a:pt x="233363" y="142094"/>
                  <a:pt x="213903" y="154781"/>
                  <a:pt x="190500" y="154781"/>
                </a:cubicBezTo>
                <a:close/>
                <a:moveTo>
                  <a:pt x="47179" y="72851"/>
                </a:moveTo>
                <a:lnTo>
                  <a:pt x="20241" y="119063"/>
                </a:lnTo>
                <a:lnTo>
                  <a:pt x="74154" y="119063"/>
                </a:lnTo>
                <a:lnTo>
                  <a:pt x="47179" y="72851"/>
                </a:lnTo>
                <a:close/>
                <a:moveTo>
                  <a:pt x="335" y="125425"/>
                </a:moveTo>
                <a:cubicBezTo>
                  <a:pt x="-633" y="121332"/>
                  <a:pt x="707" y="117128"/>
                  <a:pt x="2828" y="113481"/>
                </a:cubicBezTo>
                <a:lnTo>
                  <a:pt x="38249" y="52760"/>
                </a:lnTo>
                <a:cubicBezTo>
                  <a:pt x="40109" y="49560"/>
                  <a:pt x="43532" y="47625"/>
                  <a:pt x="47216" y="47625"/>
                </a:cubicBezTo>
                <a:cubicBezTo>
                  <a:pt x="50899" y="47625"/>
                  <a:pt x="54322" y="49597"/>
                  <a:pt x="56183" y="52760"/>
                </a:cubicBezTo>
                <a:lnTo>
                  <a:pt x="91604" y="113481"/>
                </a:lnTo>
                <a:cubicBezTo>
                  <a:pt x="93725" y="117128"/>
                  <a:pt x="95064" y="121332"/>
                  <a:pt x="94097" y="125425"/>
                </a:cubicBezTo>
                <a:cubicBezTo>
                  <a:pt x="90078" y="142094"/>
                  <a:pt x="70619" y="154781"/>
                  <a:pt x="47216" y="154781"/>
                </a:cubicBezTo>
                <a:cubicBezTo>
                  <a:pt x="23812" y="154781"/>
                  <a:pt x="4353" y="142131"/>
                  <a:pt x="335" y="125425"/>
                </a:cubicBez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8" name="Text 6"/>
          <p:cNvSpPr/>
          <p:nvPr/>
        </p:nvSpPr>
        <p:spPr>
          <a:xfrm>
            <a:off x="1152525" y="1647825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Combine Risk with Constraints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152525" y="1952625"/>
            <a:ext cx="512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Merge failure probability with operational realities: crew availability, production schedules, and spare parts inventory.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385763" y="2667000"/>
            <a:ext cx="5981700" cy="1057275"/>
          </a:xfrm>
          <a:custGeom>
            <a:avLst/>
            <a:gdLst/>
            <a:ahLst/>
            <a:cxnLst/>
            <a:rect l="l" t="t" r="r" b="b"/>
            <a:pathLst>
              <a:path w="5981700" h="1057275">
                <a:moveTo>
                  <a:pt x="114302" y="0"/>
                </a:moveTo>
                <a:lnTo>
                  <a:pt x="5867398" y="0"/>
                </a:lnTo>
                <a:cubicBezTo>
                  <a:pt x="5930525" y="0"/>
                  <a:pt x="5981700" y="51175"/>
                  <a:pt x="5981700" y="114302"/>
                </a:cubicBezTo>
                <a:lnTo>
                  <a:pt x="5981700" y="942973"/>
                </a:lnTo>
                <a:cubicBezTo>
                  <a:pt x="5981700" y="1006100"/>
                  <a:pt x="5930525" y="1057275"/>
                  <a:pt x="5867398" y="1057275"/>
                </a:cubicBezTo>
                <a:lnTo>
                  <a:pt x="114302" y="1057275"/>
                </a:lnTo>
                <a:cubicBezTo>
                  <a:pt x="51175" y="1057275"/>
                  <a:pt x="0" y="1006100"/>
                  <a:pt x="0" y="94297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1" name="Shape 9"/>
          <p:cNvSpPr/>
          <p:nvPr/>
        </p:nvSpPr>
        <p:spPr>
          <a:xfrm>
            <a:off x="542925" y="2824163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2" name="Shape 10"/>
          <p:cNvSpPr/>
          <p:nvPr/>
        </p:nvSpPr>
        <p:spPr>
          <a:xfrm>
            <a:off x="664369" y="2957513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91753" y="139378"/>
                </a:moveTo>
                <a:lnTo>
                  <a:pt x="56034" y="175096"/>
                </a:lnTo>
                <a:cubicBezTo>
                  <a:pt x="51383" y="179747"/>
                  <a:pt x="43830" y="179747"/>
                  <a:pt x="39179" y="175096"/>
                </a:cubicBezTo>
                <a:lnTo>
                  <a:pt x="3460" y="139378"/>
                </a:lnTo>
                <a:cubicBezTo>
                  <a:pt x="-1191" y="134727"/>
                  <a:pt x="-1191" y="127174"/>
                  <a:pt x="3460" y="122523"/>
                </a:cubicBezTo>
                <a:cubicBezTo>
                  <a:pt x="8111" y="117872"/>
                  <a:pt x="15664" y="117872"/>
                  <a:pt x="20315" y="122523"/>
                </a:cubicBezTo>
                <a:lnTo>
                  <a:pt x="35719" y="137926"/>
                </a:lnTo>
                <a:lnTo>
                  <a:pt x="35719" y="23812"/>
                </a:lnTo>
                <a:cubicBezTo>
                  <a:pt x="35719" y="17227"/>
                  <a:pt x="41039" y="11906"/>
                  <a:pt x="47625" y="11906"/>
                </a:cubicBezTo>
                <a:cubicBezTo>
                  <a:pt x="54211" y="11906"/>
                  <a:pt x="59531" y="17227"/>
                  <a:pt x="59531" y="23812"/>
                </a:cubicBezTo>
                <a:lnTo>
                  <a:pt x="59531" y="137926"/>
                </a:lnTo>
                <a:lnTo>
                  <a:pt x="74935" y="122523"/>
                </a:lnTo>
                <a:cubicBezTo>
                  <a:pt x="79586" y="117872"/>
                  <a:pt x="87139" y="117872"/>
                  <a:pt x="91790" y="122523"/>
                </a:cubicBezTo>
                <a:cubicBezTo>
                  <a:pt x="96441" y="127174"/>
                  <a:pt x="96441" y="134727"/>
                  <a:pt x="91790" y="139378"/>
                </a:cubicBezTo>
                <a:close/>
                <a:moveTo>
                  <a:pt x="119063" y="178594"/>
                </a:moveTo>
                <a:cubicBezTo>
                  <a:pt x="112477" y="178594"/>
                  <a:pt x="107156" y="173273"/>
                  <a:pt x="107156" y="166688"/>
                </a:cubicBezTo>
                <a:cubicBezTo>
                  <a:pt x="107156" y="160102"/>
                  <a:pt x="112477" y="154781"/>
                  <a:pt x="119063" y="154781"/>
                </a:cubicBezTo>
                <a:lnTo>
                  <a:pt x="130969" y="154781"/>
                </a:lnTo>
                <a:cubicBezTo>
                  <a:pt x="137554" y="154781"/>
                  <a:pt x="142875" y="160102"/>
                  <a:pt x="142875" y="166688"/>
                </a:cubicBezTo>
                <a:cubicBezTo>
                  <a:pt x="142875" y="173273"/>
                  <a:pt x="137554" y="178594"/>
                  <a:pt x="130969" y="178594"/>
                </a:cubicBezTo>
                <a:lnTo>
                  <a:pt x="119063" y="178594"/>
                </a:lnTo>
                <a:close/>
                <a:moveTo>
                  <a:pt x="119063" y="130969"/>
                </a:moveTo>
                <a:cubicBezTo>
                  <a:pt x="112477" y="130969"/>
                  <a:pt x="107156" y="125648"/>
                  <a:pt x="107156" y="119063"/>
                </a:cubicBezTo>
                <a:cubicBezTo>
                  <a:pt x="107156" y="112477"/>
                  <a:pt x="112477" y="107156"/>
                  <a:pt x="119063" y="107156"/>
                </a:cubicBezTo>
                <a:lnTo>
                  <a:pt x="154781" y="107156"/>
                </a:lnTo>
                <a:cubicBezTo>
                  <a:pt x="161367" y="107156"/>
                  <a:pt x="166688" y="112477"/>
                  <a:pt x="166688" y="119063"/>
                </a:cubicBezTo>
                <a:cubicBezTo>
                  <a:pt x="166688" y="125648"/>
                  <a:pt x="161367" y="130969"/>
                  <a:pt x="154781" y="130969"/>
                </a:cubicBezTo>
                <a:lnTo>
                  <a:pt x="119063" y="130969"/>
                </a:lnTo>
                <a:close/>
                <a:moveTo>
                  <a:pt x="119063" y="83344"/>
                </a:moveTo>
                <a:cubicBezTo>
                  <a:pt x="112477" y="83344"/>
                  <a:pt x="107156" y="78023"/>
                  <a:pt x="107156" y="71438"/>
                </a:cubicBezTo>
                <a:cubicBezTo>
                  <a:pt x="107156" y="64852"/>
                  <a:pt x="112477" y="59531"/>
                  <a:pt x="119063" y="59531"/>
                </a:cubicBezTo>
                <a:lnTo>
                  <a:pt x="178594" y="59531"/>
                </a:lnTo>
                <a:cubicBezTo>
                  <a:pt x="185179" y="59531"/>
                  <a:pt x="190500" y="64852"/>
                  <a:pt x="190500" y="71438"/>
                </a:cubicBezTo>
                <a:cubicBezTo>
                  <a:pt x="190500" y="78023"/>
                  <a:pt x="185179" y="83344"/>
                  <a:pt x="178594" y="83344"/>
                </a:cubicBezTo>
                <a:lnTo>
                  <a:pt x="119063" y="83344"/>
                </a:lnTo>
                <a:close/>
                <a:moveTo>
                  <a:pt x="119063" y="35719"/>
                </a:moveTo>
                <a:cubicBezTo>
                  <a:pt x="112477" y="35719"/>
                  <a:pt x="107156" y="30398"/>
                  <a:pt x="107156" y="23812"/>
                </a:cubicBezTo>
                <a:cubicBezTo>
                  <a:pt x="107156" y="17227"/>
                  <a:pt x="112477" y="11906"/>
                  <a:pt x="119063" y="11906"/>
                </a:cubicBezTo>
                <a:lnTo>
                  <a:pt x="202406" y="11906"/>
                </a:lnTo>
                <a:cubicBezTo>
                  <a:pt x="208992" y="11906"/>
                  <a:pt x="214313" y="17227"/>
                  <a:pt x="214313" y="23812"/>
                </a:cubicBezTo>
                <a:cubicBezTo>
                  <a:pt x="214313" y="30398"/>
                  <a:pt x="208992" y="35719"/>
                  <a:pt x="202406" y="35719"/>
                </a:cubicBezTo>
                <a:lnTo>
                  <a:pt x="119063" y="35719"/>
                </a:ln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3" name="Text 11"/>
          <p:cNvSpPr/>
          <p:nvPr/>
        </p:nvSpPr>
        <p:spPr>
          <a:xfrm>
            <a:off x="1152525" y="2824163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 Machines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52525" y="3128963"/>
            <a:ext cx="512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Rank equipment by urgency using multi-criteria scoring that balances risk severity, operational impact, and resource constraints.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85763" y="3843338"/>
            <a:ext cx="5981700" cy="1057275"/>
          </a:xfrm>
          <a:custGeom>
            <a:avLst/>
            <a:gdLst/>
            <a:ahLst/>
            <a:cxnLst/>
            <a:rect l="l" t="t" r="r" b="b"/>
            <a:pathLst>
              <a:path w="5981700" h="1057275">
                <a:moveTo>
                  <a:pt x="114302" y="0"/>
                </a:moveTo>
                <a:lnTo>
                  <a:pt x="5867398" y="0"/>
                </a:lnTo>
                <a:cubicBezTo>
                  <a:pt x="5930525" y="0"/>
                  <a:pt x="5981700" y="51175"/>
                  <a:pt x="5981700" y="114302"/>
                </a:cubicBezTo>
                <a:lnTo>
                  <a:pt x="5981700" y="942973"/>
                </a:lnTo>
                <a:cubicBezTo>
                  <a:pt x="5981700" y="1006100"/>
                  <a:pt x="5930525" y="1057275"/>
                  <a:pt x="5867398" y="1057275"/>
                </a:cubicBezTo>
                <a:lnTo>
                  <a:pt x="114302" y="1057275"/>
                </a:lnTo>
                <a:cubicBezTo>
                  <a:pt x="51175" y="1057275"/>
                  <a:pt x="0" y="1006100"/>
                  <a:pt x="0" y="94297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16" name="Shape 14"/>
          <p:cNvSpPr/>
          <p:nvPr/>
        </p:nvSpPr>
        <p:spPr>
          <a:xfrm>
            <a:off x="542925" y="4000500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7" name="Shape 15"/>
          <p:cNvSpPr/>
          <p:nvPr/>
        </p:nvSpPr>
        <p:spPr>
          <a:xfrm>
            <a:off x="688181" y="4133850"/>
            <a:ext cx="166688" cy="190500"/>
          </a:xfrm>
          <a:custGeom>
            <a:avLst/>
            <a:gdLst/>
            <a:ahLst/>
            <a:cxnLst/>
            <a:rect l="l" t="t" r="r" b="b"/>
            <a:pathLst>
              <a:path w="166688" h="190500">
                <a:moveTo>
                  <a:pt x="47625" y="0"/>
                </a:moveTo>
                <a:cubicBezTo>
                  <a:pt x="54211" y="0"/>
                  <a:pt x="59531" y="5321"/>
                  <a:pt x="59531" y="11906"/>
                </a:cubicBezTo>
                <a:lnTo>
                  <a:pt x="59531" y="23812"/>
                </a:lnTo>
                <a:lnTo>
                  <a:pt x="107156" y="23812"/>
                </a:lnTo>
                <a:lnTo>
                  <a:pt x="107156" y="11906"/>
                </a:lnTo>
                <a:cubicBezTo>
                  <a:pt x="107156" y="5321"/>
                  <a:pt x="112477" y="0"/>
                  <a:pt x="119063" y="0"/>
                </a:cubicBezTo>
                <a:cubicBezTo>
                  <a:pt x="125648" y="0"/>
                  <a:pt x="130969" y="5321"/>
                  <a:pt x="130969" y="11906"/>
                </a:cubicBezTo>
                <a:lnTo>
                  <a:pt x="130969" y="23812"/>
                </a:lnTo>
                <a:lnTo>
                  <a:pt x="142875" y="23812"/>
                </a:lnTo>
                <a:cubicBezTo>
                  <a:pt x="156009" y="23812"/>
                  <a:pt x="166688" y="34491"/>
                  <a:pt x="166688" y="47625"/>
                </a:cubicBezTo>
                <a:lnTo>
                  <a:pt x="166688" y="154781"/>
                </a:lnTo>
                <a:cubicBezTo>
                  <a:pt x="166688" y="167915"/>
                  <a:pt x="156009" y="178594"/>
                  <a:pt x="142875" y="178594"/>
                </a:cubicBezTo>
                <a:lnTo>
                  <a:pt x="23812" y="178594"/>
                </a:lnTo>
                <a:cubicBezTo>
                  <a:pt x="10678" y="178594"/>
                  <a:pt x="0" y="167915"/>
                  <a:pt x="0" y="154781"/>
                </a:cubicBezTo>
                <a:lnTo>
                  <a:pt x="0" y="47625"/>
                </a:lnTo>
                <a:cubicBezTo>
                  <a:pt x="0" y="34491"/>
                  <a:pt x="10678" y="23812"/>
                  <a:pt x="23812" y="23812"/>
                </a:cubicBezTo>
                <a:lnTo>
                  <a:pt x="35719" y="23812"/>
                </a:lnTo>
                <a:lnTo>
                  <a:pt x="35719" y="11906"/>
                </a:lnTo>
                <a:cubicBezTo>
                  <a:pt x="35719" y="5321"/>
                  <a:pt x="41039" y="0"/>
                  <a:pt x="47625" y="0"/>
                </a:cubicBezTo>
                <a:close/>
                <a:moveTo>
                  <a:pt x="114746" y="85092"/>
                </a:moveTo>
                <a:cubicBezTo>
                  <a:pt x="117351" y="80925"/>
                  <a:pt x="116086" y="75419"/>
                  <a:pt x="111919" y="72777"/>
                </a:cubicBezTo>
                <a:cubicBezTo>
                  <a:pt x="107752" y="70135"/>
                  <a:pt x="102245" y="71438"/>
                  <a:pt x="99603" y="75605"/>
                </a:cubicBezTo>
                <a:lnTo>
                  <a:pt x="76758" y="112179"/>
                </a:lnTo>
                <a:lnTo>
                  <a:pt x="66712" y="98785"/>
                </a:lnTo>
                <a:cubicBezTo>
                  <a:pt x="63736" y="94841"/>
                  <a:pt x="58155" y="94022"/>
                  <a:pt x="54211" y="96999"/>
                </a:cubicBezTo>
                <a:cubicBezTo>
                  <a:pt x="50267" y="99975"/>
                  <a:pt x="49448" y="105556"/>
                  <a:pt x="52425" y="109500"/>
                </a:cubicBezTo>
                <a:lnTo>
                  <a:pt x="70284" y="133313"/>
                </a:lnTo>
                <a:cubicBezTo>
                  <a:pt x="72033" y="135657"/>
                  <a:pt x="74861" y="136996"/>
                  <a:pt x="77800" y="136885"/>
                </a:cubicBezTo>
                <a:cubicBezTo>
                  <a:pt x="80739" y="136773"/>
                  <a:pt x="83418" y="135210"/>
                  <a:pt x="84981" y="132680"/>
                </a:cubicBezTo>
                <a:lnTo>
                  <a:pt x="114746" y="85055"/>
                </a:ln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18" name="Text 16"/>
          <p:cNvSpPr/>
          <p:nvPr/>
        </p:nvSpPr>
        <p:spPr>
          <a:xfrm>
            <a:off x="1152525" y="4000500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 Maintenance Timing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152525" y="4305300"/>
            <a:ext cx="512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Optimize when each repair should occur to minimize production disruption while addressing critical risks promptly.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385763" y="5019675"/>
            <a:ext cx="5981700" cy="1057275"/>
          </a:xfrm>
          <a:custGeom>
            <a:avLst/>
            <a:gdLst/>
            <a:ahLst/>
            <a:cxnLst/>
            <a:rect l="l" t="t" r="r" b="b"/>
            <a:pathLst>
              <a:path w="5981700" h="1057275">
                <a:moveTo>
                  <a:pt x="114302" y="0"/>
                </a:moveTo>
                <a:lnTo>
                  <a:pt x="5867398" y="0"/>
                </a:lnTo>
                <a:cubicBezTo>
                  <a:pt x="5930525" y="0"/>
                  <a:pt x="5981700" y="51175"/>
                  <a:pt x="5981700" y="114302"/>
                </a:cubicBezTo>
                <a:lnTo>
                  <a:pt x="5981700" y="942973"/>
                </a:lnTo>
                <a:cubicBezTo>
                  <a:pt x="5981700" y="1006100"/>
                  <a:pt x="5930525" y="1057275"/>
                  <a:pt x="5867398" y="1057275"/>
                </a:cubicBezTo>
                <a:lnTo>
                  <a:pt x="114302" y="1057275"/>
                </a:lnTo>
                <a:cubicBezTo>
                  <a:pt x="51175" y="1057275"/>
                  <a:pt x="0" y="1006100"/>
                  <a:pt x="0" y="942973"/>
                </a:cubicBezTo>
                <a:lnTo>
                  <a:pt x="0" y="114302"/>
                </a:lnTo>
                <a:cubicBezTo>
                  <a:pt x="0" y="51175"/>
                  <a:pt x="51175" y="0"/>
                  <a:pt x="114302" y="0"/>
                </a:cubicBezTo>
                <a:close/>
              </a:path>
            </a:pathLst>
          </a:cu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blurRad="57150" dist="38100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400"/>
          </a:p>
        </p:txBody>
      </p:sp>
      <p:sp>
        <p:nvSpPr>
          <p:cNvPr id="21" name="Shape 19"/>
          <p:cNvSpPr/>
          <p:nvPr/>
        </p:nvSpPr>
        <p:spPr>
          <a:xfrm>
            <a:off x="542925" y="5176838"/>
            <a:ext cx="457200" cy="457200"/>
          </a:xfrm>
          <a:custGeom>
            <a:avLst/>
            <a:gdLst/>
            <a:ahLst/>
            <a:cxnLst/>
            <a:rect l="l" t="t" r="r" b="b"/>
            <a:pathLst>
              <a:path w="457200" h="457200">
                <a:moveTo>
                  <a:pt x="114300" y="0"/>
                </a:moveTo>
                <a:lnTo>
                  <a:pt x="342900" y="0"/>
                </a:lnTo>
                <a:cubicBezTo>
                  <a:pt x="405984" y="0"/>
                  <a:pt x="457200" y="51216"/>
                  <a:pt x="457200" y="114300"/>
                </a:cubicBezTo>
                <a:lnTo>
                  <a:pt x="457200" y="342900"/>
                </a:lnTo>
                <a:cubicBezTo>
                  <a:pt x="457200" y="405984"/>
                  <a:pt x="405984" y="457200"/>
                  <a:pt x="342900" y="457200"/>
                </a:cubicBezTo>
                <a:lnTo>
                  <a:pt x="114300" y="457200"/>
                </a:lnTo>
                <a:cubicBezTo>
                  <a:pt x="51216" y="457200"/>
                  <a:pt x="0" y="405984"/>
                  <a:pt x="0" y="3429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2" name="Shape 20"/>
          <p:cNvSpPr/>
          <p:nvPr/>
        </p:nvSpPr>
        <p:spPr>
          <a:xfrm>
            <a:off x="676275" y="531018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49783" y="13506"/>
                </a:moveTo>
                <a:cubicBezTo>
                  <a:pt x="53839" y="16334"/>
                  <a:pt x="54806" y="21915"/>
                  <a:pt x="51978" y="25933"/>
                </a:cubicBezTo>
                <a:lnTo>
                  <a:pt x="31142" y="55699"/>
                </a:lnTo>
                <a:cubicBezTo>
                  <a:pt x="29617" y="57857"/>
                  <a:pt x="27236" y="59234"/>
                  <a:pt x="24594" y="59457"/>
                </a:cubicBezTo>
                <a:cubicBezTo>
                  <a:pt x="21952" y="59680"/>
                  <a:pt x="19348" y="58787"/>
                  <a:pt x="17487" y="56927"/>
                </a:cubicBezTo>
                <a:lnTo>
                  <a:pt x="2604" y="42044"/>
                </a:lnTo>
                <a:cubicBezTo>
                  <a:pt x="-856" y="38546"/>
                  <a:pt x="-856" y="32891"/>
                  <a:pt x="2604" y="29394"/>
                </a:cubicBezTo>
                <a:cubicBezTo>
                  <a:pt x="6065" y="25896"/>
                  <a:pt x="11757" y="25933"/>
                  <a:pt x="15255" y="29394"/>
                </a:cubicBezTo>
                <a:lnTo>
                  <a:pt x="22622" y="36761"/>
                </a:lnTo>
                <a:lnTo>
                  <a:pt x="37356" y="15701"/>
                </a:lnTo>
                <a:cubicBezTo>
                  <a:pt x="40184" y="11646"/>
                  <a:pt x="45765" y="10678"/>
                  <a:pt x="49783" y="13506"/>
                </a:cubicBezTo>
                <a:close/>
                <a:moveTo>
                  <a:pt x="49783" y="73037"/>
                </a:moveTo>
                <a:cubicBezTo>
                  <a:pt x="53839" y="75865"/>
                  <a:pt x="54806" y="81446"/>
                  <a:pt x="51978" y="85465"/>
                </a:cubicBezTo>
                <a:lnTo>
                  <a:pt x="31142" y="115230"/>
                </a:lnTo>
                <a:cubicBezTo>
                  <a:pt x="29617" y="117388"/>
                  <a:pt x="27236" y="118765"/>
                  <a:pt x="24594" y="118988"/>
                </a:cubicBezTo>
                <a:cubicBezTo>
                  <a:pt x="21952" y="119211"/>
                  <a:pt x="19348" y="118318"/>
                  <a:pt x="17487" y="116458"/>
                </a:cubicBezTo>
                <a:lnTo>
                  <a:pt x="2604" y="101575"/>
                </a:lnTo>
                <a:cubicBezTo>
                  <a:pt x="-893" y="98078"/>
                  <a:pt x="-893" y="92422"/>
                  <a:pt x="2604" y="88962"/>
                </a:cubicBezTo>
                <a:cubicBezTo>
                  <a:pt x="6102" y="85502"/>
                  <a:pt x="11757" y="85465"/>
                  <a:pt x="15218" y="88962"/>
                </a:cubicBezTo>
                <a:lnTo>
                  <a:pt x="22585" y="96329"/>
                </a:lnTo>
                <a:lnTo>
                  <a:pt x="37319" y="75270"/>
                </a:lnTo>
                <a:cubicBezTo>
                  <a:pt x="40146" y="71214"/>
                  <a:pt x="45727" y="70247"/>
                  <a:pt x="49746" y="73075"/>
                </a:cubicBezTo>
                <a:close/>
                <a:moveTo>
                  <a:pt x="83344" y="35719"/>
                </a:moveTo>
                <a:cubicBezTo>
                  <a:pt x="83344" y="29133"/>
                  <a:pt x="88664" y="23812"/>
                  <a:pt x="95250" y="23812"/>
                </a:cubicBezTo>
                <a:lnTo>
                  <a:pt x="178594" y="23812"/>
                </a:lnTo>
                <a:cubicBezTo>
                  <a:pt x="185179" y="23812"/>
                  <a:pt x="190500" y="29133"/>
                  <a:pt x="190500" y="35719"/>
                </a:cubicBezTo>
                <a:cubicBezTo>
                  <a:pt x="190500" y="42304"/>
                  <a:pt x="185179" y="47625"/>
                  <a:pt x="178594" y="47625"/>
                </a:cubicBezTo>
                <a:lnTo>
                  <a:pt x="95250" y="47625"/>
                </a:lnTo>
                <a:cubicBezTo>
                  <a:pt x="88664" y="47625"/>
                  <a:pt x="83344" y="42304"/>
                  <a:pt x="83344" y="35719"/>
                </a:cubicBezTo>
                <a:close/>
                <a:moveTo>
                  <a:pt x="83344" y="95250"/>
                </a:moveTo>
                <a:cubicBezTo>
                  <a:pt x="83344" y="88664"/>
                  <a:pt x="88664" y="83344"/>
                  <a:pt x="95250" y="83344"/>
                </a:cubicBezTo>
                <a:lnTo>
                  <a:pt x="178594" y="83344"/>
                </a:lnTo>
                <a:cubicBezTo>
                  <a:pt x="185179" y="83344"/>
                  <a:pt x="190500" y="88664"/>
                  <a:pt x="190500" y="95250"/>
                </a:cubicBezTo>
                <a:cubicBezTo>
                  <a:pt x="190500" y="101836"/>
                  <a:pt x="185179" y="107156"/>
                  <a:pt x="178594" y="107156"/>
                </a:cubicBezTo>
                <a:lnTo>
                  <a:pt x="95250" y="107156"/>
                </a:lnTo>
                <a:cubicBezTo>
                  <a:pt x="88664" y="107156"/>
                  <a:pt x="83344" y="101836"/>
                  <a:pt x="83344" y="95250"/>
                </a:cubicBezTo>
                <a:close/>
                <a:moveTo>
                  <a:pt x="59531" y="154781"/>
                </a:moveTo>
                <a:cubicBezTo>
                  <a:pt x="59531" y="148196"/>
                  <a:pt x="64852" y="142875"/>
                  <a:pt x="71438" y="142875"/>
                </a:cubicBezTo>
                <a:lnTo>
                  <a:pt x="178594" y="142875"/>
                </a:lnTo>
                <a:cubicBezTo>
                  <a:pt x="185179" y="142875"/>
                  <a:pt x="190500" y="148196"/>
                  <a:pt x="190500" y="154781"/>
                </a:cubicBezTo>
                <a:cubicBezTo>
                  <a:pt x="190500" y="161367"/>
                  <a:pt x="185179" y="166688"/>
                  <a:pt x="178594" y="166688"/>
                </a:cubicBezTo>
                <a:lnTo>
                  <a:pt x="71438" y="166688"/>
                </a:lnTo>
                <a:cubicBezTo>
                  <a:pt x="64852" y="166688"/>
                  <a:pt x="59531" y="161367"/>
                  <a:pt x="59531" y="154781"/>
                </a:cubicBezTo>
                <a:close/>
                <a:moveTo>
                  <a:pt x="23812" y="139898"/>
                </a:moveTo>
                <a:cubicBezTo>
                  <a:pt x="32027" y="139898"/>
                  <a:pt x="38695" y="146567"/>
                  <a:pt x="38695" y="154781"/>
                </a:cubicBezTo>
                <a:cubicBezTo>
                  <a:pt x="38695" y="162995"/>
                  <a:pt x="32027" y="169664"/>
                  <a:pt x="23812" y="169664"/>
                </a:cubicBezTo>
                <a:cubicBezTo>
                  <a:pt x="15598" y="169664"/>
                  <a:pt x="8930" y="162995"/>
                  <a:pt x="8930" y="154781"/>
                </a:cubicBezTo>
                <a:cubicBezTo>
                  <a:pt x="8930" y="146567"/>
                  <a:pt x="15598" y="139898"/>
                  <a:pt x="23812" y="139898"/>
                </a:cubicBez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 sz="2400"/>
          </a:p>
        </p:txBody>
      </p:sp>
      <p:sp>
        <p:nvSpPr>
          <p:cNvPr id="23" name="Text 21"/>
          <p:cNvSpPr/>
          <p:nvPr/>
        </p:nvSpPr>
        <p:spPr>
          <a:xfrm>
            <a:off x="1152525" y="5176838"/>
            <a:ext cx="5143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Recommend Actions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1152525" y="5481638"/>
            <a:ext cx="512445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Generate clear, actionable guidance: which machine, what action, when to execute, and why it matters.</a:t>
            </a:r>
            <a:endParaRPr lang="en-US" sz="2000" dirty="0"/>
          </a:p>
        </p:txBody>
      </p:sp>
      <p:sp>
        <p:nvSpPr>
          <p:cNvPr id="25" name="Shape 23"/>
          <p:cNvSpPr/>
          <p:nvPr/>
        </p:nvSpPr>
        <p:spPr>
          <a:xfrm>
            <a:off x="6526560" y="1485900"/>
            <a:ext cx="5286375" cy="4991100"/>
          </a:xfrm>
          <a:custGeom>
            <a:avLst/>
            <a:gdLst/>
            <a:ahLst/>
            <a:cxnLst/>
            <a:rect l="l" t="t" r="r" b="b"/>
            <a:pathLst>
              <a:path w="5286375" h="4991100">
                <a:moveTo>
                  <a:pt x="152378" y="0"/>
                </a:moveTo>
                <a:lnTo>
                  <a:pt x="5133997" y="0"/>
                </a:lnTo>
                <a:cubicBezTo>
                  <a:pt x="5218097" y="0"/>
                  <a:pt x="5286375" y="68278"/>
                  <a:pt x="5286375" y="152378"/>
                </a:cubicBezTo>
                <a:lnTo>
                  <a:pt x="5286375" y="4838722"/>
                </a:lnTo>
                <a:cubicBezTo>
                  <a:pt x="5286375" y="4922878"/>
                  <a:pt x="5218153" y="4991100"/>
                  <a:pt x="5133997" y="4991100"/>
                </a:cubicBezTo>
                <a:lnTo>
                  <a:pt x="152378" y="4991100"/>
                </a:lnTo>
                <a:cubicBezTo>
                  <a:pt x="68278" y="4991100"/>
                  <a:pt x="0" y="4922822"/>
                  <a:pt x="0" y="4838722"/>
                </a:cubicBezTo>
                <a:lnTo>
                  <a:pt x="0" y="152378"/>
                </a:lnTo>
                <a:cubicBezTo>
                  <a:pt x="0" y="68278"/>
                  <a:pt x="68278" y="0"/>
                  <a:pt x="152378" y="0"/>
                </a:cubicBezTo>
                <a:close/>
              </a:path>
            </a:pathLst>
          </a:custGeom>
          <a:gradFill flip="none" rotWithShape="1">
            <a:gsLst>
              <a:gs pos="0">
                <a:srgbClr val="F9FAFB"/>
              </a:gs>
              <a:gs pos="100000">
                <a:srgbClr val="F3F4F6"/>
              </a:gs>
            </a:gsLst>
            <a:lin ang="2700000" scaled="1"/>
          </a:gradFill>
          <a:ln/>
        </p:spPr>
        <p:txBody>
          <a:bodyPr/>
          <a:lstStyle/>
          <a:p>
            <a:endParaRPr lang="en-US" sz="2800"/>
          </a:p>
        </p:txBody>
      </p:sp>
      <p:sp>
        <p:nvSpPr>
          <p:cNvPr id="27" name="Text 25"/>
          <p:cNvSpPr/>
          <p:nvPr/>
        </p:nvSpPr>
        <p:spPr>
          <a:xfrm>
            <a:off x="8179827" y="1994387"/>
            <a:ext cx="4762500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20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Decision Flow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717060" y="26670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B7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6843266" y="27908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16669" y="25003"/>
                </a:moveTo>
                <a:cubicBezTo>
                  <a:pt x="16669" y="20393"/>
                  <a:pt x="20393" y="16669"/>
                  <a:pt x="25003" y="16669"/>
                </a:cubicBezTo>
                <a:lnTo>
                  <a:pt x="66675" y="16669"/>
                </a:lnTo>
                <a:cubicBezTo>
                  <a:pt x="71285" y="16669"/>
                  <a:pt x="75009" y="20393"/>
                  <a:pt x="75009" y="25003"/>
                </a:cubicBezTo>
                <a:lnTo>
                  <a:pt x="75009" y="100013"/>
                </a:lnTo>
                <a:lnTo>
                  <a:pt x="100013" y="100013"/>
                </a:lnTo>
                <a:lnTo>
                  <a:pt x="100013" y="66675"/>
                </a:lnTo>
                <a:cubicBezTo>
                  <a:pt x="100013" y="62065"/>
                  <a:pt x="103737" y="58341"/>
                  <a:pt x="108347" y="58341"/>
                </a:cubicBezTo>
                <a:lnTo>
                  <a:pt x="125016" y="58341"/>
                </a:lnTo>
                <a:cubicBezTo>
                  <a:pt x="129626" y="58341"/>
                  <a:pt x="133350" y="62065"/>
                  <a:pt x="133350" y="66675"/>
                </a:cubicBezTo>
                <a:cubicBezTo>
                  <a:pt x="133350" y="71285"/>
                  <a:pt x="129626" y="75009"/>
                  <a:pt x="125016" y="75009"/>
                </a:cubicBezTo>
                <a:lnTo>
                  <a:pt x="116681" y="75009"/>
                </a:lnTo>
                <a:lnTo>
                  <a:pt x="116681" y="108347"/>
                </a:lnTo>
                <a:cubicBezTo>
                  <a:pt x="116681" y="112957"/>
                  <a:pt x="112957" y="116681"/>
                  <a:pt x="108347" y="116681"/>
                </a:cubicBezTo>
                <a:lnTo>
                  <a:pt x="66675" y="116681"/>
                </a:lnTo>
                <a:cubicBezTo>
                  <a:pt x="62065" y="116681"/>
                  <a:pt x="58341" y="112957"/>
                  <a:pt x="58341" y="108347"/>
                </a:cubicBezTo>
                <a:lnTo>
                  <a:pt x="58341" y="33337"/>
                </a:lnTo>
                <a:lnTo>
                  <a:pt x="33337" y="33337"/>
                </a:lnTo>
                <a:lnTo>
                  <a:pt x="33337" y="66675"/>
                </a:lnTo>
                <a:cubicBezTo>
                  <a:pt x="33337" y="71285"/>
                  <a:pt x="29613" y="75009"/>
                  <a:pt x="25003" y="75009"/>
                </a:cubicBezTo>
                <a:lnTo>
                  <a:pt x="8334" y="75009"/>
                </a:lnTo>
                <a:cubicBezTo>
                  <a:pt x="3724" y="75009"/>
                  <a:pt x="0" y="71285"/>
                  <a:pt x="0" y="66675"/>
                </a:cubicBezTo>
                <a:cubicBezTo>
                  <a:pt x="0" y="62065"/>
                  <a:pt x="3724" y="58341"/>
                  <a:pt x="8334" y="58341"/>
                </a:cubicBezTo>
                <a:lnTo>
                  <a:pt x="16669" y="58341"/>
                </a:lnTo>
                <a:lnTo>
                  <a:pt x="16669" y="2500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7212360" y="2609850"/>
            <a:ext cx="4410075" cy="590550"/>
          </a:xfrm>
          <a:custGeom>
            <a:avLst/>
            <a:gdLst/>
            <a:ahLst/>
            <a:cxnLst/>
            <a:rect l="l" t="t" r="r" b="b"/>
            <a:pathLst>
              <a:path w="4410075" h="495300">
                <a:moveTo>
                  <a:pt x="76202" y="0"/>
                </a:moveTo>
                <a:lnTo>
                  <a:pt x="4333873" y="0"/>
                </a:lnTo>
                <a:cubicBezTo>
                  <a:pt x="4375958" y="0"/>
                  <a:pt x="4410075" y="34117"/>
                  <a:pt x="4410075" y="76202"/>
                </a:cubicBezTo>
                <a:lnTo>
                  <a:pt x="4410075" y="419098"/>
                </a:lnTo>
                <a:cubicBezTo>
                  <a:pt x="4410075" y="461183"/>
                  <a:pt x="4375958" y="495300"/>
                  <a:pt x="43338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1" name="Text 29"/>
          <p:cNvSpPr/>
          <p:nvPr/>
        </p:nvSpPr>
        <p:spPr>
          <a:xfrm>
            <a:off x="7288560" y="2686050"/>
            <a:ext cx="432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E29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 Assessment Input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7288560" y="2924175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Failure probability + uncertainty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9111630" y="32194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34" name="Shape 32"/>
          <p:cNvSpPr/>
          <p:nvPr/>
        </p:nvSpPr>
        <p:spPr>
          <a:xfrm>
            <a:off x="6717060" y="35433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AD46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843266" y="3667125"/>
            <a:ext cx="133350" cy="133350"/>
          </a:xfrm>
          <a:custGeom>
            <a:avLst/>
            <a:gdLst/>
            <a:ahLst/>
            <a:cxnLst/>
            <a:rect l="l" t="t" r="r" b="b"/>
            <a:pathLst>
              <a:path w="133350" h="133350">
                <a:moveTo>
                  <a:pt x="8334" y="16669"/>
                </a:moveTo>
                <a:cubicBezTo>
                  <a:pt x="3724" y="16669"/>
                  <a:pt x="0" y="20393"/>
                  <a:pt x="0" y="25003"/>
                </a:cubicBezTo>
                <a:cubicBezTo>
                  <a:pt x="0" y="29613"/>
                  <a:pt x="3724" y="33337"/>
                  <a:pt x="8334" y="33337"/>
                </a:cubicBezTo>
                <a:lnTo>
                  <a:pt x="30915" y="33337"/>
                </a:lnTo>
                <a:cubicBezTo>
                  <a:pt x="34119" y="40708"/>
                  <a:pt x="41464" y="45839"/>
                  <a:pt x="50006" y="45839"/>
                </a:cubicBezTo>
                <a:cubicBezTo>
                  <a:pt x="58549" y="45839"/>
                  <a:pt x="65894" y="40708"/>
                  <a:pt x="69097" y="33337"/>
                </a:cubicBezTo>
                <a:lnTo>
                  <a:pt x="125016" y="33337"/>
                </a:lnTo>
                <a:cubicBezTo>
                  <a:pt x="129626" y="33337"/>
                  <a:pt x="133350" y="29613"/>
                  <a:pt x="133350" y="25003"/>
                </a:cubicBezTo>
                <a:cubicBezTo>
                  <a:pt x="133350" y="20393"/>
                  <a:pt x="129626" y="16669"/>
                  <a:pt x="125016" y="16669"/>
                </a:cubicBezTo>
                <a:lnTo>
                  <a:pt x="69097" y="16669"/>
                </a:lnTo>
                <a:cubicBezTo>
                  <a:pt x="65894" y="9298"/>
                  <a:pt x="58549" y="4167"/>
                  <a:pt x="50006" y="4167"/>
                </a:cubicBezTo>
                <a:cubicBezTo>
                  <a:pt x="41464" y="4167"/>
                  <a:pt x="34119" y="9298"/>
                  <a:pt x="30915" y="16669"/>
                </a:cubicBezTo>
                <a:lnTo>
                  <a:pt x="8334" y="16669"/>
                </a:lnTo>
                <a:close/>
                <a:moveTo>
                  <a:pt x="8334" y="58341"/>
                </a:moveTo>
                <a:cubicBezTo>
                  <a:pt x="3724" y="58341"/>
                  <a:pt x="0" y="62065"/>
                  <a:pt x="0" y="66675"/>
                </a:cubicBezTo>
                <a:cubicBezTo>
                  <a:pt x="0" y="71285"/>
                  <a:pt x="3724" y="75009"/>
                  <a:pt x="8334" y="75009"/>
                </a:cubicBezTo>
                <a:lnTo>
                  <a:pt x="72587" y="75009"/>
                </a:lnTo>
                <a:cubicBezTo>
                  <a:pt x="75791" y="82380"/>
                  <a:pt x="83135" y="87511"/>
                  <a:pt x="91678" y="87511"/>
                </a:cubicBezTo>
                <a:cubicBezTo>
                  <a:pt x="100221" y="87511"/>
                  <a:pt x="107566" y="82380"/>
                  <a:pt x="110769" y="75009"/>
                </a:cubicBezTo>
                <a:lnTo>
                  <a:pt x="125016" y="75009"/>
                </a:lnTo>
                <a:cubicBezTo>
                  <a:pt x="129626" y="75009"/>
                  <a:pt x="133350" y="71285"/>
                  <a:pt x="133350" y="66675"/>
                </a:cubicBezTo>
                <a:cubicBezTo>
                  <a:pt x="133350" y="62065"/>
                  <a:pt x="129626" y="58341"/>
                  <a:pt x="125016" y="58341"/>
                </a:cubicBezTo>
                <a:lnTo>
                  <a:pt x="110769" y="58341"/>
                </a:lnTo>
                <a:cubicBezTo>
                  <a:pt x="107566" y="50970"/>
                  <a:pt x="100221" y="45839"/>
                  <a:pt x="91678" y="45839"/>
                </a:cubicBezTo>
                <a:cubicBezTo>
                  <a:pt x="83135" y="45839"/>
                  <a:pt x="75791" y="50970"/>
                  <a:pt x="72587" y="58341"/>
                </a:cubicBezTo>
                <a:lnTo>
                  <a:pt x="8334" y="58341"/>
                </a:lnTo>
                <a:close/>
                <a:moveTo>
                  <a:pt x="8334" y="100013"/>
                </a:moveTo>
                <a:cubicBezTo>
                  <a:pt x="3724" y="100013"/>
                  <a:pt x="0" y="103737"/>
                  <a:pt x="0" y="108347"/>
                </a:cubicBezTo>
                <a:cubicBezTo>
                  <a:pt x="0" y="112957"/>
                  <a:pt x="3724" y="116681"/>
                  <a:pt x="8334" y="116681"/>
                </a:cubicBezTo>
                <a:lnTo>
                  <a:pt x="22581" y="116681"/>
                </a:lnTo>
                <a:cubicBezTo>
                  <a:pt x="25784" y="124052"/>
                  <a:pt x="33129" y="129183"/>
                  <a:pt x="41672" y="129183"/>
                </a:cubicBezTo>
                <a:cubicBezTo>
                  <a:pt x="50215" y="129183"/>
                  <a:pt x="57559" y="124052"/>
                  <a:pt x="60763" y="116681"/>
                </a:cubicBezTo>
                <a:lnTo>
                  <a:pt x="125016" y="116681"/>
                </a:lnTo>
                <a:cubicBezTo>
                  <a:pt x="129626" y="116681"/>
                  <a:pt x="133350" y="112957"/>
                  <a:pt x="133350" y="108347"/>
                </a:cubicBezTo>
                <a:cubicBezTo>
                  <a:pt x="133350" y="103737"/>
                  <a:pt x="129626" y="100013"/>
                  <a:pt x="125016" y="100013"/>
                </a:cubicBezTo>
                <a:lnTo>
                  <a:pt x="60763" y="100013"/>
                </a:lnTo>
                <a:cubicBezTo>
                  <a:pt x="57559" y="92642"/>
                  <a:pt x="50215" y="87511"/>
                  <a:pt x="41672" y="87511"/>
                </a:cubicBezTo>
                <a:cubicBezTo>
                  <a:pt x="33129" y="87511"/>
                  <a:pt x="25784" y="92642"/>
                  <a:pt x="22581" y="100013"/>
                </a:cubicBezTo>
                <a:lnTo>
                  <a:pt x="8334" y="100013"/>
                </a:ln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7212360" y="3486150"/>
            <a:ext cx="4410075" cy="590550"/>
          </a:xfrm>
          <a:custGeom>
            <a:avLst/>
            <a:gdLst/>
            <a:ahLst/>
            <a:cxnLst/>
            <a:rect l="l" t="t" r="r" b="b"/>
            <a:pathLst>
              <a:path w="4410075" h="495300">
                <a:moveTo>
                  <a:pt x="76202" y="0"/>
                </a:moveTo>
                <a:lnTo>
                  <a:pt x="4333873" y="0"/>
                </a:lnTo>
                <a:cubicBezTo>
                  <a:pt x="4375958" y="0"/>
                  <a:pt x="4410075" y="34117"/>
                  <a:pt x="4410075" y="76202"/>
                </a:cubicBezTo>
                <a:lnTo>
                  <a:pt x="4410075" y="419098"/>
                </a:lnTo>
                <a:cubicBezTo>
                  <a:pt x="4410075" y="461183"/>
                  <a:pt x="4375958" y="495300"/>
                  <a:pt x="43338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37" name="Text 35"/>
          <p:cNvSpPr/>
          <p:nvPr/>
        </p:nvSpPr>
        <p:spPr>
          <a:xfrm>
            <a:off x="7288560" y="3562350"/>
            <a:ext cx="432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E29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Constraint Integration</a:t>
            </a:r>
            <a:endParaRPr lang="en-US" sz="2400" dirty="0"/>
          </a:p>
        </p:txBody>
      </p:sp>
      <p:sp>
        <p:nvSpPr>
          <p:cNvPr id="38" name="Text 36"/>
          <p:cNvSpPr/>
          <p:nvPr/>
        </p:nvSpPr>
        <p:spPr>
          <a:xfrm>
            <a:off x="7288560" y="3800475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Resources + schedules + priorities</a:t>
            </a:r>
            <a:endParaRPr lang="en-US" sz="2400" dirty="0"/>
          </a:p>
        </p:txBody>
      </p:sp>
      <p:sp>
        <p:nvSpPr>
          <p:cNvPr id="39" name="Shape 37"/>
          <p:cNvSpPr/>
          <p:nvPr/>
        </p:nvSpPr>
        <p:spPr>
          <a:xfrm>
            <a:off x="9111630" y="40957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40" name="Shape 38"/>
          <p:cNvSpPr/>
          <p:nvPr/>
        </p:nvSpPr>
        <p:spPr>
          <a:xfrm>
            <a:off x="6717060" y="44196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FF690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6859935" y="454342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16669" y="0"/>
                </a:moveTo>
                <a:cubicBezTo>
                  <a:pt x="7475" y="0"/>
                  <a:pt x="0" y="7475"/>
                  <a:pt x="0" y="16669"/>
                </a:cubicBezTo>
                <a:lnTo>
                  <a:pt x="0" y="116681"/>
                </a:lnTo>
                <a:cubicBezTo>
                  <a:pt x="0" y="125875"/>
                  <a:pt x="7475" y="133350"/>
                  <a:pt x="16669" y="133350"/>
                </a:cubicBezTo>
                <a:lnTo>
                  <a:pt x="83344" y="133350"/>
                </a:lnTo>
                <a:cubicBezTo>
                  <a:pt x="92538" y="133350"/>
                  <a:pt x="100013" y="125875"/>
                  <a:pt x="100013" y="116681"/>
                </a:cubicBezTo>
                <a:lnTo>
                  <a:pt x="100013" y="16669"/>
                </a:lnTo>
                <a:cubicBezTo>
                  <a:pt x="100013" y="7475"/>
                  <a:pt x="92538" y="0"/>
                  <a:pt x="83344" y="0"/>
                </a:cubicBezTo>
                <a:lnTo>
                  <a:pt x="16669" y="0"/>
                </a:lnTo>
                <a:close/>
                <a:moveTo>
                  <a:pt x="25003" y="16669"/>
                </a:moveTo>
                <a:lnTo>
                  <a:pt x="75009" y="16669"/>
                </a:lnTo>
                <a:cubicBezTo>
                  <a:pt x="79619" y="16669"/>
                  <a:pt x="83344" y="20393"/>
                  <a:pt x="83344" y="25003"/>
                </a:cubicBezTo>
                <a:lnTo>
                  <a:pt x="83344" y="33337"/>
                </a:lnTo>
                <a:cubicBezTo>
                  <a:pt x="83344" y="37947"/>
                  <a:pt x="79619" y="41672"/>
                  <a:pt x="75009" y="41672"/>
                </a:cubicBezTo>
                <a:lnTo>
                  <a:pt x="25003" y="41672"/>
                </a:lnTo>
                <a:cubicBezTo>
                  <a:pt x="20393" y="41672"/>
                  <a:pt x="16669" y="37947"/>
                  <a:pt x="16669" y="33337"/>
                </a:cubicBezTo>
                <a:lnTo>
                  <a:pt x="16669" y="25003"/>
                </a:lnTo>
                <a:cubicBezTo>
                  <a:pt x="16669" y="20393"/>
                  <a:pt x="20393" y="16669"/>
                  <a:pt x="25003" y="16669"/>
                </a:cubicBezTo>
                <a:close/>
                <a:moveTo>
                  <a:pt x="29170" y="60424"/>
                </a:moveTo>
                <a:cubicBezTo>
                  <a:pt x="29170" y="63874"/>
                  <a:pt x="26369" y="66675"/>
                  <a:pt x="22920" y="66675"/>
                </a:cubicBezTo>
                <a:cubicBezTo>
                  <a:pt x="19470" y="66675"/>
                  <a:pt x="16669" y="63874"/>
                  <a:pt x="16669" y="60424"/>
                </a:cubicBezTo>
                <a:cubicBezTo>
                  <a:pt x="16669" y="56974"/>
                  <a:pt x="19470" y="54173"/>
                  <a:pt x="22920" y="54173"/>
                </a:cubicBezTo>
                <a:cubicBezTo>
                  <a:pt x="26369" y="54173"/>
                  <a:pt x="29170" y="56974"/>
                  <a:pt x="29170" y="60424"/>
                </a:cubicBezTo>
                <a:close/>
                <a:moveTo>
                  <a:pt x="50006" y="66675"/>
                </a:moveTo>
                <a:cubicBezTo>
                  <a:pt x="46556" y="66675"/>
                  <a:pt x="43755" y="63874"/>
                  <a:pt x="43755" y="60424"/>
                </a:cubicBezTo>
                <a:cubicBezTo>
                  <a:pt x="43755" y="56974"/>
                  <a:pt x="46556" y="54173"/>
                  <a:pt x="50006" y="54173"/>
                </a:cubicBezTo>
                <a:cubicBezTo>
                  <a:pt x="53456" y="54173"/>
                  <a:pt x="56257" y="56974"/>
                  <a:pt x="56257" y="60424"/>
                </a:cubicBezTo>
                <a:cubicBezTo>
                  <a:pt x="56257" y="63874"/>
                  <a:pt x="53456" y="66675"/>
                  <a:pt x="50006" y="66675"/>
                </a:cubicBezTo>
                <a:close/>
                <a:moveTo>
                  <a:pt x="83344" y="60424"/>
                </a:moveTo>
                <a:cubicBezTo>
                  <a:pt x="83344" y="63874"/>
                  <a:pt x="80543" y="66675"/>
                  <a:pt x="77093" y="66675"/>
                </a:cubicBezTo>
                <a:cubicBezTo>
                  <a:pt x="73643" y="66675"/>
                  <a:pt x="70842" y="63874"/>
                  <a:pt x="70842" y="60424"/>
                </a:cubicBezTo>
                <a:cubicBezTo>
                  <a:pt x="70842" y="56974"/>
                  <a:pt x="73643" y="54173"/>
                  <a:pt x="77093" y="54173"/>
                </a:cubicBezTo>
                <a:cubicBezTo>
                  <a:pt x="80543" y="54173"/>
                  <a:pt x="83344" y="56974"/>
                  <a:pt x="83344" y="60424"/>
                </a:cubicBezTo>
                <a:close/>
                <a:moveTo>
                  <a:pt x="22920" y="91678"/>
                </a:moveTo>
                <a:cubicBezTo>
                  <a:pt x="19470" y="91678"/>
                  <a:pt x="16669" y="88877"/>
                  <a:pt x="16669" y="85427"/>
                </a:cubicBezTo>
                <a:cubicBezTo>
                  <a:pt x="16669" y="81977"/>
                  <a:pt x="19470" y="79177"/>
                  <a:pt x="22920" y="79177"/>
                </a:cubicBezTo>
                <a:cubicBezTo>
                  <a:pt x="26369" y="79177"/>
                  <a:pt x="29170" y="81977"/>
                  <a:pt x="29170" y="85427"/>
                </a:cubicBezTo>
                <a:cubicBezTo>
                  <a:pt x="29170" y="88877"/>
                  <a:pt x="26369" y="91678"/>
                  <a:pt x="22920" y="91678"/>
                </a:cubicBezTo>
                <a:close/>
                <a:moveTo>
                  <a:pt x="56257" y="85427"/>
                </a:moveTo>
                <a:cubicBezTo>
                  <a:pt x="56257" y="88877"/>
                  <a:pt x="53456" y="91678"/>
                  <a:pt x="50006" y="91678"/>
                </a:cubicBezTo>
                <a:cubicBezTo>
                  <a:pt x="46556" y="91678"/>
                  <a:pt x="43755" y="88877"/>
                  <a:pt x="43755" y="85427"/>
                </a:cubicBezTo>
                <a:cubicBezTo>
                  <a:pt x="43755" y="81977"/>
                  <a:pt x="46556" y="79177"/>
                  <a:pt x="50006" y="79177"/>
                </a:cubicBezTo>
                <a:cubicBezTo>
                  <a:pt x="53456" y="79177"/>
                  <a:pt x="56257" y="81977"/>
                  <a:pt x="56257" y="85427"/>
                </a:cubicBezTo>
                <a:close/>
                <a:moveTo>
                  <a:pt x="77093" y="91678"/>
                </a:moveTo>
                <a:cubicBezTo>
                  <a:pt x="73643" y="91678"/>
                  <a:pt x="70842" y="88877"/>
                  <a:pt x="70842" y="85427"/>
                </a:cubicBezTo>
                <a:cubicBezTo>
                  <a:pt x="70842" y="81977"/>
                  <a:pt x="73643" y="79177"/>
                  <a:pt x="77093" y="79177"/>
                </a:cubicBezTo>
                <a:cubicBezTo>
                  <a:pt x="80543" y="79177"/>
                  <a:pt x="83344" y="81977"/>
                  <a:pt x="83344" y="85427"/>
                </a:cubicBezTo>
                <a:cubicBezTo>
                  <a:pt x="83344" y="88877"/>
                  <a:pt x="80543" y="91678"/>
                  <a:pt x="77093" y="91678"/>
                </a:cubicBezTo>
                <a:close/>
                <a:moveTo>
                  <a:pt x="16669" y="110430"/>
                </a:moveTo>
                <a:cubicBezTo>
                  <a:pt x="16669" y="106966"/>
                  <a:pt x="19456" y="104180"/>
                  <a:pt x="22920" y="104180"/>
                </a:cubicBezTo>
                <a:lnTo>
                  <a:pt x="52090" y="104180"/>
                </a:lnTo>
                <a:cubicBezTo>
                  <a:pt x="55554" y="104180"/>
                  <a:pt x="58341" y="106966"/>
                  <a:pt x="58341" y="110430"/>
                </a:cubicBezTo>
                <a:cubicBezTo>
                  <a:pt x="58341" y="113894"/>
                  <a:pt x="55554" y="116681"/>
                  <a:pt x="52090" y="116681"/>
                </a:cubicBezTo>
                <a:lnTo>
                  <a:pt x="22920" y="116681"/>
                </a:lnTo>
                <a:cubicBezTo>
                  <a:pt x="19456" y="116681"/>
                  <a:pt x="16669" y="113894"/>
                  <a:pt x="16669" y="110430"/>
                </a:cubicBezTo>
                <a:close/>
                <a:moveTo>
                  <a:pt x="77093" y="104180"/>
                </a:moveTo>
                <a:cubicBezTo>
                  <a:pt x="80557" y="104180"/>
                  <a:pt x="83344" y="106966"/>
                  <a:pt x="83344" y="110430"/>
                </a:cubicBezTo>
                <a:cubicBezTo>
                  <a:pt x="83344" y="113894"/>
                  <a:pt x="80557" y="116681"/>
                  <a:pt x="77093" y="116681"/>
                </a:cubicBezTo>
                <a:cubicBezTo>
                  <a:pt x="73629" y="116681"/>
                  <a:pt x="70842" y="113894"/>
                  <a:pt x="70842" y="110430"/>
                </a:cubicBezTo>
                <a:cubicBezTo>
                  <a:pt x="70842" y="106966"/>
                  <a:pt x="73629" y="104180"/>
                  <a:pt x="77093" y="104180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Shape 40"/>
          <p:cNvSpPr/>
          <p:nvPr/>
        </p:nvSpPr>
        <p:spPr>
          <a:xfrm>
            <a:off x="7212360" y="4362450"/>
            <a:ext cx="4410075" cy="590550"/>
          </a:xfrm>
          <a:custGeom>
            <a:avLst/>
            <a:gdLst/>
            <a:ahLst/>
            <a:cxnLst/>
            <a:rect l="l" t="t" r="r" b="b"/>
            <a:pathLst>
              <a:path w="4410075" h="495300">
                <a:moveTo>
                  <a:pt x="76202" y="0"/>
                </a:moveTo>
                <a:lnTo>
                  <a:pt x="4333873" y="0"/>
                </a:lnTo>
                <a:cubicBezTo>
                  <a:pt x="4375958" y="0"/>
                  <a:pt x="4410075" y="34117"/>
                  <a:pt x="4410075" y="76202"/>
                </a:cubicBezTo>
                <a:lnTo>
                  <a:pt x="4410075" y="419098"/>
                </a:lnTo>
                <a:cubicBezTo>
                  <a:pt x="4410075" y="461183"/>
                  <a:pt x="4375958" y="495300"/>
                  <a:pt x="4333873" y="495300"/>
                </a:cubicBezTo>
                <a:lnTo>
                  <a:pt x="76202" y="495300"/>
                </a:lnTo>
                <a:cubicBezTo>
                  <a:pt x="34117" y="495300"/>
                  <a:pt x="0" y="461183"/>
                  <a:pt x="0" y="419098"/>
                </a:cubicBezTo>
                <a:lnTo>
                  <a:pt x="0" y="76202"/>
                </a:lnTo>
                <a:cubicBezTo>
                  <a:pt x="0" y="34117"/>
                  <a:pt x="34117" y="0"/>
                  <a:pt x="76202" y="0"/>
                </a:cubicBezTo>
                <a:close/>
              </a:path>
            </a:pathLst>
          </a:custGeom>
          <a:solidFill>
            <a:srgbClr val="FFFFFF"/>
          </a:solidFill>
          <a:ln/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43" name="Text 41"/>
          <p:cNvSpPr/>
          <p:nvPr/>
        </p:nvSpPr>
        <p:spPr>
          <a:xfrm>
            <a:off x="7288560" y="4438650"/>
            <a:ext cx="43243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E29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Optimization Engine</a:t>
            </a:r>
            <a:endParaRPr lang="en-US" sz="2400" dirty="0"/>
          </a:p>
        </p:txBody>
      </p:sp>
      <p:sp>
        <p:nvSpPr>
          <p:cNvPr id="44" name="Text 42"/>
          <p:cNvSpPr/>
          <p:nvPr/>
        </p:nvSpPr>
        <p:spPr>
          <a:xfrm>
            <a:off x="7288560" y="4676775"/>
            <a:ext cx="43148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Multi-criteria decision analysis</a:t>
            </a:r>
            <a:endParaRPr lang="en-US" sz="2400" dirty="0"/>
          </a:p>
        </p:txBody>
      </p:sp>
      <p:sp>
        <p:nvSpPr>
          <p:cNvPr id="45" name="Shape 43"/>
          <p:cNvSpPr/>
          <p:nvPr/>
        </p:nvSpPr>
        <p:spPr>
          <a:xfrm>
            <a:off x="9111630" y="4972050"/>
            <a:ext cx="114300" cy="152400"/>
          </a:xfrm>
          <a:custGeom>
            <a:avLst/>
            <a:gdLst/>
            <a:ahLst/>
            <a:cxnLst/>
            <a:rect l="l" t="t" r="r" b="b"/>
            <a:pathLst>
              <a:path w="114300" h="152400">
                <a:moveTo>
                  <a:pt x="50423" y="149602"/>
                </a:moveTo>
                <a:cubicBezTo>
                  <a:pt x="54144" y="153323"/>
                  <a:pt x="60186" y="153323"/>
                  <a:pt x="63907" y="149602"/>
                </a:cubicBezTo>
                <a:lnTo>
                  <a:pt x="111532" y="101977"/>
                </a:lnTo>
                <a:cubicBezTo>
                  <a:pt x="115253" y="98256"/>
                  <a:pt x="115253" y="92214"/>
                  <a:pt x="111532" y="88493"/>
                </a:cubicBezTo>
                <a:cubicBezTo>
                  <a:pt x="107811" y="84773"/>
                  <a:pt x="101769" y="84773"/>
                  <a:pt x="98048" y="88493"/>
                </a:cubicBezTo>
                <a:lnTo>
                  <a:pt x="66675" y="119866"/>
                </a:lnTo>
                <a:lnTo>
                  <a:pt x="66675" y="9525"/>
                </a:lnTo>
                <a:cubicBezTo>
                  <a:pt x="66675" y="4256"/>
                  <a:pt x="62419" y="0"/>
                  <a:pt x="57150" y="0"/>
                </a:cubicBezTo>
                <a:cubicBezTo>
                  <a:pt x="51881" y="0"/>
                  <a:pt x="47625" y="4256"/>
                  <a:pt x="47625" y="9525"/>
                </a:cubicBezTo>
                <a:lnTo>
                  <a:pt x="47625" y="119866"/>
                </a:lnTo>
                <a:lnTo>
                  <a:pt x="16252" y="88493"/>
                </a:lnTo>
                <a:cubicBezTo>
                  <a:pt x="12531" y="84772"/>
                  <a:pt x="6489" y="84772"/>
                  <a:pt x="2768" y="88493"/>
                </a:cubicBezTo>
                <a:cubicBezTo>
                  <a:pt x="-953" y="92214"/>
                  <a:pt x="-953" y="98256"/>
                  <a:pt x="2768" y="101977"/>
                </a:cubicBezTo>
                <a:lnTo>
                  <a:pt x="50393" y="149602"/>
                </a:lnTo>
                <a:close/>
              </a:path>
            </a:pathLst>
          </a:custGeom>
          <a:solidFill>
            <a:srgbClr val="99A1AF"/>
          </a:solidFill>
          <a:ln/>
        </p:spPr>
        <p:txBody>
          <a:bodyPr/>
          <a:lstStyle/>
          <a:p>
            <a:endParaRPr lang="en-US" sz="3600"/>
          </a:p>
        </p:txBody>
      </p:sp>
      <p:sp>
        <p:nvSpPr>
          <p:cNvPr id="46" name="Shape 44"/>
          <p:cNvSpPr/>
          <p:nvPr/>
        </p:nvSpPr>
        <p:spPr>
          <a:xfrm>
            <a:off x="6717060" y="531495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6859935" y="5438775"/>
            <a:ext cx="100013" cy="133350"/>
          </a:xfrm>
          <a:custGeom>
            <a:avLst/>
            <a:gdLst/>
            <a:ahLst/>
            <a:cxnLst/>
            <a:rect l="l" t="t" r="r" b="b"/>
            <a:pathLst>
              <a:path w="100013" h="133350">
                <a:moveTo>
                  <a:pt x="81104" y="8334"/>
                </a:moveTo>
                <a:lnTo>
                  <a:pt x="83344" y="8334"/>
                </a:lnTo>
                <a:cubicBezTo>
                  <a:pt x="92538" y="8334"/>
                  <a:pt x="100013" y="15809"/>
                  <a:pt x="100013" y="25003"/>
                </a:cubicBezTo>
                <a:lnTo>
                  <a:pt x="100013" y="116681"/>
                </a:lnTo>
                <a:cubicBezTo>
                  <a:pt x="100013" y="125875"/>
                  <a:pt x="92538" y="133350"/>
                  <a:pt x="83344" y="133350"/>
                </a:cubicBezTo>
                <a:lnTo>
                  <a:pt x="16669" y="133350"/>
                </a:lnTo>
                <a:cubicBezTo>
                  <a:pt x="7475" y="133350"/>
                  <a:pt x="0" y="125875"/>
                  <a:pt x="0" y="116681"/>
                </a:cubicBezTo>
                <a:lnTo>
                  <a:pt x="0" y="25003"/>
                </a:lnTo>
                <a:cubicBezTo>
                  <a:pt x="0" y="15809"/>
                  <a:pt x="7475" y="8334"/>
                  <a:pt x="16669" y="8334"/>
                </a:cubicBezTo>
                <a:lnTo>
                  <a:pt x="18909" y="8334"/>
                </a:lnTo>
                <a:cubicBezTo>
                  <a:pt x="21774" y="3360"/>
                  <a:pt x="27165" y="0"/>
                  <a:pt x="33337" y="0"/>
                </a:cubicBezTo>
                <a:lnTo>
                  <a:pt x="66675" y="0"/>
                </a:lnTo>
                <a:cubicBezTo>
                  <a:pt x="72848" y="0"/>
                  <a:pt x="78239" y="3360"/>
                  <a:pt x="81104" y="8334"/>
                </a:cubicBezTo>
                <a:close/>
                <a:moveTo>
                  <a:pt x="64591" y="29170"/>
                </a:moveTo>
                <a:cubicBezTo>
                  <a:pt x="68055" y="29170"/>
                  <a:pt x="70842" y="26384"/>
                  <a:pt x="70842" y="22920"/>
                </a:cubicBezTo>
                <a:cubicBezTo>
                  <a:pt x="70842" y="19456"/>
                  <a:pt x="68055" y="16669"/>
                  <a:pt x="64591" y="16669"/>
                </a:cubicBezTo>
                <a:lnTo>
                  <a:pt x="35421" y="16669"/>
                </a:lnTo>
                <a:cubicBezTo>
                  <a:pt x="31957" y="16669"/>
                  <a:pt x="29170" y="19456"/>
                  <a:pt x="29170" y="22920"/>
                </a:cubicBezTo>
                <a:cubicBezTo>
                  <a:pt x="29170" y="26384"/>
                  <a:pt x="31957" y="29170"/>
                  <a:pt x="35421" y="29170"/>
                </a:cubicBezTo>
                <a:lnTo>
                  <a:pt x="64591" y="29170"/>
                </a:lnTo>
                <a:close/>
                <a:moveTo>
                  <a:pt x="71988" y="67899"/>
                </a:moveTo>
                <a:cubicBezTo>
                  <a:pt x="73811" y="64982"/>
                  <a:pt x="72926" y="61127"/>
                  <a:pt x="70009" y="59278"/>
                </a:cubicBezTo>
                <a:cubicBezTo>
                  <a:pt x="67092" y="57429"/>
                  <a:pt x="63237" y="58341"/>
                  <a:pt x="61388" y="61258"/>
                </a:cubicBezTo>
                <a:lnTo>
                  <a:pt x="45396" y="86860"/>
                </a:lnTo>
                <a:lnTo>
                  <a:pt x="38364" y="77484"/>
                </a:lnTo>
                <a:cubicBezTo>
                  <a:pt x="36281" y="74723"/>
                  <a:pt x="32374" y="74150"/>
                  <a:pt x="29613" y="76233"/>
                </a:cubicBezTo>
                <a:cubicBezTo>
                  <a:pt x="26852" y="78317"/>
                  <a:pt x="26279" y="82224"/>
                  <a:pt x="28363" y="84985"/>
                </a:cubicBezTo>
                <a:lnTo>
                  <a:pt x="40864" y="101653"/>
                </a:lnTo>
                <a:cubicBezTo>
                  <a:pt x="42089" y="103294"/>
                  <a:pt x="44068" y="104232"/>
                  <a:pt x="46126" y="104154"/>
                </a:cubicBezTo>
                <a:cubicBezTo>
                  <a:pt x="48183" y="104076"/>
                  <a:pt x="50058" y="102982"/>
                  <a:pt x="51152" y="101211"/>
                </a:cubicBezTo>
                <a:lnTo>
                  <a:pt x="71988" y="67873"/>
                </a:ln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7221885" y="5248274"/>
            <a:ext cx="4391025" cy="613263"/>
          </a:xfrm>
          <a:custGeom>
            <a:avLst/>
            <a:gdLst/>
            <a:ahLst/>
            <a:cxnLst/>
            <a:rect l="l" t="t" r="r" b="b"/>
            <a:pathLst>
              <a:path w="4391025" h="514350">
                <a:moveTo>
                  <a:pt x="76201" y="0"/>
                </a:moveTo>
                <a:lnTo>
                  <a:pt x="4314824" y="0"/>
                </a:lnTo>
                <a:cubicBezTo>
                  <a:pt x="4356909" y="0"/>
                  <a:pt x="4391025" y="34116"/>
                  <a:pt x="4391025" y="76201"/>
                </a:cubicBezTo>
                <a:lnTo>
                  <a:pt x="4391025" y="438149"/>
                </a:lnTo>
                <a:cubicBezTo>
                  <a:pt x="4391025" y="480234"/>
                  <a:pt x="4356909" y="514350"/>
                  <a:pt x="4314824" y="514350"/>
                </a:cubicBezTo>
                <a:lnTo>
                  <a:pt x="76201" y="514350"/>
                </a:lnTo>
                <a:cubicBezTo>
                  <a:pt x="34116" y="514350"/>
                  <a:pt x="0" y="480234"/>
                  <a:pt x="0" y="438149"/>
                </a:cubicBezTo>
                <a:lnTo>
                  <a:pt x="0" y="76201"/>
                </a:lnTo>
                <a:cubicBezTo>
                  <a:pt x="0" y="34145"/>
                  <a:pt x="34145" y="0"/>
                  <a:pt x="76201" y="0"/>
                </a:cubicBezTo>
                <a:close/>
              </a:path>
            </a:pathLst>
          </a:custGeom>
          <a:solidFill>
            <a:srgbClr val="FFFFFF"/>
          </a:solidFill>
          <a:ln w="25400">
            <a:noFill/>
            <a:prstDash val="solid"/>
          </a:ln>
          <a:effectLst>
            <a:outerShdw blurRad="28575" dist="9525" dir="5400000" algn="bl" rotWithShape="0">
              <a:srgbClr val="000000">
                <a:alpha val="10196"/>
              </a:srgbClr>
            </a:outerShdw>
          </a:effectLst>
        </p:spPr>
        <p:txBody>
          <a:bodyPr/>
          <a:lstStyle/>
          <a:p>
            <a:endParaRPr lang="en-US" sz="2800"/>
          </a:p>
        </p:txBody>
      </p:sp>
      <p:sp>
        <p:nvSpPr>
          <p:cNvPr id="49" name="Text 47"/>
          <p:cNvSpPr/>
          <p:nvPr/>
        </p:nvSpPr>
        <p:spPr>
          <a:xfrm>
            <a:off x="7307610" y="5334000"/>
            <a:ext cx="428625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00" b="1" dirty="0">
                <a:solidFill>
                  <a:srgbClr val="1E2939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Actionable Recommendations</a:t>
            </a:r>
            <a:endParaRPr lang="en-US" sz="2400" dirty="0"/>
          </a:p>
        </p:txBody>
      </p:sp>
      <p:sp>
        <p:nvSpPr>
          <p:cNvPr id="50" name="Text 48"/>
          <p:cNvSpPr/>
          <p:nvPr/>
        </p:nvSpPr>
        <p:spPr>
          <a:xfrm>
            <a:off x="7307610" y="5572125"/>
            <a:ext cx="427672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100" dirty="0">
                <a:solidFill>
                  <a:srgbClr val="6A7282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Prioritized maintenance plan</a:t>
            </a:r>
            <a:endParaRPr lang="en-US" sz="24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solidFill>
                  <a:srgbClr val="8C1D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SYSTEM OUTPUT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Example Output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Clear, actionable recommendations for maintenance teams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0999" y="1562101"/>
            <a:ext cx="10646229" cy="1314450"/>
          </a:xfrm>
          <a:custGeom>
            <a:avLst/>
            <a:gdLst/>
            <a:ahLst/>
            <a:cxnLst/>
            <a:rect l="l" t="t" r="r" b="b"/>
            <a:pathLst>
              <a:path w="5372100" h="1524000">
                <a:moveTo>
                  <a:pt x="114300" y="0"/>
                </a:moveTo>
                <a:lnTo>
                  <a:pt x="5257800" y="0"/>
                </a:lnTo>
                <a:cubicBezTo>
                  <a:pt x="5320884" y="0"/>
                  <a:pt x="5372100" y="51216"/>
                  <a:pt x="5372100" y="114300"/>
                </a:cubicBezTo>
                <a:lnTo>
                  <a:pt x="5372100" y="1409700"/>
                </a:lnTo>
                <a:cubicBezTo>
                  <a:pt x="5372100" y="1472784"/>
                  <a:pt x="5320884" y="1524000"/>
                  <a:pt x="5257800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100000">
                <a:srgbClr val="C10007"/>
              </a:gs>
            </a:gsLst>
            <a:lin ang="0" scaled="1"/>
          </a:gra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71500" y="17526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97706" y="18764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42875" y="75902"/>
                </a:moveTo>
                <a:cubicBezTo>
                  <a:pt x="150298" y="75902"/>
                  <a:pt x="156270" y="81874"/>
                  <a:pt x="156270" y="89297"/>
                </a:cubicBezTo>
                <a:lnTo>
                  <a:pt x="156270" y="151805"/>
                </a:lnTo>
                <a:cubicBezTo>
                  <a:pt x="156270" y="159227"/>
                  <a:pt x="150298" y="165199"/>
                  <a:pt x="142875" y="165199"/>
                </a:cubicBezTo>
                <a:cubicBezTo>
                  <a:pt x="135452" y="165199"/>
                  <a:pt x="129480" y="159227"/>
                  <a:pt x="129480" y="151805"/>
                </a:cubicBezTo>
                <a:lnTo>
                  <a:pt x="129480" y="89297"/>
                </a:lnTo>
                <a:cubicBezTo>
                  <a:pt x="129480" y="81874"/>
                  <a:pt x="135452" y="75902"/>
                  <a:pt x="142875" y="75902"/>
                </a:cubicBezTo>
                <a:close/>
                <a:moveTo>
                  <a:pt x="127974" y="196453"/>
                </a:moveTo>
                <a:cubicBezTo>
                  <a:pt x="127635" y="190922"/>
                  <a:pt x="130393" y="185659"/>
                  <a:pt x="135135" y="182791"/>
                </a:cubicBezTo>
                <a:cubicBezTo>
                  <a:pt x="139876" y="179923"/>
                  <a:pt x="145818" y="179923"/>
                  <a:pt x="150560" y="182791"/>
                </a:cubicBezTo>
                <a:cubicBezTo>
                  <a:pt x="155301" y="185659"/>
                  <a:pt x="158060" y="190922"/>
                  <a:pt x="157721" y="196453"/>
                </a:cubicBezTo>
                <a:cubicBezTo>
                  <a:pt x="158060" y="201984"/>
                  <a:pt x="155301" y="207247"/>
                  <a:pt x="150560" y="210115"/>
                </a:cubicBezTo>
                <a:cubicBezTo>
                  <a:pt x="145818" y="212983"/>
                  <a:pt x="139876" y="212983"/>
                  <a:pt x="135135" y="210115"/>
                </a:cubicBezTo>
                <a:cubicBezTo>
                  <a:pt x="130393" y="207247"/>
                  <a:pt x="127635" y="201984"/>
                  <a:pt x="127974" y="19645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257300" y="1771650"/>
            <a:ext cx="46101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Service Immediately</a:t>
            </a: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1257300" y="2076450"/>
            <a:ext cx="45085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Critical Risk Level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257300" y="2190750"/>
            <a:ext cx="108042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High failure probability detected. Immediate attention required to prevent unplanned downtime.</a:t>
            </a: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380999" y="3238501"/>
            <a:ext cx="10646229" cy="1314450"/>
          </a:xfrm>
          <a:custGeom>
            <a:avLst/>
            <a:gdLst/>
            <a:ahLst/>
            <a:cxnLst/>
            <a:rect l="l" t="t" r="r" b="b"/>
            <a:pathLst>
              <a:path w="5372100" h="1524000">
                <a:moveTo>
                  <a:pt x="114300" y="0"/>
                </a:moveTo>
                <a:lnTo>
                  <a:pt x="5257800" y="0"/>
                </a:lnTo>
                <a:cubicBezTo>
                  <a:pt x="5320884" y="0"/>
                  <a:pt x="5372100" y="51216"/>
                  <a:pt x="5372100" y="114300"/>
                </a:cubicBezTo>
                <a:lnTo>
                  <a:pt x="5372100" y="1409700"/>
                </a:lnTo>
                <a:cubicBezTo>
                  <a:pt x="5372100" y="1472784"/>
                  <a:pt x="5320884" y="1524000"/>
                  <a:pt x="5257800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100000">
                <a:schemeClr val="accent1">
                  <a:lumMod val="75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71500" y="34290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97706" y="35528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0"/>
                </a:moveTo>
                <a:cubicBezTo>
                  <a:pt x="221730" y="0"/>
                  <a:pt x="285750" y="64020"/>
                  <a:pt x="285750" y="142875"/>
                </a:cubicBezTo>
                <a:cubicBezTo>
                  <a:pt x="285750" y="221730"/>
                  <a:pt x="221730" y="285750"/>
                  <a:pt x="142875" y="285750"/>
                </a:cubicBezTo>
                <a:cubicBezTo>
                  <a:pt x="64020" y="285750"/>
                  <a:pt x="0" y="221730"/>
                  <a:pt x="0" y="142875"/>
                </a:cubicBezTo>
                <a:cubicBezTo>
                  <a:pt x="0" y="64020"/>
                  <a:pt x="64020" y="0"/>
                  <a:pt x="142875" y="0"/>
                </a:cubicBezTo>
                <a:close/>
                <a:moveTo>
                  <a:pt x="129480" y="66973"/>
                </a:moveTo>
                <a:lnTo>
                  <a:pt x="129480" y="142875"/>
                </a:lnTo>
                <a:cubicBezTo>
                  <a:pt x="129480" y="147340"/>
                  <a:pt x="131713" y="151526"/>
                  <a:pt x="135452" y="154037"/>
                </a:cubicBezTo>
                <a:lnTo>
                  <a:pt x="189030" y="189756"/>
                </a:lnTo>
                <a:cubicBezTo>
                  <a:pt x="195169" y="193886"/>
                  <a:pt x="203485" y="192212"/>
                  <a:pt x="207615" y="186017"/>
                </a:cubicBezTo>
                <a:cubicBezTo>
                  <a:pt x="211745" y="179822"/>
                  <a:pt x="210071" y="171562"/>
                  <a:pt x="203876" y="167432"/>
                </a:cubicBezTo>
                <a:lnTo>
                  <a:pt x="156270" y="135731"/>
                </a:lnTo>
                <a:lnTo>
                  <a:pt x="156270" y="66973"/>
                </a:lnTo>
                <a:cubicBezTo>
                  <a:pt x="156270" y="59550"/>
                  <a:pt x="150298" y="53578"/>
                  <a:pt x="142875" y="53578"/>
                </a:cubicBezTo>
                <a:cubicBezTo>
                  <a:pt x="135452" y="53578"/>
                  <a:pt x="129480" y="59550"/>
                  <a:pt x="129480" y="66973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257300" y="3448050"/>
            <a:ext cx="345249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 Soon</a:t>
            </a: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1257300" y="3752850"/>
            <a:ext cx="335095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Elevated Risk Level</a:t>
            </a: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1257300" y="3867150"/>
            <a:ext cx="108042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Moderate risk identified. Plan maintenance within the next scheduled window.</a:t>
            </a: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380999" y="4914901"/>
            <a:ext cx="10646229" cy="1314450"/>
          </a:xfrm>
          <a:custGeom>
            <a:avLst/>
            <a:gdLst/>
            <a:ahLst/>
            <a:cxnLst/>
            <a:rect l="l" t="t" r="r" b="b"/>
            <a:pathLst>
              <a:path w="5372100" h="1524000">
                <a:moveTo>
                  <a:pt x="114300" y="0"/>
                </a:moveTo>
                <a:lnTo>
                  <a:pt x="5257800" y="0"/>
                </a:lnTo>
                <a:cubicBezTo>
                  <a:pt x="5320884" y="0"/>
                  <a:pt x="5372100" y="51216"/>
                  <a:pt x="5372100" y="114300"/>
                </a:cubicBezTo>
                <a:lnTo>
                  <a:pt x="5372100" y="1409700"/>
                </a:lnTo>
                <a:cubicBezTo>
                  <a:pt x="5372100" y="1472784"/>
                  <a:pt x="5320884" y="1524000"/>
                  <a:pt x="5257800" y="1524000"/>
                </a:cubicBezTo>
                <a:lnTo>
                  <a:pt x="114300" y="1524000"/>
                </a:lnTo>
                <a:cubicBezTo>
                  <a:pt x="51216" y="1524000"/>
                  <a:pt x="0" y="1472784"/>
                  <a:pt x="0" y="1409700"/>
                </a:cubicBezTo>
                <a:lnTo>
                  <a:pt x="0" y="114300"/>
                </a:lnTo>
                <a:cubicBezTo>
                  <a:pt x="0" y="51216"/>
                  <a:pt x="51216" y="0"/>
                  <a:pt x="114300" y="0"/>
                </a:cubicBezTo>
                <a:close/>
              </a:path>
            </a:pathLst>
          </a:custGeom>
          <a:gradFill flip="none" rotWithShape="1">
            <a:gsLst>
              <a:gs pos="0">
                <a:srgbClr val="00A63E"/>
              </a:gs>
              <a:gs pos="0">
                <a:schemeClr val="accent1">
                  <a:lumMod val="75000"/>
                </a:schemeClr>
              </a:gs>
            </a:gsLst>
            <a:lin ang="0" scaled="1"/>
          </a:gra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71500" y="5105400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FFFF">
              <a:alpha val="2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97706" y="5229225"/>
            <a:ext cx="285750" cy="285750"/>
          </a:xfrm>
          <a:custGeom>
            <a:avLst/>
            <a:gdLst/>
            <a:ahLst/>
            <a:cxnLst/>
            <a:rect l="l" t="t" r="r" b="b"/>
            <a:pathLst>
              <a:path w="285750" h="285750">
                <a:moveTo>
                  <a:pt x="142875" y="285750"/>
                </a:moveTo>
                <a:cubicBezTo>
                  <a:pt x="221730" y="285750"/>
                  <a:pt x="285750" y="221730"/>
                  <a:pt x="285750" y="142875"/>
                </a:cubicBezTo>
                <a:cubicBezTo>
                  <a:pt x="285750" y="64020"/>
                  <a:pt x="221730" y="0"/>
                  <a:pt x="142875" y="0"/>
                </a:cubicBezTo>
                <a:cubicBezTo>
                  <a:pt x="64020" y="0"/>
                  <a:pt x="0" y="64020"/>
                  <a:pt x="0" y="142875"/>
                </a:cubicBezTo>
                <a:cubicBezTo>
                  <a:pt x="0" y="221730"/>
                  <a:pt x="64020" y="285750"/>
                  <a:pt x="142875" y="285750"/>
                </a:cubicBezTo>
                <a:close/>
                <a:moveTo>
                  <a:pt x="189979" y="118709"/>
                </a:moveTo>
                <a:lnTo>
                  <a:pt x="145331" y="190147"/>
                </a:lnTo>
                <a:cubicBezTo>
                  <a:pt x="142987" y="193886"/>
                  <a:pt x="138968" y="196230"/>
                  <a:pt x="134559" y="196453"/>
                </a:cubicBezTo>
                <a:cubicBezTo>
                  <a:pt x="130150" y="196676"/>
                  <a:pt x="125909" y="194667"/>
                  <a:pt x="123285" y="191095"/>
                </a:cubicBezTo>
                <a:lnTo>
                  <a:pt x="96496" y="155377"/>
                </a:lnTo>
                <a:cubicBezTo>
                  <a:pt x="92032" y="149461"/>
                  <a:pt x="93259" y="141089"/>
                  <a:pt x="99175" y="136624"/>
                </a:cubicBezTo>
                <a:cubicBezTo>
                  <a:pt x="105091" y="132159"/>
                  <a:pt x="113463" y="133387"/>
                  <a:pt x="117928" y="139303"/>
                </a:cubicBezTo>
                <a:lnTo>
                  <a:pt x="132997" y="159395"/>
                </a:lnTo>
                <a:lnTo>
                  <a:pt x="167264" y="104533"/>
                </a:lnTo>
                <a:cubicBezTo>
                  <a:pt x="171171" y="98282"/>
                  <a:pt x="179431" y="96329"/>
                  <a:pt x="185738" y="100292"/>
                </a:cubicBezTo>
                <a:cubicBezTo>
                  <a:pt x="192044" y="104254"/>
                  <a:pt x="193942" y="112458"/>
                  <a:pt x="189979" y="118765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1257300" y="5124450"/>
            <a:ext cx="465071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2000" b="1" dirty="0">
                <a:solidFill>
                  <a:srgbClr val="FFFFFF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Continue Monitoring</a:t>
            </a: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1257300" y="5429250"/>
            <a:ext cx="454917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FFFFFF">
                    <a:alpha val="8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Normal Operation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1257300" y="5543550"/>
            <a:ext cx="10804287" cy="4953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400" dirty="0">
                <a:solidFill>
                  <a:srgbClr val="FFFFFF">
                    <a:alpha val="90000"/>
                  </a:srgb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Equipment operating within normal parameters. No immediate action required.</a:t>
            </a:r>
            <a:endParaRPr lang="en-US" dirty="0"/>
          </a:p>
        </p:txBody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17500" y="317500"/>
            <a:ext cx="11612563" cy="158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44" dirty="0">
                <a:solidFill>
                  <a:srgbClr val="8C1D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VALUE PROPOSITION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17500" y="539750"/>
            <a:ext cx="11699875" cy="31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25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Expected Benefits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17500" y="920750"/>
            <a:ext cx="116205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400" dirty="0">
                <a:solidFill>
                  <a:srgbClr val="4A5565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Qualitative improvements in maintenance operations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21469" y="1305720"/>
            <a:ext cx="5675313" cy="2571260"/>
          </a:xfrm>
          <a:custGeom>
            <a:avLst/>
            <a:gdLst/>
            <a:ahLst/>
            <a:cxnLst/>
            <a:rect l="l" t="t" r="r" b="b"/>
            <a:pathLst>
              <a:path w="5675313" h="5230813">
                <a:moveTo>
                  <a:pt x="95253" y="0"/>
                </a:moveTo>
                <a:lnTo>
                  <a:pt x="5580059" y="0"/>
                </a:lnTo>
                <a:cubicBezTo>
                  <a:pt x="5632666" y="0"/>
                  <a:pt x="5675313" y="42646"/>
                  <a:pt x="5675313" y="95253"/>
                </a:cubicBezTo>
                <a:lnTo>
                  <a:pt x="5675313" y="5135559"/>
                </a:lnTo>
                <a:cubicBezTo>
                  <a:pt x="5675312" y="5188166"/>
                  <a:pt x="5632666" y="5230813"/>
                  <a:pt x="5580059" y="5230813"/>
                </a:cubicBezTo>
                <a:lnTo>
                  <a:pt x="95253" y="5230813"/>
                </a:lnTo>
                <a:cubicBezTo>
                  <a:pt x="42646" y="5230813"/>
                  <a:pt x="0" y="5188166"/>
                  <a:pt x="0" y="5135559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EFF6FF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BEDB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515938" y="15001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155D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674688" y="1658938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147820" y="0"/>
                  <a:pt x="190500" y="42680"/>
                  <a:pt x="190500" y="95250"/>
                </a:cubicBezTo>
                <a:cubicBezTo>
                  <a:pt x="190500" y="147820"/>
                  <a:pt x="147820" y="190500"/>
                  <a:pt x="95250" y="190500"/>
                </a:cubicBezTo>
                <a:cubicBezTo>
                  <a:pt x="42680" y="190500"/>
                  <a:pt x="0" y="147820"/>
                  <a:pt x="0" y="95250"/>
                </a:cubicBezTo>
                <a:cubicBezTo>
                  <a:pt x="0" y="42680"/>
                  <a:pt x="42680" y="0"/>
                  <a:pt x="95250" y="0"/>
                </a:cubicBezTo>
                <a:close/>
                <a:moveTo>
                  <a:pt x="86320" y="44648"/>
                </a:moveTo>
                <a:lnTo>
                  <a:pt x="86320" y="95250"/>
                </a:lnTo>
                <a:cubicBezTo>
                  <a:pt x="86320" y="98227"/>
                  <a:pt x="87809" y="101017"/>
                  <a:pt x="90301" y="102691"/>
                </a:cubicBezTo>
                <a:lnTo>
                  <a:pt x="126020" y="126504"/>
                </a:lnTo>
                <a:cubicBezTo>
                  <a:pt x="130113" y="129257"/>
                  <a:pt x="135657" y="128141"/>
                  <a:pt x="138410" y="124011"/>
                </a:cubicBezTo>
                <a:cubicBezTo>
                  <a:pt x="141163" y="119881"/>
                  <a:pt x="140047" y="114374"/>
                  <a:pt x="135917" y="111621"/>
                </a:cubicBezTo>
                <a:lnTo>
                  <a:pt x="104180" y="90488"/>
                </a:lnTo>
                <a:lnTo>
                  <a:pt x="104180" y="44648"/>
                </a:lnTo>
                <a:cubicBezTo>
                  <a:pt x="104180" y="39700"/>
                  <a:pt x="100199" y="35719"/>
                  <a:pt x="95250" y="35719"/>
                </a:cubicBezTo>
                <a:cubicBezTo>
                  <a:pt x="90301" y="35719"/>
                  <a:pt x="86320" y="39700"/>
                  <a:pt x="86320" y="44648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150938" y="1635126"/>
            <a:ext cx="26908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Reduced Unplanned Downtime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15938" y="2135189"/>
            <a:ext cx="5349875" cy="1135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Liter" pitchFamily="34" charset="0"/>
                <a:ea typeface="Liter" pitchFamily="34" charset="-122"/>
                <a:cs typeface="Liter" pitchFamily="34" charset="-120"/>
              </a:rPr>
              <a:t>Transition from reactive firefighting to proactive planning. Address equipment issues before they cause production stops.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94430" y="3259401"/>
            <a:ext cx="1382604" cy="222250"/>
          </a:xfrm>
          <a:custGeom>
            <a:avLst/>
            <a:gdLst/>
            <a:ahLst/>
            <a:cxnLst/>
            <a:rect l="l" t="t" r="r" b="b"/>
            <a:pathLst>
              <a:path w="1182688" h="222250">
                <a:moveTo>
                  <a:pt x="111125" y="0"/>
                </a:moveTo>
                <a:lnTo>
                  <a:pt x="1071563" y="0"/>
                </a:lnTo>
                <a:cubicBezTo>
                  <a:pt x="1132894" y="0"/>
                  <a:pt x="1182688" y="49793"/>
                  <a:pt x="1182688" y="111125"/>
                </a:cubicBezTo>
                <a:lnTo>
                  <a:pt x="1182688" y="111125"/>
                </a:lnTo>
                <a:cubicBezTo>
                  <a:pt x="1182688" y="172457"/>
                  <a:pt x="1132894" y="222250"/>
                  <a:pt x="10715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DBEAFE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1" name="Text 9"/>
          <p:cNvSpPr/>
          <p:nvPr/>
        </p:nvSpPr>
        <p:spPr>
          <a:xfrm>
            <a:off x="674688" y="3271152"/>
            <a:ext cx="1757484" cy="162719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1447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Predictive Approach</a:t>
            </a:r>
            <a:endParaRPr lang="en-US" sz="2800" dirty="0"/>
          </a:p>
        </p:txBody>
      </p:sp>
      <p:sp>
        <p:nvSpPr>
          <p:cNvPr id="12" name="Shape 10"/>
          <p:cNvSpPr/>
          <p:nvPr/>
        </p:nvSpPr>
        <p:spPr>
          <a:xfrm>
            <a:off x="2258273" y="3263216"/>
            <a:ext cx="1031784" cy="218435"/>
          </a:xfrm>
          <a:custGeom>
            <a:avLst/>
            <a:gdLst/>
            <a:ahLst/>
            <a:cxnLst/>
            <a:rect l="l" t="t" r="r" b="b"/>
            <a:pathLst>
              <a:path w="873125" h="222250">
                <a:moveTo>
                  <a:pt x="111125" y="0"/>
                </a:moveTo>
                <a:lnTo>
                  <a:pt x="762000" y="0"/>
                </a:lnTo>
                <a:cubicBezTo>
                  <a:pt x="823332" y="0"/>
                  <a:pt x="873125" y="49793"/>
                  <a:pt x="873125" y="111125"/>
                </a:cubicBezTo>
                <a:lnTo>
                  <a:pt x="873125" y="111125"/>
                </a:lnTo>
                <a:cubicBezTo>
                  <a:pt x="873125" y="172457"/>
                  <a:pt x="823332" y="222250"/>
                  <a:pt x="762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DBEAFE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3" name="Text 11"/>
          <p:cNvSpPr/>
          <p:nvPr/>
        </p:nvSpPr>
        <p:spPr>
          <a:xfrm>
            <a:off x="2228824" y="3259401"/>
            <a:ext cx="1377591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1447E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Early Warning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17500" y="4056626"/>
            <a:ext cx="5675313" cy="2483874"/>
          </a:xfrm>
          <a:custGeom>
            <a:avLst/>
            <a:gdLst/>
            <a:ahLst/>
            <a:cxnLst/>
            <a:rect l="l" t="t" r="r" b="b"/>
            <a:pathLst>
              <a:path w="5675313" h="5230813">
                <a:moveTo>
                  <a:pt x="95253" y="0"/>
                </a:moveTo>
                <a:lnTo>
                  <a:pt x="5580059" y="0"/>
                </a:lnTo>
                <a:cubicBezTo>
                  <a:pt x="5632666" y="0"/>
                  <a:pt x="5675313" y="42646"/>
                  <a:pt x="5675313" y="95253"/>
                </a:cubicBezTo>
                <a:lnTo>
                  <a:pt x="5675313" y="5135559"/>
                </a:lnTo>
                <a:cubicBezTo>
                  <a:pt x="5675312" y="5188166"/>
                  <a:pt x="5632666" y="5230813"/>
                  <a:pt x="5580059" y="5230813"/>
                </a:cubicBezTo>
                <a:lnTo>
                  <a:pt x="95253" y="5230813"/>
                </a:lnTo>
                <a:cubicBezTo>
                  <a:pt x="42646" y="5230813"/>
                  <a:pt x="0" y="5188166"/>
                  <a:pt x="0" y="5135559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F0FDF4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B9F8C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515938" y="4253312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00A63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662781" y="4412062"/>
            <a:ext cx="214313" cy="190500"/>
          </a:xfrm>
          <a:custGeom>
            <a:avLst/>
            <a:gdLst/>
            <a:ahLst/>
            <a:cxnLst/>
            <a:rect l="l" t="t" r="r" b="b"/>
            <a:pathLst>
              <a:path w="214313" h="190500">
                <a:moveTo>
                  <a:pt x="56034" y="15404"/>
                </a:moveTo>
                <a:cubicBezTo>
                  <a:pt x="51383" y="10753"/>
                  <a:pt x="43830" y="10753"/>
                  <a:pt x="39179" y="15404"/>
                </a:cubicBezTo>
                <a:lnTo>
                  <a:pt x="3460" y="51122"/>
                </a:lnTo>
                <a:cubicBezTo>
                  <a:pt x="-1191" y="55773"/>
                  <a:pt x="-1191" y="63326"/>
                  <a:pt x="3460" y="67977"/>
                </a:cubicBezTo>
                <a:cubicBezTo>
                  <a:pt x="8111" y="72628"/>
                  <a:pt x="15664" y="72628"/>
                  <a:pt x="20315" y="67977"/>
                </a:cubicBezTo>
                <a:lnTo>
                  <a:pt x="35719" y="52574"/>
                </a:lnTo>
                <a:lnTo>
                  <a:pt x="35719" y="166688"/>
                </a:lnTo>
                <a:cubicBezTo>
                  <a:pt x="35719" y="173273"/>
                  <a:pt x="41039" y="178594"/>
                  <a:pt x="47625" y="178594"/>
                </a:cubicBezTo>
                <a:cubicBezTo>
                  <a:pt x="54211" y="178594"/>
                  <a:pt x="59531" y="173273"/>
                  <a:pt x="59531" y="166688"/>
                </a:cubicBezTo>
                <a:lnTo>
                  <a:pt x="59531" y="52574"/>
                </a:lnTo>
                <a:lnTo>
                  <a:pt x="74935" y="67977"/>
                </a:lnTo>
                <a:cubicBezTo>
                  <a:pt x="79586" y="72628"/>
                  <a:pt x="87139" y="72628"/>
                  <a:pt x="91790" y="67977"/>
                </a:cubicBezTo>
                <a:cubicBezTo>
                  <a:pt x="96441" y="63326"/>
                  <a:pt x="96441" y="55773"/>
                  <a:pt x="91790" y="51122"/>
                </a:cubicBezTo>
                <a:lnTo>
                  <a:pt x="56071" y="15404"/>
                </a:lnTo>
                <a:close/>
                <a:moveTo>
                  <a:pt x="119063" y="178594"/>
                </a:moveTo>
                <a:lnTo>
                  <a:pt x="130969" y="178594"/>
                </a:lnTo>
                <a:cubicBezTo>
                  <a:pt x="137554" y="178594"/>
                  <a:pt x="142875" y="173273"/>
                  <a:pt x="142875" y="166688"/>
                </a:cubicBezTo>
                <a:cubicBezTo>
                  <a:pt x="142875" y="160102"/>
                  <a:pt x="137554" y="154781"/>
                  <a:pt x="130969" y="154781"/>
                </a:cubicBezTo>
                <a:lnTo>
                  <a:pt x="119063" y="154781"/>
                </a:lnTo>
                <a:cubicBezTo>
                  <a:pt x="112477" y="154781"/>
                  <a:pt x="107156" y="160102"/>
                  <a:pt x="107156" y="166688"/>
                </a:cubicBezTo>
                <a:cubicBezTo>
                  <a:pt x="107156" y="173273"/>
                  <a:pt x="112477" y="178594"/>
                  <a:pt x="119063" y="178594"/>
                </a:cubicBezTo>
                <a:close/>
                <a:moveTo>
                  <a:pt x="119063" y="130969"/>
                </a:moveTo>
                <a:lnTo>
                  <a:pt x="154781" y="130969"/>
                </a:lnTo>
                <a:cubicBezTo>
                  <a:pt x="161367" y="130969"/>
                  <a:pt x="166688" y="125648"/>
                  <a:pt x="166688" y="119063"/>
                </a:cubicBezTo>
                <a:cubicBezTo>
                  <a:pt x="166688" y="112477"/>
                  <a:pt x="161367" y="107156"/>
                  <a:pt x="154781" y="107156"/>
                </a:cubicBezTo>
                <a:lnTo>
                  <a:pt x="119063" y="107156"/>
                </a:lnTo>
                <a:cubicBezTo>
                  <a:pt x="112477" y="107156"/>
                  <a:pt x="107156" y="112477"/>
                  <a:pt x="107156" y="119063"/>
                </a:cubicBezTo>
                <a:cubicBezTo>
                  <a:pt x="107156" y="125648"/>
                  <a:pt x="112477" y="130969"/>
                  <a:pt x="119063" y="130969"/>
                </a:cubicBezTo>
                <a:close/>
                <a:moveTo>
                  <a:pt x="119063" y="83344"/>
                </a:moveTo>
                <a:lnTo>
                  <a:pt x="178594" y="83344"/>
                </a:lnTo>
                <a:cubicBezTo>
                  <a:pt x="185179" y="83344"/>
                  <a:pt x="190500" y="78023"/>
                  <a:pt x="190500" y="71438"/>
                </a:cubicBezTo>
                <a:cubicBezTo>
                  <a:pt x="190500" y="64852"/>
                  <a:pt x="185179" y="59531"/>
                  <a:pt x="178594" y="59531"/>
                </a:cubicBezTo>
                <a:lnTo>
                  <a:pt x="119063" y="59531"/>
                </a:lnTo>
                <a:cubicBezTo>
                  <a:pt x="112477" y="59531"/>
                  <a:pt x="107156" y="64852"/>
                  <a:pt x="107156" y="71438"/>
                </a:cubicBezTo>
                <a:cubicBezTo>
                  <a:pt x="107156" y="78023"/>
                  <a:pt x="112477" y="83344"/>
                  <a:pt x="119063" y="83344"/>
                </a:cubicBezTo>
                <a:close/>
                <a:moveTo>
                  <a:pt x="119063" y="35719"/>
                </a:moveTo>
                <a:lnTo>
                  <a:pt x="202406" y="35719"/>
                </a:lnTo>
                <a:cubicBezTo>
                  <a:pt x="208992" y="35719"/>
                  <a:pt x="214313" y="30398"/>
                  <a:pt x="214313" y="23812"/>
                </a:cubicBezTo>
                <a:cubicBezTo>
                  <a:pt x="214313" y="17227"/>
                  <a:pt x="208992" y="11906"/>
                  <a:pt x="202406" y="11906"/>
                </a:cubicBezTo>
                <a:lnTo>
                  <a:pt x="119063" y="11906"/>
                </a:lnTo>
                <a:cubicBezTo>
                  <a:pt x="112477" y="11906"/>
                  <a:pt x="107156" y="17227"/>
                  <a:pt x="107156" y="23812"/>
                </a:cubicBezTo>
                <a:cubicBezTo>
                  <a:pt x="107156" y="30398"/>
                  <a:pt x="112477" y="35719"/>
                  <a:pt x="119063" y="35719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150938" y="4253312"/>
            <a:ext cx="1992313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Prioritization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29520" y="4805333"/>
            <a:ext cx="4994846" cy="115538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Liter" pitchFamily="34" charset="0"/>
                <a:ea typeface="Liter" pitchFamily="34" charset="-122"/>
                <a:cs typeface="Liter" pitchFamily="34" charset="-120"/>
              </a:rPr>
              <a:t>Focus maintenance efforts on equipment that matters most. Data-driven rankings replace subjective judgment calls.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94430" y="5939742"/>
            <a:ext cx="1039812" cy="222250"/>
          </a:xfrm>
          <a:custGeom>
            <a:avLst/>
            <a:gdLst/>
            <a:ahLst/>
            <a:cxnLst/>
            <a:rect l="l" t="t" r="r" b="b"/>
            <a:pathLst>
              <a:path w="746125" h="222250">
                <a:moveTo>
                  <a:pt x="111125" y="0"/>
                </a:moveTo>
                <a:lnTo>
                  <a:pt x="635000" y="0"/>
                </a:lnTo>
                <a:cubicBezTo>
                  <a:pt x="696332" y="0"/>
                  <a:pt x="746125" y="49793"/>
                  <a:pt x="746125" y="111125"/>
                </a:cubicBezTo>
                <a:lnTo>
                  <a:pt x="746125" y="111125"/>
                </a:lnTo>
                <a:cubicBezTo>
                  <a:pt x="746125" y="172457"/>
                  <a:pt x="696332" y="222250"/>
                  <a:pt x="63500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20" name="Text 18"/>
          <p:cNvSpPr/>
          <p:nvPr/>
        </p:nvSpPr>
        <p:spPr>
          <a:xfrm>
            <a:off x="748564" y="5960715"/>
            <a:ext cx="1410398" cy="214312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Risk-Based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1970992" y="5942681"/>
            <a:ext cx="1212097" cy="232346"/>
          </a:xfrm>
          <a:custGeom>
            <a:avLst/>
            <a:gdLst/>
            <a:ahLst/>
            <a:cxnLst/>
            <a:rect l="l" t="t" r="r" b="b"/>
            <a:pathLst>
              <a:path w="1039812" h="222250">
                <a:moveTo>
                  <a:pt x="111125" y="0"/>
                </a:moveTo>
                <a:lnTo>
                  <a:pt x="928688" y="0"/>
                </a:lnTo>
                <a:cubicBezTo>
                  <a:pt x="990019" y="0"/>
                  <a:pt x="1039812" y="49793"/>
                  <a:pt x="1039812" y="111125"/>
                </a:cubicBezTo>
                <a:lnTo>
                  <a:pt x="1039812" y="111125"/>
                </a:lnTo>
                <a:cubicBezTo>
                  <a:pt x="1039812" y="172457"/>
                  <a:pt x="990019" y="222250"/>
                  <a:pt x="92868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DCFCE7"/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22" name="Text 20"/>
          <p:cNvSpPr/>
          <p:nvPr/>
        </p:nvSpPr>
        <p:spPr>
          <a:xfrm>
            <a:off x="1913198" y="5952777"/>
            <a:ext cx="1966107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008236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Objective Criteria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95219" y="1305720"/>
            <a:ext cx="5675313" cy="2571260"/>
          </a:xfrm>
          <a:custGeom>
            <a:avLst/>
            <a:gdLst/>
            <a:ahLst/>
            <a:cxnLst/>
            <a:rect l="l" t="t" r="r" b="b"/>
            <a:pathLst>
              <a:path w="5675313" h="5230813">
                <a:moveTo>
                  <a:pt x="95253" y="0"/>
                </a:moveTo>
                <a:lnTo>
                  <a:pt x="5580059" y="0"/>
                </a:lnTo>
                <a:cubicBezTo>
                  <a:pt x="5632666" y="0"/>
                  <a:pt x="5675313" y="42646"/>
                  <a:pt x="5675313" y="95253"/>
                </a:cubicBezTo>
                <a:lnTo>
                  <a:pt x="5675313" y="5135559"/>
                </a:lnTo>
                <a:cubicBezTo>
                  <a:pt x="5675312" y="5188166"/>
                  <a:pt x="5632666" y="5230813"/>
                  <a:pt x="5580059" y="5230813"/>
                </a:cubicBezTo>
                <a:lnTo>
                  <a:pt x="95253" y="5230813"/>
                </a:lnTo>
                <a:cubicBezTo>
                  <a:pt x="42646" y="5230813"/>
                  <a:pt x="0" y="5188166"/>
                  <a:pt x="0" y="5135559"/>
                </a:cubicBezTo>
                <a:lnTo>
                  <a:pt x="0" y="95253"/>
                </a:lnTo>
                <a:cubicBezTo>
                  <a:pt x="0" y="42681"/>
                  <a:pt x="42681" y="0"/>
                  <a:pt x="95253" y="0"/>
                </a:cubicBezTo>
                <a:close/>
              </a:path>
            </a:pathLst>
          </a:custGeom>
          <a:gradFill flip="none" rotWithShape="1">
            <a:gsLst>
              <a:gs pos="0">
                <a:srgbClr val="FAF5FF"/>
              </a:gs>
              <a:gs pos="100000">
                <a:srgbClr val="FFFFFF"/>
              </a:gs>
            </a:gsLst>
            <a:lin ang="2700000" scaled="1"/>
          </a:gradFill>
          <a:ln w="12700">
            <a:solidFill>
              <a:srgbClr val="E9D4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6389688" y="1500188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9810F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524625" y="1658938"/>
            <a:ext cx="238125" cy="190500"/>
          </a:xfrm>
          <a:custGeom>
            <a:avLst/>
            <a:gdLst/>
            <a:ahLst/>
            <a:cxnLst/>
            <a:rect l="l" t="t" r="r" b="b"/>
            <a:pathLst>
              <a:path w="238125" h="190500">
                <a:moveTo>
                  <a:pt x="119063" y="83344"/>
                </a:moveTo>
                <a:cubicBezTo>
                  <a:pt x="140419" y="83344"/>
                  <a:pt x="157758" y="66005"/>
                  <a:pt x="157758" y="44648"/>
                </a:cubicBezTo>
                <a:cubicBezTo>
                  <a:pt x="157758" y="23292"/>
                  <a:pt x="140419" y="5953"/>
                  <a:pt x="119063" y="5953"/>
                </a:cubicBezTo>
                <a:cubicBezTo>
                  <a:pt x="97706" y="5953"/>
                  <a:pt x="80367" y="23292"/>
                  <a:pt x="80367" y="44648"/>
                </a:cubicBezTo>
                <a:cubicBezTo>
                  <a:pt x="80367" y="66005"/>
                  <a:pt x="97706" y="83344"/>
                  <a:pt x="119063" y="83344"/>
                </a:cubicBezTo>
                <a:close/>
                <a:moveTo>
                  <a:pt x="35719" y="86320"/>
                </a:moveTo>
                <a:cubicBezTo>
                  <a:pt x="50504" y="86320"/>
                  <a:pt x="62508" y="74317"/>
                  <a:pt x="62508" y="59531"/>
                </a:cubicBezTo>
                <a:cubicBezTo>
                  <a:pt x="62508" y="44746"/>
                  <a:pt x="50504" y="32742"/>
                  <a:pt x="35719" y="32742"/>
                </a:cubicBezTo>
                <a:cubicBezTo>
                  <a:pt x="20933" y="32742"/>
                  <a:pt x="8930" y="44746"/>
                  <a:pt x="8930" y="59531"/>
                </a:cubicBezTo>
                <a:cubicBezTo>
                  <a:pt x="8930" y="74317"/>
                  <a:pt x="20933" y="86320"/>
                  <a:pt x="35719" y="86320"/>
                </a:cubicBezTo>
                <a:close/>
                <a:moveTo>
                  <a:pt x="0" y="154781"/>
                </a:moveTo>
                <a:lnTo>
                  <a:pt x="0" y="166688"/>
                </a:lnTo>
                <a:cubicBezTo>
                  <a:pt x="0" y="173273"/>
                  <a:pt x="5321" y="178594"/>
                  <a:pt x="11906" y="178594"/>
                </a:cubicBezTo>
                <a:lnTo>
                  <a:pt x="44165" y="178594"/>
                </a:lnTo>
                <a:cubicBezTo>
                  <a:pt x="42565" y="174947"/>
                  <a:pt x="41672" y="170929"/>
                  <a:pt x="41672" y="166688"/>
                </a:cubicBezTo>
                <a:lnTo>
                  <a:pt x="41672" y="160734"/>
                </a:lnTo>
                <a:cubicBezTo>
                  <a:pt x="41672" y="140940"/>
                  <a:pt x="49113" y="122858"/>
                  <a:pt x="61354" y="109165"/>
                </a:cubicBezTo>
                <a:cubicBezTo>
                  <a:pt x="57001" y="107863"/>
                  <a:pt x="52388" y="107156"/>
                  <a:pt x="47625" y="107156"/>
                </a:cubicBezTo>
                <a:cubicBezTo>
                  <a:pt x="21320" y="107156"/>
                  <a:pt x="0" y="128476"/>
                  <a:pt x="0" y="154781"/>
                </a:cubicBezTo>
                <a:close/>
                <a:moveTo>
                  <a:pt x="229195" y="59531"/>
                </a:moveTo>
                <a:cubicBezTo>
                  <a:pt x="229195" y="44746"/>
                  <a:pt x="217192" y="32742"/>
                  <a:pt x="202406" y="32742"/>
                </a:cubicBezTo>
                <a:cubicBezTo>
                  <a:pt x="187621" y="32742"/>
                  <a:pt x="175617" y="44746"/>
                  <a:pt x="175617" y="59531"/>
                </a:cubicBezTo>
                <a:cubicBezTo>
                  <a:pt x="175617" y="74317"/>
                  <a:pt x="187621" y="86320"/>
                  <a:pt x="202406" y="86320"/>
                </a:cubicBezTo>
                <a:cubicBezTo>
                  <a:pt x="217192" y="86320"/>
                  <a:pt x="229195" y="74317"/>
                  <a:pt x="229195" y="59531"/>
                </a:cubicBezTo>
                <a:close/>
                <a:moveTo>
                  <a:pt x="59531" y="160734"/>
                </a:moveTo>
                <a:lnTo>
                  <a:pt x="59531" y="166688"/>
                </a:lnTo>
                <a:cubicBezTo>
                  <a:pt x="59531" y="173273"/>
                  <a:pt x="64852" y="178594"/>
                  <a:pt x="71438" y="178594"/>
                </a:cubicBezTo>
                <a:lnTo>
                  <a:pt x="129778" y="178594"/>
                </a:lnTo>
                <a:cubicBezTo>
                  <a:pt x="127136" y="170557"/>
                  <a:pt x="127434" y="162074"/>
                  <a:pt x="133759" y="154781"/>
                </a:cubicBezTo>
                <a:cubicBezTo>
                  <a:pt x="128550" y="148754"/>
                  <a:pt x="126132" y="140010"/>
                  <a:pt x="129518" y="131229"/>
                </a:cubicBezTo>
                <a:cubicBezTo>
                  <a:pt x="131973" y="124867"/>
                  <a:pt x="135434" y="118914"/>
                  <a:pt x="139712" y="113630"/>
                </a:cubicBezTo>
                <a:cubicBezTo>
                  <a:pt x="141722" y="111175"/>
                  <a:pt x="144028" y="109277"/>
                  <a:pt x="146521" y="107900"/>
                </a:cubicBezTo>
                <a:cubicBezTo>
                  <a:pt x="138299" y="103622"/>
                  <a:pt x="128960" y="101203"/>
                  <a:pt x="119063" y="101203"/>
                </a:cubicBezTo>
                <a:cubicBezTo>
                  <a:pt x="86171" y="101203"/>
                  <a:pt x="59531" y="127843"/>
                  <a:pt x="59531" y="160734"/>
                </a:cubicBezTo>
                <a:close/>
                <a:moveTo>
                  <a:pt x="232395" y="144326"/>
                </a:moveTo>
                <a:cubicBezTo>
                  <a:pt x="234739" y="142987"/>
                  <a:pt x="235930" y="140196"/>
                  <a:pt x="234925" y="137629"/>
                </a:cubicBezTo>
                <a:cubicBezTo>
                  <a:pt x="233139" y="133015"/>
                  <a:pt x="230646" y="128662"/>
                  <a:pt x="227521" y="124830"/>
                </a:cubicBezTo>
                <a:cubicBezTo>
                  <a:pt x="225809" y="122709"/>
                  <a:pt x="222796" y="122337"/>
                  <a:pt x="220452" y="123713"/>
                </a:cubicBezTo>
                <a:cubicBezTo>
                  <a:pt x="212341" y="128401"/>
                  <a:pt x="202369" y="122672"/>
                  <a:pt x="202369" y="113258"/>
                </a:cubicBezTo>
                <a:cubicBezTo>
                  <a:pt x="202369" y="110542"/>
                  <a:pt x="200546" y="108124"/>
                  <a:pt x="197867" y="107714"/>
                </a:cubicBezTo>
                <a:cubicBezTo>
                  <a:pt x="193067" y="106970"/>
                  <a:pt x="187896" y="106970"/>
                  <a:pt x="183096" y="107714"/>
                </a:cubicBezTo>
                <a:cubicBezTo>
                  <a:pt x="180417" y="108124"/>
                  <a:pt x="178594" y="110542"/>
                  <a:pt x="178594" y="113258"/>
                </a:cubicBezTo>
                <a:cubicBezTo>
                  <a:pt x="178594" y="122634"/>
                  <a:pt x="168622" y="128401"/>
                  <a:pt x="160511" y="123713"/>
                </a:cubicBezTo>
                <a:cubicBezTo>
                  <a:pt x="158167" y="122374"/>
                  <a:pt x="155153" y="122746"/>
                  <a:pt x="153442" y="124830"/>
                </a:cubicBezTo>
                <a:cubicBezTo>
                  <a:pt x="150316" y="128662"/>
                  <a:pt x="147824" y="133015"/>
                  <a:pt x="146038" y="137629"/>
                </a:cubicBezTo>
                <a:cubicBezTo>
                  <a:pt x="145070" y="140159"/>
                  <a:pt x="146224" y="142949"/>
                  <a:pt x="148568" y="144289"/>
                </a:cubicBezTo>
                <a:cubicBezTo>
                  <a:pt x="156716" y="148977"/>
                  <a:pt x="156716" y="160474"/>
                  <a:pt x="148568" y="165199"/>
                </a:cubicBezTo>
                <a:cubicBezTo>
                  <a:pt x="146224" y="166539"/>
                  <a:pt x="145033" y="169329"/>
                  <a:pt x="146038" y="171859"/>
                </a:cubicBezTo>
                <a:cubicBezTo>
                  <a:pt x="147824" y="176473"/>
                  <a:pt x="150316" y="180826"/>
                  <a:pt x="153442" y="184658"/>
                </a:cubicBezTo>
                <a:cubicBezTo>
                  <a:pt x="155153" y="186779"/>
                  <a:pt x="158167" y="187151"/>
                  <a:pt x="160511" y="185775"/>
                </a:cubicBezTo>
                <a:cubicBezTo>
                  <a:pt x="168622" y="181087"/>
                  <a:pt x="178594" y="186854"/>
                  <a:pt x="178594" y="196230"/>
                </a:cubicBezTo>
                <a:cubicBezTo>
                  <a:pt x="178594" y="198946"/>
                  <a:pt x="180417" y="201364"/>
                  <a:pt x="183096" y="201774"/>
                </a:cubicBezTo>
                <a:cubicBezTo>
                  <a:pt x="187896" y="202518"/>
                  <a:pt x="193067" y="202518"/>
                  <a:pt x="197867" y="201774"/>
                </a:cubicBezTo>
                <a:cubicBezTo>
                  <a:pt x="200546" y="201364"/>
                  <a:pt x="202369" y="198946"/>
                  <a:pt x="202369" y="196230"/>
                </a:cubicBezTo>
                <a:cubicBezTo>
                  <a:pt x="202369" y="186854"/>
                  <a:pt x="212341" y="181087"/>
                  <a:pt x="220452" y="185775"/>
                </a:cubicBezTo>
                <a:cubicBezTo>
                  <a:pt x="222796" y="187114"/>
                  <a:pt x="225809" y="186742"/>
                  <a:pt x="227521" y="184658"/>
                </a:cubicBezTo>
                <a:cubicBezTo>
                  <a:pt x="230646" y="180826"/>
                  <a:pt x="233139" y="176473"/>
                  <a:pt x="234925" y="171859"/>
                </a:cubicBezTo>
                <a:cubicBezTo>
                  <a:pt x="235893" y="169329"/>
                  <a:pt x="234739" y="166539"/>
                  <a:pt x="232395" y="165199"/>
                </a:cubicBezTo>
                <a:cubicBezTo>
                  <a:pt x="224247" y="160511"/>
                  <a:pt x="224247" y="149014"/>
                  <a:pt x="232395" y="144289"/>
                </a:cubicBezTo>
                <a:close/>
                <a:moveTo>
                  <a:pt x="175617" y="154781"/>
                </a:moveTo>
                <a:cubicBezTo>
                  <a:pt x="175617" y="146567"/>
                  <a:pt x="182286" y="139898"/>
                  <a:pt x="190500" y="139898"/>
                </a:cubicBezTo>
                <a:cubicBezTo>
                  <a:pt x="198714" y="139898"/>
                  <a:pt x="205383" y="146567"/>
                  <a:pt x="205383" y="154781"/>
                </a:cubicBezTo>
                <a:cubicBezTo>
                  <a:pt x="205383" y="162995"/>
                  <a:pt x="198714" y="169664"/>
                  <a:pt x="190500" y="169664"/>
                </a:cubicBezTo>
                <a:cubicBezTo>
                  <a:pt x="182286" y="169664"/>
                  <a:pt x="175617" y="162995"/>
                  <a:pt x="175617" y="154781"/>
                </a:cubicBezTo>
                <a:close/>
              </a:path>
            </a:pathLst>
          </a:cu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7032625" y="1627188"/>
            <a:ext cx="201612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Better Resource Usage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6389688" y="2135189"/>
            <a:ext cx="5349875" cy="11355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Liter" pitchFamily="34" charset="0"/>
                <a:ea typeface="Liter" pitchFamily="34" charset="-122"/>
                <a:cs typeface="Liter" pitchFamily="34" charset="-120"/>
              </a:rPr>
              <a:t>Optimize crew deployment and maintenance windows. Allocate limited resources to highest-impact activities.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524625" y="3271593"/>
            <a:ext cx="1377591" cy="222250"/>
          </a:xfrm>
          <a:custGeom>
            <a:avLst/>
            <a:gdLst/>
            <a:ahLst/>
            <a:cxnLst/>
            <a:rect l="l" t="t" r="r" b="b"/>
            <a:pathLst>
              <a:path w="1095375" h="222250">
                <a:moveTo>
                  <a:pt x="111125" y="0"/>
                </a:moveTo>
                <a:lnTo>
                  <a:pt x="984250" y="0"/>
                </a:lnTo>
                <a:cubicBezTo>
                  <a:pt x="1045582" y="0"/>
                  <a:pt x="1095375" y="49793"/>
                  <a:pt x="1095375" y="111125"/>
                </a:cubicBezTo>
                <a:lnTo>
                  <a:pt x="1095375" y="111125"/>
                </a:lnTo>
                <a:cubicBezTo>
                  <a:pt x="1095375" y="172457"/>
                  <a:pt x="1045582" y="222250"/>
                  <a:pt x="984250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F3E8FF"/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29" name="Text 27"/>
          <p:cNvSpPr/>
          <p:nvPr/>
        </p:nvSpPr>
        <p:spPr>
          <a:xfrm>
            <a:off x="6524625" y="3271593"/>
            <a:ext cx="1543844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8200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Crew Optimization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078576" y="3271593"/>
            <a:ext cx="1504590" cy="222250"/>
          </a:xfrm>
          <a:custGeom>
            <a:avLst/>
            <a:gdLst/>
            <a:ahLst/>
            <a:cxnLst/>
            <a:rect l="l" t="t" r="r" b="b"/>
            <a:pathLst>
              <a:path w="1166813" h="222250">
                <a:moveTo>
                  <a:pt x="111125" y="0"/>
                </a:moveTo>
                <a:lnTo>
                  <a:pt x="1055688" y="0"/>
                </a:lnTo>
                <a:cubicBezTo>
                  <a:pt x="1117019" y="0"/>
                  <a:pt x="1166813" y="49793"/>
                  <a:pt x="1166813" y="111125"/>
                </a:cubicBezTo>
                <a:lnTo>
                  <a:pt x="1166813" y="111125"/>
                </a:lnTo>
                <a:cubicBezTo>
                  <a:pt x="1166813" y="172457"/>
                  <a:pt x="1117019" y="222250"/>
                  <a:pt x="1055688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F3E8FF"/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31" name="Text 29"/>
          <p:cNvSpPr/>
          <p:nvPr/>
        </p:nvSpPr>
        <p:spPr>
          <a:xfrm>
            <a:off x="8078576" y="3259401"/>
            <a:ext cx="1585518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8200DB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Schedule Efficiency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95225" y="4060595"/>
            <a:ext cx="5667375" cy="2480104"/>
          </a:xfrm>
          <a:custGeom>
            <a:avLst/>
            <a:gdLst/>
            <a:ahLst/>
            <a:cxnLst/>
            <a:rect l="l" t="t" r="r" b="b"/>
            <a:pathLst>
              <a:path w="5667375" h="5222875">
                <a:moveTo>
                  <a:pt x="95265" y="0"/>
                </a:moveTo>
                <a:lnTo>
                  <a:pt x="5572110" y="0"/>
                </a:lnTo>
                <a:cubicBezTo>
                  <a:pt x="5624723" y="0"/>
                  <a:pt x="5667375" y="42652"/>
                  <a:pt x="5667375" y="95265"/>
                </a:cubicBezTo>
                <a:lnTo>
                  <a:pt x="5667375" y="5127610"/>
                </a:lnTo>
                <a:cubicBezTo>
                  <a:pt x="5667375" y="5180223"/>
                  <a:pt x="5624723" y="5222875"/>
                  <a:pt x="5572110" y="5222875"/>
                </a:cubicBezTo>
                <a:lnTo>
                  <a:pt x="95265" y="5222875"/>
                </a:lnTo>
                <a:cubicBezTo>
                  <a:pt x="42652" y="5222875"/>
                  <a:pt x="0" y="5180223"/>
                  <a:pt x="0" y="5127610"/>
                </a:cubicBezTo>
                <a:lnTo>
                  <a:pt x="0" y="95265"/>
                </a:lnTo>
                <a:cubicBezTo>
                  <a:pt x="0" y="42687"/>
                  <a:pt x="42687" y="0"/>
                  <a:pt x="95265" y="0"/>
                </a:cubicBezTo>
                <a:close/>
              </a:path>
            </a:pathLst>
          </a:custGeom>
          <a:gradFill flip="none" rotWithShape="1">
            <a:gsLst>
              <a:gs pos="0">
                <a:srgbClr val="8C1D40">
                  <a:alpha val="10000"/>
                </a:srgbClr>
              </a:gs>
              <a:gs pos="100000">
                <a:srgbClr val="FFFFFF"/>
              </a:gs>
            </a:gsLst>
            <a:lin ang="2700000" scaled="1"/>
          </a:gradFill>
          <a:ln w="25400">
            <a:solidFill>
              <a:srgbClr val="8A1A4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6397625" y="4261249"/>
            <a:ext cx="508000" cy="508000"/>
          </a:xfrm>
          <a:custGeom>
            <a:avLst/>
            <a:gdLst/>
            <a:ahLst/>
            <a:cxnLst/>
            <a:rect l="l" t="t" r="r" b="b"/>
            <a:pathLst>
              <a:path w="508000" h="508000">
                <a:moveTo>
                  <a:pt x="95250" y="0"/>
                </a:moveTo>
                <a:lnTo>
                  <a:pt x="412750" y="0"/>
                </a:lnTo>
                <a:cubicBezTo>
                  <a:pt x="465320" y="0"/>
                  <a:pt x="508000" y="42680"/>
                  <a:pt x="508000" y="95250"/>
                </a:cubicBezTo>
                <a:lnTo>
                  <a:pt x="508000" y="412750"/>
                </a:lnTo>
                <a:cubicBezTo>
                  <a:pt x="508000" y="465320"/>
                  <a:pt x="465320" y="508000"/>
                  <a:pt x="412750" y="508000"/>
                </a:cubicBezTo>
                <a:lnTo>
                  <a:pt x="95250" y="508000"/>
                </a:lnTo>
                <a:cubicBezTo>
                  <a:pt x="42680" y="508000"/>
                  <a:pt x="0" y="465320"/>
                  <a:pt x="0" y="412750"/>
                </a:cubicBezTo>
                <a:lnTo>
                  <a:pt x="0" y="95250"/>
                </a:lnTo>
                <a:cubicBezTo>
                  <a:pt x="0" y="42680"/>
                  <a:pt x="42680" y="0"/>
                  <a:pt x="95250" y="0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6556375" y="4419999"/>
            <a:ext cx="190500" cy="190500"/>
          </a:xfrm>
          <a:custGeom>
            <a:avLst/>
            <a:gdLst/>
            <a:ahLst/>
            <a:cxnLst/>
            <a:rect l="l" t="t" r="r" b="b"/>
            <a:pathLst>
              <a:path w="190500" h="190500">
                <a:moveTo>
                  <a:pt x="95250" y="0"/>
                </a:moveTo>
                <a:cubicBezTo>
                  <a:pt x="96962" y="0"/>
                  <a:pt x="98673" y="372"/>
                  <a:pt x="100236" y="1079"/>
                </a:cubicBezTo>
                <a:lnTo>
                  <a:pt x="170334" y="30807"/>
                </a:lnTo>
                <a:cubicBezTo>
                  <a:pt x="178519" y="34268"/>
                  <a:pt x="184621" y="42342"/>
                  <a:pt x="184584" y="52090"/>
                </a:cubicBezTo>
                <a:cubicBezTo>
                  <a:pt x="184398" y="88999"/>
                  <a:pt x="169218" y="156530"/>
                  <a:pt x="105110" y="187226"/>
                </a:cubicBezTo>
                <a:cubicBezTo>
                  <a:pt x="98896" y="190202"/>
                  <a:pt x="91678" y="190202"/>
                  <a:pt x="85465" y="187226"/>
                </a:cubicBezTo>
                <a:cubicBezTo>
                  <a:pt x="21320" y="156530"/>
                  <a:pt x="6176" y="88999"/>
                  <a:pt x="5990" y="52090"/>
                </a:cubicBezTo>
                <a:cubicBezTo>
                  <a:pt x="5953" y="42342"/>
                  <a:pt x="12055" y="34268"/>
                  <a:pt x="20241" y="30807"/>
                </a:cubicBezTo>
                <a:lnTo>
                  <a:pt x="90301" y="1079"/>
                </a:lnTo>
                <a:cubicBezTo>
                  <a:pt x="91864" y="372"/>
                  <a:pt x="93538" y="0"/>
                  <a:pt x="95250" y="0"/>
                </a:cubicBezTo>
                <a:close/>
                <a:moveTo>
                  <a:pt x="95250" y="24854"/>
                </a:moveTo>
                <a:lnTo>
                  <a:pt x="95250" y="165534"/>
                </a:lnTo>
                <a:cubicBezTo>
                  <a:pt x="146596" y="140680"/>
                  <a:pt x="160400" y="85613"/>
                  <a:pt x="160734" y="52648"/>
                </a:cubicBezTo>
                <a:lnTo>
                  <a:pt x="95250" y="24892"/>
                </a:lnTo>
                <a:lnTo>
                  <a:pt x="95250" y="24892"/>
                </a:ln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032625" y="4261249"/>
            <a:ext cx="174625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10000"/>
              </a:lnSpc>
            </a:pPr>
            <a:r>
              <a:rPr lang="en-US" sz="1500" b="1" dirty="0">
                <a:solidFill>
                  <a:srgbClr val="101828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Improved Reliability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611206" y="4813269"/>
            <a:ext cx="4980024" cy="11506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latin typeface="Liter" pitchFamily="34" charset="0"/>
                <a:ea typeface="Liter" pitchFamily="34" charset="-122"/>
                <a:cs typeface="Liter" pitchFamily="34" charset="-120"/>
              </a:rPr>
              <a:t>Build confidence in equipment performance. Reduce unexpected failures that disrupt operations and create safety risks.</a:t>
            </a:r>
            <a:endParaRPr lang="en-US" sz="2400" dirty="0"/>
          </a:p>
        </p:txBody>
      </p:sp>
      <p:sp>
        <p:nvSpPr>
          <p:cNvPr id="37" name="Shape 35"/>
          <p:cNvSpPr/>
          <p:nvPr/>
        </p:nvSpPr>
        <p:spPr>
          <a:xfrm>
            <a:off x="6611207" y="5960715"/>
            <a:ext cx="1386594" cy="222250"/>
          </a:xfrm>
          <a:custGeom>
            <a:avLst/>
            <a:gdLst/>
            <a:ahLst/>
            <a:cxnLst/>
            <a:rect l="l" t="t" r="r" b="b"/>
            <a:pathLst>
              <a:path w="1182688" h="222250">
                <a:moveTo>
                  <a:pt x="111125" y="0"/>
                </a:moveTo>
                <a:lnTo>
                  <a:pt x="1071563" y="0"/>
                </a:lnTo>
                <a:cubicBezTo>
                  <a:pt x="1132894" y="0"/>
                  <a:pt x="1182688" y="49793"/>
                  <a:pt x="1182688" y="111125"/>
                </a:cubicBezTo>
                <a:lnTo>
                  <a:pt x="1182688" y="111125"/>
                </a:lnTo>
                <a:cubicBezTo>
                  <a:pt x="1182688" y="172457"/>
                  <a:pt x="1132894" y="222250"/>
                  <a:pt x="1071563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8C1D40">
              <a:alpha val="10196"/>
            </a:srgbClr>
          </a:solidFill>
          <a:ln/>
        </p:spPr>
        <p:txBody>
          <a:bodyPr/>
          <a:lstStyle/>
          <a:p>
            <a:endParaRPr lang="en-US" sz="1100"/>
          </a:p>
        </p:txBody>
      </p:sp>
      <p:sp>
        <p:nvSpPr>
          <p:cNvPr id="38" name="Text 36"/>
          <p:cNvSpPr/>
          <p:nvPr/>
        </p:nvSpPr>
        <p:spPr>
          <a:xfrm>
            <a:off x="6611206" y="5960715"/>
            <a:ext cx="1504591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8C1D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Operational Stability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078576" y="5960715"/>
            <a:ext cx="1504590" cy="222250"/>
          </a:xfrm>
          <a:custGeom>
            <a:avLst/>
            <a:gdLst/>
            <a:ahLst/>
            <a:cxnLst/>
            <a:rect l="l" t="t" r="r" b="b"/>
            <a:pathLst>
              <a:path w="1206500" h="222250">
                <a:moveTo>
                  <a:pt x="111125" y="0"/>
                </a:moveTo>
                <a:lnTo>
                  <a:pt x="1095375" y="0"/>
                </a:lnTo>
                <a:cubicBezTo>
                  <a:pt x="1156707" y="0"/>
                  <a:pt x="1206500" y="49793"/>
                  <a:pt x="1206500" y="111125"/>
                </a:cubicBezTo>
                <a:lnTo>
                  <a:pt x="1206500" y="111125"/>
                </a:lnTo>
                <a:cubicBezTo>
                  <a:pt x="1206500" y="172457"/>
                  <a:pt x="1156707" y="222250"/>
                  <a:pt x="1095375" y="222250"/>
                </a:cubicBezTo>
                <a:lnTo>
                  <a:pt x="111125" y="222250"/>
                </a:lnTo>
                <a:cubicBezTo>
                  <a:pt x="49793" y="222250"/>
                  <a:pt x="0" y="172457"/>
                  <a:pt x="0" y="111125"/>
                </a:cubicBezTo>
                <a:lnTo>
                  <a:pt x="0" y="111125"/>
                </a:lnTo>
                <a:cubicBezTo>
                  <a:pt x="0" y="49793"/>
                  <a:pt x="49793" y="0"/>
                  <a:pt x="111125" y="0"/>
                </a:cubicBezTo>
                <a:close/>
              </a:path>
            </a:pathLst>
          </a:custGeom>
          <a:solidFill>
            <a:srgbClr val="8C1D40">
              <a:alpha val="10196"/>
            </a:srgbClr>
          </a:solidFill>
          <a:ln/>
        </p:spPr>
        <p:txBody>
          <a:bodyPr/>
          <a:lstStyle/>
          <a:p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068469" y="5960715"/>
            <a:ext cx="1657505" cy="222250"/>
          </a:xfrm>
          <a:prstGeom prst="rect">
            <a:avLst/>
          </a:prstGeom>
          <a:noFill/>
          <a:ln/>
        </p:spPr>
        <p:txBody>
          <a:bodyPr wrap="square" lIns="95250" tIns="31750" rIns="95250" bIns="31750" rtlCol="0" anchor="ctr"/>
          <a:lstStyle/>
          <a:p>
            <a:pPr>
              <a:lnSpc>
                <a:spcPct val="120000"/>
              </a:lnSpc>
            </a:pPr>
            <a:r>
              <a:rPr lang="en-US" sz="1100" dirty="0">
                <a:solidFill>
                  <a:srgbClr val="8C1D4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Safety Enhancement</a:t>
            </a:r>
            <a:endParaRPr lang="en-US" sz="11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81000"/>
            <a:ext cx="1149667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050" b="1" kern="0" spc="53" dirty="0">
                <a:latin typeface="Liter" pitchFamily="34" charset="0"/>
                <a:ea typeface="Liter" pitchFamily="34" charset="-122"/>
                <a:cs typeface="Liter" pitchFamily="34" charset="-120"/>
              </a:rPr>
              <a:t>FSE 570 CAPSTONE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381000" y="647700"/>
            <a:ext cx="1160145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0000"/>
              </a:lnSpc>
            </a:pPr>
            <a:r>
              <a:rPr lang="en-US" sz="27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Course Alignment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81000" y="1104900"/>
            <a:ext cx="11506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This project demonstrates core competencies of the graduate engineering program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85763" y="1566863"/>
            <a:ext cx="3676650" cy="1990725"/>
          </a:xfrm>
          <a:custGeom>
            <a:avLst/>
            <a:gdLst/>
            <a:ahLst/>
            <a:cxnLst/>
            <a:rect l="l" t="t" r="r" b="b"/>
            <a:pathLst>
              <a:path w="3676650" h="19907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1876418"/>
                </a:lnTo>
                <a:cubicBezTo>
                  <a:pt x="3676650" y="1939548"/>
                  <a:pt x="3625473" y="1990725"/>
                  <a:pt x="3562343" y="1990725"/>
                </a:cubicBezTo>
                <a:lnTo>
                  <a:pt x="114307" y="1990725"/>
                </a:lnTo>
                <a:cubicBezTo>
                  <a:pt x="51177" y="1990725"/>
                  <a:pt x="0" y="1939548"/>
                  <a:pt x="0" y="1876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chemeClr val="tx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581025" y="1762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7713" y="1914525"/>
            <a:ext cx="200025" cy="228600"/>
          </a:xfrm>
          <a:custGeom>
            <a:avLst/>
            <a:gdLst/>
            <a:ahLst/>
            <a:cxnLst/>
            <a:rect l="l" t="t" r="r" b="b"/>
            <a:pathLst>
              <a:path w="200025" h="228600">
                <a:moveTo>
                  <a:pt x="200025" y="91886"/>
                </a:moveTo>
                <a:cubicBezTo>
                  <a:pt x="193417" y="96262"/>
                  <a:pt x="185827" y="99789"/>
                  <a:pt x="177924" y="102602"/>
                </a:cubicBezTo>
                <a:cubicBezTo>
                  <a:pt x="156939" y="110103"/>
                  <a:pt x="129391" y="114300"/>
                  <a:pt x="100013" y="114300"/>
                </a:cubicBezTo>
                <a:cubicBezTo>
                  <a:pt x="70634" y="114300"/>
                  <a:pt x="43041" y="110058"/>
                  <a:pt x="22101" y="102602"/>
                </a:cubicBezTo>
                <a:cubicBezTo>
                  <a:pt x="14243" y="99789"/>
                  <a:pt x="6608" y="96262"/>
                  <a:pt x="0" y="91886"/>
                </a:cubicBezTo>
                <a:lnTo>
                  <a:pt x="0" y="128588"/>
                </a:lnTo>
                <a:cubicBezTo>
                  <a:pt x="0" y="148322"/>
                  <a:pt x="44782" y="164306"/>
                  <a:pt x="100013" y="164306"/>
                </a:cubicBezTo>
                <a:cubicBezTo>
                  <a:pt x="155243" y="164306"/>
                  <a:pt x="200025" y="148322"/>
                  <a:pt x="200025" y="128588"/>
                </a:cubicBezTo>
                <a:lnTo>
                  <a:pt x="200025" y="91886"/>
                </a:lnTo>
                <a:close/>
                <a:moveTo>
                  <a:pt x="200025" y="57150"/>
                </a:moveTo>
                <a:lnTo>
                  <a:pt x="200025" y="35719"/>
                </a:lnTo>
                <a:cubicBezTo>
                  <a:pt x="200025" y="15984"/>
                  <a:pt x="155243" y="0"/>
                  <a:pt x="100013" y="0"/>
                </a:cubicBezTo>
                <a:cubicBezTo>
                  <a:pt x="44782" y="0"/>
                  <a:pt x="0" y="15984"/>
                  <a:pt x="0" y="35719"/>
                </a:cubicBezTo>
                <a:lnTo>
                  <a:pt x="0" y="57150"/>
                </a:lnTo>
                <a:cubicBezTo>
                  <a:pt x="0" y="76885"/>
                  <a:pt x="44782" y="92869"/>
                  <a:pt x="100013" y="92869"/>
                </a:cubicBezTo>
                <a:cubicBezTo>
                  <a:pt x="155243" y="92869"/>
                  <a:pt x="200025" y="76885"/>
                  <a:pt x="200025" y="57150"/>
                </a:cubicBezTo>
                <a:close/>
                <a:moveTo>
                  <a:pt x="177924" y="174040"/>
                </a:moveTo>
                <a:cubicBezTo>
                  <a:pt x="156984" y="181496"/>
                  <a:pt x="129436" y="185738"/>
                  <a:pt x="100013" y="185738"/>
                </a:cubicBezTo>
                <a:cubicBezTo>
                  <a:pt x="70589" y="185738"/>
                  <a:pt x="43041" y="181496"/>
                  <a:pt x="22101" y="174040"/>
                </a:cubicBezTo>
                <a:cubicBezTo>
                  <a:pt x="14243" y="171227"/>
                  <a:pt x="6608" y="167700"/>
                  <a:pt x="0" y="163324"/>
                </a:cubicBezTo>
                <a:lnTo>
                  <a:pt x="0" y="192881"/>
                </a:lnTo>
                <a:cubicBezTo>
                  <a:pt x="0" y="212616"/>
                  <a:pt x="44782" y="228600"/>
                  <a:pt x="100013" y="228600"/>
                </a:cubicBezTo>
                <a:cubicBezTo>
                  <a:pt x="155243" y="228600"/>
                  <a:pt x="200025" y="212616"/>
                  <a:pt x="200025" y="192881"/>
                </a:cubicBezTo>
                <a:lnTo>
                  <a:pt x="200025" y="163324"/>
                </a:lnTo>
                <a:cubicBezTo>
                  <a:pt x="193417" y="167700"/>
                  <a:pt x="185827" y="171227"/>
                  <a:pt x="177924" y="174040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1025" y="244792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Heterogeneous Data Integration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81025" y="2828925"/>
            <a:ext cx="335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Combining sensor telemetry, maintenance records, and operational context into unified analytical framework.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4259238" y="1566863"/>
            <a:ext cx="3676650" cy="1990725"/>
          </a:xfrm>
          <a:custGeom>
            <a:avLst/>
            <a:gdLst/>
            <a:ahLst/>
            <a:cxnLst/>
            <a:rect l="l" t="t" r="r" b="b"/>
            <a:pathLst>
              <a:path w="3676650" h="19907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1876418"/>
                </a:lnTo>
                <a:cubicBezTo>
                  <a:pt x="3676650" y="1939548"/>
                  <a:pt x="3625473" y="1990725"/>
                  <a:pt x="3562343" y="1990725"/>
                </a:cubicBezTo>
                <a:lnTo>
                  <a:pt x="114307" y="1990725"/>
                </a:lnTo>
                <a:cubicBezTo>
                  <a:pt x="51177" y="1990725"/>
                  <a:pt x="0" y="1939548"/>
                  <a:pt x="0" y="1876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chemeClr val="tx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454500" y="1762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606900" y="1914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53578" y="25003"/>
                </a:moveTo>
                <a:cubicBezTo>
                  <a:pt x="53578" y="11207"/>
                  <a:pt x="64785" y="0"/>
                  <a:pt x="78581" y="0"/>
                </a:cubicBezTo>
                <a:lnTo>
                  <a:pt x="89297" y="0"/>
                </a:lnTo>
                <a:cubicBezTo>
                  <a:pt x="97200" y="0"/>
                  <a:pt x="103584" y="6385"/>
                  <a:pt x="103584" y="14288"/>
                </a:cubicBezTo>
                <a:lnTo>
                  <a:pt x="103584" y="214313"/>
                </a:lnTo>
                <a:cubicBezTo>
                  <a:pt x="103584" y="222215"/>
                  <a:pt x="97200" y="228600"/>
                  <a:pt x="89297" y="228600"/>
                </a:cubicBezTo>
                <a:lnTo>
                  <a:pt x="75009" y="228600"/>
                </a:lnTo>
                <a:cubicBezTo>
                  <a:pt x="61704" y="228600"/>
                  <a:pt x="50497" y="219492"/>
                  <a:pt x="47327" y="207169"/>
                </a:cubicBezTo>
                <a:cubicBezTo>
                  <a:pt x="47015" y="207169"/>
                  <a:pt x="46747" y="207169"/>
                  <a:pt x="46434" y="207169"/>
                </a:cubicBezTo>
                <a:cubicBezTo>
                  <a:pt x="26700" y="207169"/>
                  <a:pt x="10716" y="191185"/>
                  <a:pt x="10716" y="171450"/>
                </a:cubicBezTo>
                <a:cubicBezTo>
                  <a:pt x="10716" y="163413"/>
                  <a:pt x="13395" y="156002"/>
                  <a:pt x="17859" y="150019"/>
                </a:cubicBezTo>
                <a:cubicBezTo>
                  <a:pt x="9198" y="143500"/>
                  <a:pt x="3572" y="133142"/>
                  <a:pt x="3572" y="121444"/>
                </a:cubicBezTo>
                <a:cubicBezTo>
                  <a:pt x="3572" y="107647"/>
                  <a:pt x="11430" y="95637"/>
                  <a:pt x="22860" y="89699"/>
                </a:cubicBezTo>
                <a:cubicBezTo>
                  <a:pt x="19690" y="84341"/>
                  <a:pt x="17859" y="78090"/>
                  <a:pt x="17859" y="71438"/>
                </a:cubicBezTo>
                <a:cubicBezTo>
                  <a:pt x="17859" y="51703"/>
                  <a:pt x="33844" y="35719"/>
                  <a:pt x="53578" y="35719"/>
                </a:cubicBezTo>
                <a:lnTo>
                  <a:pt x="53578" y="25003"/>
                </a:lnTo>
                <a:close/>
                <a:moveTo>
                  <a:pt x="175022" y="25003"/>
                </a:moveTo>
                <a:lnTo>
                  <a:pt x="175022" y="35719"/>
                </a:lnTo>
                <a:cubicBezTo>
                  <a:pt x="194756" y="35719"/>
                  <a:pt x="210741" y="51703"/>
                  <a:pt x="210741" y="71438"/>
                </a:cubicBezTo>
                <a:cubicBezTo>
                  <a:pt x="210741" y="78135"/>
                  <a:pt x="208910" y="84386"/>
                  <a:pt x="205740" y="89699"/>
                </a:cubicBezTo>
                <a:cubicBezTo>
                  <a:pt x="217215" y="95637"/>
                  <a:pt x="225028" y="107603"/>
                  <a:pt x="225028" y="121444"/>
                </a:cubicBezTo>
                <a:cubicBezTo>
                  <a:pt x="225028" y="133142"/>
                  <a:pt x="219402" y="143500"/>
                  <a:pt x="210741" y="150019"/>
                </a:cubicBezTo>
                <a:cubicBezTo>
                  <a:pt x="215205" y="156002"/>
                  <a:pt x="217884" y="163413"/>
                  <a:pt x="217884" y="171450"/>
                </a:cubicBezTo>
                <a:cubicBezTo>
                  <a:pt x="217884" y="191185"/>
                  <a:pt x="201900" y="207169"/>
                  <a:pt x="182166" y="207169"/>
                </a:cubicBezTo>
                <a:cubicBezTo>
                  <a:pt x="181853" y="207169"/>
                  <a:pt x="181585" y="207169"/>
                  <a:pt x="181273" y="207169"/>
                </a:cubicBezTo>
                <a:cubicBezTo>
                  <a:pt x="178103" y="219492"/>
                  <a:pt x="166896" y="228600"/>
                  <a:pt x="153591" y="228600"/>
                </a:cubicBezTo>
                <a:lnTo>
                  <a:pt x="139303" y="228600"/>
                </a:lnTo>
                <a:cubicBezTo>
                  <a:pt x="131400" y="228600"/>
                  <a:pt x="125016" y="222215"/>
                  <a:pt x="125016" y="214313"/>
                </a:cubicBezTo>
                <a:lnTo>
                  <a:pt x="125016" y="14288"/>
                </a:lnTo>
                <a:cubicBezTo>
                  <a:pt x="125016" y="6385"/>
                  <a:pt x="131400" y="0"/>
                  <a:pt x="139303" y="0"/>
                </a:cubicBezTo>
                <a:lnTo>
                  <a:pt x="150019" y="0"/>
                </a:lnTo>
                <a:cubicBezTo>
                  <a:pt x="163815" y="0"/>
                  <a:pt x="175022" y="11207"/>
                  <a:pt x="175022" y="25003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454500" y="244792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Machine Learning &amp; Neural Modeling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54500" y="2828925"/>
            <a:ext cx="335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Applying advanced algorithms for anomaly detection, pattern recognition, and failure prediction.</a:t>
            </a: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132713" y="1566863"/>
            <a:ext cx="3676650" cy="1990725"/>
          </a:xfrm>
          <a:custGeom>
            <a:avLst/>
            <a:gdLst/>
            <a:ahLst/>
            <a:cxnLst/>
            <a:rect l="l" t="t" r="r" b="b"/>
            <a:pathLst>
              <a:path w="3676650" h="19907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1876418"/>
                </a:lnTo>
                <a:cubicBezTo>
                  <a:pt x="3676650" y="1939548"/>
                  <a:pt x="3625473" y="1990725"/>
                  <a:pt x="3562343" y="1990725"/>
                </a:cubicBezTo>
                <a:lnTo>
                  <a:pt x="114307" y="1990725"/>
                </a:lnTo>
                <a:cubicBezTo>
                  <a:pt x="51177" y="1990725"/>
                  <a:pt x="0" y="1939548"/>
                  <a:pt x="0" y="1876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chemeClr val="tx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27975" y="176212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8480375" y="191452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22190" y="14288"/>
                  <a:pt x="28575" y="20672"/>
                  <a:pt x="28575" y="28575"/>
                </a:cubicBezTo>
                <a:lnTo>
                  <a:pt x="28575" y="178594"/>
                </a:lnTo>
                <a:cubicBezTo>
                  <a:pt x="28575" y="182523"/>
                  <a:pt x="31790" y="185738"/>
                  <a:pt x="35719" y="185738"/>
                </a:cubicBezTo>
                <a:lnTo>
                  <a:pt x="214313" y="185738"/>
                </a:lnTo>
                <a:cubicBezTo>
                  <a:pt x="222215" y="185738"/>
                  <a:pt x="228600" y="192122"/>
                  <a:pt x="228600" y="200025"/>
                </a:cubicBezTo>
                <a:cubicBezTo>
                  <a:pt x="228600" y="207928"/>
                  <a:pt x="222215" y="214313"/>
                  <a:pt x="214313" y="214313"/>
                </a:cubicBezTo>
                <a:lnTo>
                  <a:pt x="35719" y="214313"/>
                </a:lnTo>
                <a:cubicBezTo>
                  <a:pt x="15984" y="214313"/>
                  <a:pt x="0" y="198328"/>
                  <a:pt x="0" y="178594"/>
                </a:cubicBezTo>
                <a:lnTo>
                  <a:pt x="0" y="28575"/>
                </a:lnTo>
                <a:cubicBezTo>
                  <a:pt x="0" y="20672"/>
                  <a:pt x="6385" y="14288"/>
                  <a:pt x="14288" y="14288"/>
                </a:cubicBezTo>
                <a:close/>
                <a:moveTo>
                  <a:pt x="107156" y="42863"/>
                </a:moveTo>
                <a:cubicBezTo>
                  <a:pt x="110148" y="42863"/>
                  <a:pt x="113005" y="44113"/>
                  <a:pt x="115059" y="46345"/>
                </a:cubicBezTo>
                <a:lnTo>
                  <a:pt x="146804" y="80948"/>
                </a:lnTo>
                <a:lnTo>
                  <a:pt x="167432" y="60275"/>
                </a:lnTo>
                <a:cubicBezTo>
                  <a:pt x="171629" y="56078"/>
                  <a:pt x="178415" y="56078"/>
                  <a:pt x="182567" y="60275"/>
                </a:cubicBezTo>
                <a:lnTo>
                  <a:pt x="211142" y="88850"/>
                </a:lnTo>
                <a:cubicBezTo>
                  <a:pt x="213152" y="90860"/>
                  <a:pt x="214268" y="93583"/>
                  <a:pt x="214268" y="96441"/>
                </a:cubicBezTo>
                <a:lnTo>
                  <a:pt x="214268" y="146447"/>
                </a:lnTo>
                <a:cubicBezTo>
                  <a:pt x="214268" y="152385"/>
                  <a:pt x="209490" y="157163"/>
                  <a:pt x="203552" y="157163"/>
                </a:cubicBezTo>
                <a:lnTo>
                  <a:pt x="67821" y="157163"/>
                </a:lnTo>
                <a:cubicBezTo>
                  <a:pt x="61883" y="157163"/>
                  <a:pt x="57105" y="152385"/>
                  <a:pt x="57105" y="146447"/>
                </a:cubicBezTo>
                <a:lnTo>
                  <a:pt x="57105" y="96441"/>
                </a:lnTo>
                <a:cubicBezTo>
                  <a:pt x="57105" y="93762"/>
                  <a:pt x="58132" y="91172"/>
                  <a:pt x="59918" y="89208"/>
                </a:cubicBezTo>
                <a:lnTo>
                  <a:pt x="99209" y="46345"/>
                </a:lnTo>
                <a:cubicBezTo>
                  <a:pt x="101218" y="44113"/>
                  <a:pt x="104120" y="42863"/>
                  <a:pt x="107112" y="42863"/>
                </a:cubicBez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327975" y="2447925"/>
            <a:ext cx="338137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Bayesian Uncertainty Reasoning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327975" y="2828925"/>
            <a:ext cx="335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Quantifying prediction confidence to support risk-aware decision making under uncertainty.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385763" y="3757613"/>
            <a:ext cx="3676650" cy="1990725"/>
          </a:xfrm>
          <a:custGeom>
            <a:avLst/>
            <a:gdLst/>
            <a:ahLst/>
            <a:cxnLst/>
            <a:rect l="l" t="t" r="r" b="b"/>
            <a:pathLst>
              <a:path w="3676650" h="1990725">
                <a:moveTo>
                  <a:pt x="114307" y="0"/>
                </a:moveTo>
                <a:lnTo>
                  <a:pt x="3562343" y="0"/>
                </a:lnTo>
                <a:cubicBezTo>
                  <a:pt x="3625473" y="0"/>
                  <a:pt x="3676650" y="51177"/>
                  <a:pt x="3676650" y="114307"/>
                </a:cubicBezTo>
                <a:lnTo>
                  <a:pt x="3676650" y="1876418"/>
                </a:lnTo>
                <a:cubicBezTo>
                  <a:pt x="3676650" y="1939548"/>
                  <a:pt x="3625473" y="1990725"/>
                  <a:pt x="3562343" y="1990725"/>
                </a:cubicBezTo>
                <a:lnTo>
                  <a:pt x="114307" y="1990725"/>
                </a:lnTo>
                <a:cubicBezTo>
                  <a:pt x="51177" y="1990725"/>
                  <a:pt x="0" y="1939548"/>
                  <a:pt x="0" y="1876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chemeClr val="tx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581025" y="3952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733425" y="4105275"/>
            <a:ext cx="228600" cy="228600"/>
          </a:xfrm>
          <a:custGeom>
            <a:avLst/>
            <a:gdLst/>
            <a:ahLst/>
            <a:cxnLst/>
            <a:rect l="l" t="t" r="r" b="b"/>
            <a:pathLst>
              <a:path w="228600" h="228600">
                <a:moveTo>
                  <a:pt x="14288" y="14288"/>
                </a:moveTo>
                <a:cubicBezTo>
                  <a:pt x="6385" y="14288"/>
                  <a:pt x="0" y="20672"/>
                  <a:pt x="0" y="28575"/>
                </a:cubicBezTo>
                <a:lnTo>
                  <a:pt x="0" y="192881"/>
                </a:lnTo>
                <a:cubicBezTo>
                  <a:pt x="0" y="204713"/>
                  <a:pt x="9599" y="214313"/>
                  <a:pt x="21431" y="214313"/>
                </a:cubicBezTo>
                <a:lnTo>
                  <a:pt x="207169" y="214313"/>
                </a:lnTo>
                <a:cubicBezTo>
                  <a:pt x="219001" y="214313"/>
                  <a:pt x="228600" y="204713"/>
                  <a:pt x="228600" y="192881"/>
                </a:cubicBezTo>
                <a:lnTo>
                  <a:pt x="228600" y="67955"/>
                </a:lnTo>
                <a:cubicBezTo>
                  <a:pt x="228600" y="59829"/>
                  <a:pt x="219938" y="54694"/>
                  <a:pt x="212794" y="58534"/>
                </a:cubicBezTo>
                <a:lnTo>
                  <a:pt x="142875" y="96173"/>
                </a:lnTo>
                <a:lnTo>
                  <a:pt x="142875" y="67955"/>
                </a:lnTo>
                <a:cubicBezTo>
                  <a:pt x="142875" y="59829"/>
                  <a:pt x="134213" y="54694"/>
                  <a:pt x="127069" y="58534"/>
                </a:cubicBezTo>
                <a:lnTo>
                  <a:pt x="57150" y="96173"/>
                </a:lnTo>
                <a:lnTo>
                  <a:pt x="57150" y="28575"/>
                </a:lnTo>
                <a:cubicBezTo>
                  <a:pt x="57150" y="20672"/>
                  <a:pt x="50765" y="14288"/>
                  <a:pt x="42863" y="14288"/>
                </a:cubicBezTo>
                <a:lnTo>
                  <a:pt x="14288" y="14288"/>
                </a:ln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1266825" y="4086225"/>
            <a:ext cx="269557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Engineering Domain Application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81025" y="5019675"/>
            <a:ext cx="3352800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100" dirty="0">
                <a:solidFill>
                  <a:schemeClr val="tx1">
                    <a:alpha val="80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Addressing real-world industrial challenges in smart manufacturing and Industry 4.0 environments.</a:t>
            </a: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259238" y="3757613"/>
            <a:ext cx="7543800" cy="1990725"/>
          </a:xfrm>
          <a:custGeom>
            <a:avLst/>
            <a:gdLst/>
            <a:ahLst/>
            <a:cxnLst/>
            <a:rect l="l" t="t" r="r" b="b"/>
            <a:pathLst>
              <a:path w="7543800" h="1990725">
                <a:moveTo>
                  <a:pt x="114307" y="0"/>
                </a:moveTo>
                <a:lnTo>
                  <a:pt x="7429493" y="0"/>
                </a:lnTo>
                <a:cubicBezTo>
                  <a:pt x="7492623" y="0"/>
                  <a:pt x="7543800" y="51177"/>
                  <a:pt x="7543800" y="114307"/>
                </a:cubicBezTo>
                <a:lnTo>
                  <a:pt x="7543800" y="1876418"/>
                </a:lnTo>
                <a:cubicBezTo>
                  <a:pt x="7543800" y="1939548"/>
                  <a:pt x="7492623" y="1990725"/>
                  <a:pt x="7429493" y="1990725"/>
                </a:cubicBezTo>
                <a:lnTo>
                  <a:pt x="114307" y="1990725"/>
                </a:lnTo>
                <a:cubicBezTo>
                  <a:pt x="51177" y="1990725"/>
                  <a:pt x="0" y="1939548"/>
                  <a:pt x="0" y="1876418"/>
                </a:cubicBezTo>
                <a:lnTo>
                  <a:pt x="0" y="114307"/>
                </a:lnTo>
                <a:cubicBezTo>
                  <a:pt x="0" y="51219"/>
                  <a:pt x="51219" y="0"/>
                  <a:pt x="114307" y="0"/>
                </a:cubicBezTo>
                <a:close/>
              </a:path>
            </a:pathLst>
          </a:custGeom>
          <a:solidFill>
            <a:srgbClr val="FFFFFF">
              <a:alpha val="10196"/>
            </a:srgbClr>
          </a:solidFill>
          <a:ln w="12700">
            <a:solidFill>
              <a:schemeClr val="tx1">
                <a:alpha val="20000"/>
              </a:scheme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4454500" y="3952875"/>
            <a:ext cx="533400" cy="533400"/>
          </a:xfrm>
          <a:custGeom>
            <a:avLst/>
            <a:gdLst/>
            <a:ahLst/>
            <a:cxnLst/>
            <a:rect l="l" t="t" r="r" b="b"/>
            <a:pathLst>
              <a:path w="533400" h="533400">
                <a:moveTo>
                  <a:pt x="114302" y="0"/>
                </a:moveTo>
                <a:lnTo>
                  <a:pt x="419098" y="0"/>
                </a:lnTo>
                <a:cubicBezTo>
                  <a:pt x="482183" y="0"/>
                  <a:pt x="533400" y="51217"/>
                  <a:pt x="533400" y="114302"/>
                </a:cubicBezTo>
                <a:lnTo>
                  <a:pt x="533400" y="419098"/>
                </a:lnTo>
                <a:cubicBezTo>
                  <a:pt x="533400" y="482183"/>
                  <a:pt x="482183" y="533400"/>
                  <a:pt x="419098" y="533400"/>
                </a:cubicBezTo>
                <a:lnTo>
                  <a:pt x="114302" y="533400"/>
                </a:lnTo>
                <a:cubicBezTo>
                  <a:pt x="51217" y="533400"/>
                  <a:pt x="0" y="482183"/>
                  <a:pt x="0" y="419098"/>
                </a:cubicBezTo>
                <a:lnTo>
                  <a:pt x="0" y="114302"/>
                </a:lnTo>
                <a:cubicBezTo>
                  <a:pt x="0" y="51217"/>
                  <a:pt x="51217" y="0"/>
                  <a:pt x="114302" y="0"/>
                </a:cubicBezTo>
                <a:close/>
              </a:path>
            </a:pathLst>
          </a:custGeom>
          <a:solidFill>
            <a:srgbClr val="FFC6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35475" y="4105275"/>
            <a:ext cx="171450" cy="228600"/>
          </a:xfrm>
          <a:custGeom>
            <a:avLst/>
            <a:gdLst/>
            <a:ahLst/>
            <a:cxnLst/>
            <a:rect l="l" t="t" r="r" b="b"/>
            <a:pathLst>
              <a:path w="171450" h="228600">
                <a:moveTo>
                  <a:pt x="139035" y="14288"/>
                </a:moveTo>
                <a:lnTo>
                  <a:pt x="142875" y="14288"/>
                </a:lnTo>
                <a:cubicBezTo>
                  <a:pt x="158636" y="14288"/>
                  <a:pt x="171450" y="27102"/>
                  <a:pt x="171450" y="42863"/>
                </a:cubicBezTo>
                <a:lnTo>
                  <a:pt x="171450" y="200025"/>
                </a:lnTo>
                <a:cubicBezTo>
                  <a:pt x="171450" y="215786"/>
                  <a:pt x="158636" y="228600"/>
                  <a:pt x="142875" y="228600"/>
                </a:cubicBezTo>
                <a:lnTo>
                  <a:pt x="28575" y="228600"/>
                </a:lnTo>
                <a:cubicBezTo>
                  <a:pt x="12814" y="228600"/>
                  <a:pt x="0" y="215786"/>
                  <a:pt x="0" y="200025"/>
                </a:cubicBezTo>
                <a:lnTo>
                  <a:pt x="0" y="42863"/>
                </a:lnTo>
                <a:cubicBezTo>
                  <a:pt x="0" y="27102"/>
                  <a:pt x="12814" y="14288"/>
                  <a:pt x="28575" y="14288"/>
                </a:cubicBezTo>
                <a:lnTo>
                  <a:pt x="32415" y="14288"/>
                </a:lnTo>
                <a:cubicBezTo>
                  <a:pt x="37326" y="5760"/>
                  <a:pt x="46568" y="0"/>
                  <a:pt x="57150" y="0"/>
                </a:cubicBezTo>
                <a:lnTo>
                  <a:pt x="114300" y="0"/>
                </a:lnTo>
                <a:cubicBezTo>
                  <a:pt x="124882" y="0"/>
                  <a:pt x="134124" y="5760"/>
                  <a:pt x="139035" y="14288"/>
                </a:cubicBezTo>
                <a:close/>
                <a:moveTo>
                  <a:pt x="110728" y="50006"/>
                </a:moveTo>
                <a:cubicBezTo>
                  <a:pt x="116666" y="50006"/>
                  <a:pt x="121444" y="45229"/>
                  <a:pt x="121444" y="39291"/>
                </a:cubicBezTo>
                <a:cubicBezTo>
                  <a:pt x="121444" y="33352"/>
                  <a:pt x="116666" y="28575"/>
                  <a:pt x="110728" y="28575"/>
                </a:cubicBezTo>
                <a:lnTo>
                  <a:pt x="60722" y="28575"/>
                </a:lnTo>
                <a:cubicBezTo>
                  <a:pt x="54784" y="28575"/>
                  <a:pt x="50006" y="33352"/>
                  <a:pt x="50006" y="39291"/>
                </a:cubicBezTo>
                <a:cubicBezTo>
                  <a:pt x="50006" y="45229"/>
                  <a:pt x="54784" y="50006"/>
                  <a:pt x="60722" y="50006"/>
                </a:cubicBezTo>
                <a:lnTo>
                  <a:pt x="110728" y="50006"/>
                </a:lnTo>
                <a:close/>
                <a:moveTo>
                  <a:pt x="123408" y="116398"/>
                </a:moveTo>
                <a:cubicBezTo>
                  <a:pt x="126534" y="111398"/>
                  <a:pt x="125016" y="104790"/>
                  <a:pt x="120015" y="101620"/>
                </a:cubicBezTo>
                <a:cubicBezTo>
                  <a:pt x="115014" y="98450"/>
                  <a:pt x="108406" y="100013"/>
                  <a:pt x="105236" y="105013"/>
                </a:cubicBezTo>
                <a:lnTo>
                  <a:pt x="77822" y="148903"/>
                </a:lnTo>
                <a:lnTo>
                  <a:pt x="65767" y="132829"/>
                </a:lnTo>
                <a:cubicBezTo>
                  <a:pt x="62195" y="128096"/>
                  <a:pt x="55498" y="127114"/>
                  <a:pt x="50765" y="130686"/>
                </a:cubicBezTo>
                <a:cubicBezTo>
                  <a:pt x="46033" y="134258"/>
                  <a:pt x="45050" y="140955"/>
                  <a:pt x="48622" y="145688"/>
                </a:cubicBezTo>
                <a:lnTo>
                  <a:pt x="70053" y="174263"/>
                </a:lnTo>
                <a:cubicBezTo>
                  <a:pt x="72152" y="177076"/>
                  <a:pt x="75545" y="178683"/>
                  <a:pt x="79072" y="178549"/>
                </a:cubicBezTo>
                <a:cubicBezTo>
                  <a:pt x="82600" y="178415"/>
                  <a:pt x="85814" y="176540"/>
                  <a:pt x="87690" y="173504"/>
                </a:cubicBezTo>
                <a:lnTo>
                  <a:pt x="123408" y="116354"/>
                </a:lnTo>
                <a:close/>
              </a:path>
            </a:pathLst>
          </a:custGeom>
          <a:solidFill>
            <a:srgbClr val="8C1D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5118050" y="4078165"/>
            <a:ext cx="656272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500" b="1" dirty="0">
                <a:latin typeface="Liter" pitchFamily="34" charset="0"/>
                <a:ea typeface="Liter" pitchFamily="34" charset="-122"/>
                <a:cs typeface="Liter" pitchFamily="34" charset="-120"/>
              </a:rPr>
              <a:t>Actionable Decision Framework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4535462" y="4665417"/>
            <a:ext cx="6543675" cy="7429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40000"/>
              </a:lnSpc>
            </a:pPr>
            <a:r>
              <a:rPr lang="en-US" sz="1200" dirty="0">
                <a:solidFill>
                  <a:schemeClr val="tx1">
                    <a:alpha val="80000"/>
                  </a:schemeClr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Building a complete decision-support system that transforms data into actionable maintenance recommendations. This bridges the gap between analytics and operations, demonstrating the ability to create systems that deliver measurable value to industrial stakeholders.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92625" y="5981700"/>
            <a:ext cx="3143250" cy="495300"/>
          </a:xfrm>
          <a:prstGeom prst="rect">
            <a:avLst/>
          </a:prstGeom>
          <a:noFill/>
          <a:ln/>
        </p:spPr>
        <p:txBody>
          <a:bodyPr wrap="square" lIns="304800" tIns="114300" rIns="304800" bIns="11430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6669658" y="6115050"/>
            <a:ext cx="24193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9414387" y="6274892"/>
            <a:ext cx="2184946" cy="33855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 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333333"/>
      </a:dk2>
      <a:lt2>
        <a:srgbClr val="EEEEEE"/>
      </a:lt2>
      <a:accent1>
        <a:srgbClr val="8DAAC2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992</Words>
  <Application>Microsoft Macintosh PowerPoint</Application>
  <PresentationFormat>Widescreen</PresentationFormat>
  <Paragraphs>187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微软雅黑</vt:lpstr>
      <vt:lpstr>Liter</vt:lpstr>
      <vt:lpstr>Arial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Data-Driven Anomaly Detection and Risk-Aware Maintenance Scheduling for Smart Industrial Systems</dc:title>
  <dc:subject>Data-Driven Anomaly Detection and Risk-Aware Maintenance Scheduling for Smart Industrial Systems</dc:subject>
  <dc:creator>Kimi</dc:creator>
  <cp:lastModifiedBy>Anoushka Jaydas Dighe (Student)</cp:lastModifiedBy>
  <cp:revision>2</cp:revision>
  <dcterms:created xsi:type="dcterms:W3CDTF">2026-02-10T22:49:14Z</dcterms:created>
  <dcterms:modified xsi:type="dcterms:W3CDTF">2026-02-11T00:26:26Z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{"Label":"Data-Driven Anomaly Detection and Risk-Aware Maintenance Scheduling for Smart Industrial Systems","ContentProducer":"001191110108MACG2KBH8F10000","ProduceID":"19c49bb7-8f02-827b-8000-00002ff2dd0b","ReservedCode1":"","ContentPropagator":"001191110108MACG2KBH8F20000","PropagateID":"19c49bb7-8f02-827b-8000-00002ff2dd0b","ReservedCode2":""}</vt:lpwstr>
  </property>
</Properties>
</file>